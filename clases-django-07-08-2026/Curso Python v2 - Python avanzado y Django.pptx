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Marcar que del 1 al 6 es Python puro y del 7 al 10 ya es Django.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a la clase qué errores han visto ya en los ejercicios de días previos.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Enfatizar: except IndexError atrapa SOLO ese error, no cualquier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antipatrón más común. Atrapar Exception esconde bugs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los seis rápido y luego uno por 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 directo con el tema 3 de palabras reservadas.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hay que memorizarlas: el editor las colorea distinto.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kwlist devuelve la lista de TU versión de Python. Puede cambiar entre versiones.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punto que más sorprende a quien viene de lenguajes tipados.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__dict__ en vivo es el momento 'ajá' de este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quién ya rompió un proyecto instalando algo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Recordar: activo solo en ESA ventana de terminal. Nueva terminal = activar de nuevo.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archivo es lo que se sube al repositorio; la carpeta env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muy común. Vale la pena ejecutarlo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qué han tenido que programar a mano hasta ahora: login, validaciones, consultas.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y Eventbrite tienen artículos públicos de sus equipos de ingeniería contando cómo lo usan en producción. Sirve para responder al típico '¿pero esto aguanta?'.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Analogía: el proyecto es el edificio (luz, agua, puerta). La app es un departamento.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momento en que se entiende qué es un ORM. Ejecutar sqlmigrate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receta se sube a GitHub para que el equipo tenga las mismas tablas.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Momento más impresionante de la clase. Dejarlos jugar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nombre de la app se repite porque Django junta los static de TODAS las apps en un solo espacio. Sin la subcarpeta, dos apps se pisarían.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get_template lee el archivo, render lo llena con datos, attach_alternative lo marca como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Definir mal un modelo se paga caro a largo plazo: las migraciones duelen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wrap 'envuelve' la función original y decide si la deja pasar.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3450000"/>
            <a:ext cx="1500000" cy="1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6000" y="1350000"/>
            <a:ext cx="10200000" cy="17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306998"/>
                </a:solidFill>
                <a:latin typeface="Aptos Display"/>
              </a:rPr>
              <a:t>PYTHON AVANZADO Y DJANGO</a:t>
            </a:r>
          </a:p>
          <a:p>
            <a:pPr algn="ctr">
              <a:spcBef>
                <a:spcPts val="1800"/>
              </a:spcBef>
            </a:pPr>
            <a:r>
              <a:rPr sz="2000" b="0" i="0">
                <a:solidFill>
                  <a:srgbClr val="1E293B"/>
                </a:solidFill>
                <a:latin typeface="Aptos"/>
              </a:rPr>
              <a:t>Temas complementarios del Curso de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Los 10 temas de esta sesión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Seis temas cierran Python; cuatro abren Django.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1. Excepciones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7016" y="164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2. Guion bajo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9672" y="164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3. Palabras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reservadas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2328" y="164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4. Atributos</a:t>
            </a:r>
            <a:br/>
            <a:r>
              <a:rPr sz="1500" b="1" i="0">
                <a:solidFill>
                  <a:srgbClr val="1E293B"/>
                </a:solidFill>
                <a:latin typeface="Aptos"/>
              </a:rPr>
              <a:t>privados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4984" y="164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5. Entornos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virtuales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5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6. Anotaciones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7016" y="295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7. Correos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en Django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9672" y="295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8.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2328" y="295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9. Herencia de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modelos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4984" y="2957280"/>
            <a:ext cx="2072656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10. Decoradores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800" b="1" i="0">
                <a:solidFill>
                  <a:srgbClr val="FFD43B"/>
                </a:solidFill>
                <a:latin typeface="Aptos Display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ptos Display"/>
              </a:rPr>
              <a:t>Python avanzado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87552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ptos"/>
              </a:rPr>
              <a:t>Excepciones, convenciones del lenguaje, entornos y tipado.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306998"/>
                </a:solidFill>
                <a:latin typeface="Aptos"/>
              </a:rPr>
              <a:t>Programación con Python para docentes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es una excepción?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Una excepción es un error que ocurre en tiempo de ejecución.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Cuándo aparece: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cuando el programa no sabe cómo manejar una situación.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Qué provoca: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programa termina de forma abrupta.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Ejemplos típicos: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archivos que no existen, índices fuera de rango, divisiones entre cero.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meta: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no evitar los errores, sino convivir con ellos de forma controlada.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problema: un error sin manejar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Pedimos el índice 12 de una lista que solo tiene 5 elementos.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5077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30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indice = 12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divisores = [0, 1, 2, 3, 4]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divisores[indice]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14966"/>
            <a:ext cx="10500000" cy="121335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0080" y="4154966"/>
            <a:ext cx="1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  <a:latin typeface="Aptos"/>
              </a:rPr>
              <a:t>salida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44966"/>
            <a:ext cx="10100000" cy="1013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Traceback (most recent call last):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  File "&lt;stdin&gt;", line 1, in &lt;module&gt;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IndexError: list index out of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El programa se detiene. Nada de lo que venga después se ejecuta.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try / except: 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bloque try contiene el código que puede fallar; except dice qué hacer si falla.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indice = 12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divisores = [0, 1, 2, 3, 4]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try: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valor = divisores[indice]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IndexError: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print('Lo sentimos, no es posible acceder a dicho índice.')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El programa ya no muere: informa y continúa.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Varios except para varios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Cada tipo de error puede tener su propia respuesta.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27405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074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divisores = [0, 1, 2, 3, 4]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indice = 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try: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divisor = divisores[indice]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100 / divisor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IndexError: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print('Lo sentimos, no es posible acceder a dicho índice.')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ZeroDivisionError: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print('Lo sentimos, no es posible realizar la división.')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Acciones puntuales sobre cada tipo de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Exception: la clase padre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Todas las excepciones heredan de Exception, así que atrapa cualquier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6852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485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lista = [0, 1, 2, 3, 4]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indice = 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try: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valor = lista[indice]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100 / 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Exception: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print('Lo sentimos, no fue posible completar la tarea')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Cuidado: úsalo poco. Si puedes nombrar el error específico, nómbralo.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as: leer el mensaje del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 palabra reservada as guarda el objeto del error en una variable.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try: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valor = lista[indice]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100 / 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Exception as error: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print('Lo sentimos, no fue posible completar la tarea')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print('El error fue:', error)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2966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0080" y="4402966"/>
            <a:ext cx="1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  <a:latin typeface="Aptos"/>
              </a:rPr>
              <a:t>salida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92966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Lo sentimos, no fue posible completar la tarea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El error fue: division by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else y finally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else se ejecuta solo si NO hubo error; finally se ejecuta siempre.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8628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662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lista = [0, 1, 2, 3, 4]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indice = 1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try: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valor = lista[indice]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resultado = 100 / 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except Exception as error: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print('El error fue:', error)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else: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print("El resultado es: ", resultado)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finally: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print('La operación ha finalizado (Con o sin errores).')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Orden obligatorio: try → except → else → finally.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Excepciones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Resumen: manejo de errores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try: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código que podría fallar.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except TipoDeError: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qué hacer ante ese error concreto.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except ... as error: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acceder al mensaje del error.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else: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se ejecuta solo si todo salió bien.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finally: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se ejecuta siempre; ideal para cerrar archivos o conexiones.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Regla de oro: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sé lo más específico que puedas al elegir el error.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Los 6 usos del guion 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mismo símbolo significa cosas distintas según dónde aparece.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Omitir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valores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453" y="16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Placeholder</a:t>
            </a:r>
            <a:br/>
            <a:r>
              <a:rPr sz="1500" b="1" i="0">
                <a:solidFill>
                  <a:srgbClr val="1E293B"/>
                </a:solidFill>
                <a:latin typeface="Aptos"/>
              </a:rPr>
              <a:t>en consola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546" y="16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Evitar palabras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reservadas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95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Atributos</a:t>
            </a:r>
            <a:br/>
            <a:r>
              <a:rPr sz="1500" b="1" i="0">
                <a:solidFill>
                  <a:srgbClr val="1E293B"/>
                </a:solidFill>
                <a:latin typeface="Aptos"/>
              </a:rPr>
              <a:t>privados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453" y="295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Dunder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methods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6546" y="295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Legibilidad</a:t>
            </a:r>
            <a:br/>
            <a:r>
              <a:rPr sz="1500" b="1" i="0">
                <a:solidFill>
                  <a:srgbClr val="1E293B"/>
                </a:solidFill>
                <a:latin typeface="Aptos"/>
              </a:rPr>
              <a:t>numérica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1. Omitir valores en un ciclo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Si no vas a usar la variable del ciclo, no le pongas nombre.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for _ in range(0, 10):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print('Hola')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Evita inventar una variable 'x' que nunca se usa.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1b. Omitir valores al desempaquetar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asterisco con guion bajo descarta todos los elementos intermedios.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21335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013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first, second, *_, last = (1, 2, 3, 4, 5, 6, 7, 8, 9, 10)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first = 1, second = 2, last = 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2. Placeholder en el intérprete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Dentro de la consola interactiva, _ guarda el último valor calculado.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10 + 20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30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_ + 40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70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_ + 30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Solo funciona en el intérprete, no dentro de un archivo .py.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3. Evitar choques con palabras reservadas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guion bajo al final libera el nombre sin cambiar su significado.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type_ = 'String'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class_ = 'User'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No puedes llamar 'class' a una variable, pero sí 'class_'.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4. Atributos privados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doble guion bajo al inicio activa el mecanismo de name mangling.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User: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__init__(self):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self.__password = ''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user = User()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user.password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AttributeError: 'User' object has no attribute 'password'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Lo vemos a fondo en el tema 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5. Dunder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Doble guion bajo al inicio Y al final: métodos especiales heredados de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97967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7796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User: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__init__(self):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pass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__len__(self):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pass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__str__(self):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'Dunder' viene de Double UNDERscore.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Guion 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19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6. Legibilidad de números grandes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Python ignora los guiones bajos dentro de un número.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1000000000000     # ¿cuántos ceros son?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1_000_000_000_000  # un billón, se lee de un vistazo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Palabras reservadas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son las palabras reservadas?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Son términos que el lenguaje ya usa para sí mismo.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No puedes usarlas como: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nombre de variable, función, método o clase.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Por qué: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intérprete las necesita para entender la estructura del programa.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Si lo intentas: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Python responde con un SyntaxError.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Solución práctica: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agrega un guion bajo al final, como class_ o type_.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Palabras reservadas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Las 35 palabras reservadas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9114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83868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8622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73376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8130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assert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2884" y="134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await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9114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break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3868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78622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73376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def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68130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2884" y="226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elif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89114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except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3868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finally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8622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for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73376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from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8130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global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62884" y="318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if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import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89114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83868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78622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lambda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73376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nonlocal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68130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not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2884" y="410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89114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raise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3868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return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78622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try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73376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while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68130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E293B"/>
                </a:solidFill>
                <a:latin typeface="Aptos"/>
              </a:rPr>
              <a:t>with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62884" y="5027280"/>
            <a:ext cx="1434754" cy="76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yield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Palabras reservadas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Consultarlas desde el propio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formas de pedirle la lista al intérprete.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Con el módulo keyword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121335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1013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from keyword import kwlist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kwlist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Con la función help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6245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424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help("keywords")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Palabras reservadas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error típico y su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Pasa mucho al modelar datos que tienen un campo llamado 'class' o 'type'.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Falla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121335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1013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= 'Matemáticas'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SyntaxError: invalid syntax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Funciona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class_ = 'Matemáticas'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type_ = 'Optativa'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 paradoja de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atributo privado es aquel que solo debería usarse dentro de la clase.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En Java o C#: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compilador impide el acceso desde fuera.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En Python: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no existen atributos verdaderamente privados.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Todos los atributos: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son públicos y accesibles desde cualquier parte.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Lo que sí hay: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un mecanismo llamado name mangling y una convención muy fuerte.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Name mangling: el doble guion 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prefijo __ marca un atributo o método como 'privado'.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User: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__init__(self, username):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self.__username = username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__private_method(self):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print('Este es un método privado')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Desde fuera de la clase: falla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acceso directo por el nombre original no funciona.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 = User('PyWombat')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print(py.__username)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2966"/>
            <a:ext cx="10500000" cy="624586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0080" y="4402966"/>
            <a:ext cx="1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  <a:latin typeface="Aptos"/>
              </a:rPr>
              <a:t>salida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92966"/>
            <a:ext cx="10100000" cy="424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AttributeError: 'User' object has no attribute '__username'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Desde dentro de la clase: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método público sí puede leer el atributo y llamar al método privado.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15721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9572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User: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__init__(self, username):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self.__username = username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__private_method(self):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print('Este es un método privado')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public_method(self):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print(self.__username)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self.__private_method()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 = User('PyWombat')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py.public_method()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Salida: PyWombat / Este es un método privado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hace Python por debajo?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intérprete renombra el atributo. La estructura es _&lt;Clase&gt;__&lt;atributo&gt;.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5077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30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 = User('PyWombat')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print(py.__dict__)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{'_User__username': 'PyWombat'}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No lo esconde: lo renombra.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29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 consecuencia: sí se puede acceder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Si conoces el nombre real, el atributo está totalmente disponible.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 = User('PyWombat')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print(py._User__username)      # lectura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py._User__private_method()     # ejecución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py._User__username = 'Cambio de username'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print(py._User__username)      # 'Cambio de username'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dir(py) revela todos los nombres reales del objeto.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Atributos privados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Conclusión: convención, no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 doble guion bajo es: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una señal clara de 'no uses esto desde fuera'.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No es: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un mecanismo de protección ni de seguridad.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 encapsulamiento en Python: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depende de la disciplina de quien programa.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Regla práctica: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si ves __, abstente de tocarlo fuera de la clase.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problema de instalar en 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Instalar dependencias globalmente parece cómodo... hasta el segundo proyecto.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Proyecto A necesita: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Django 2.1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Proyecto B necesita: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Django 5.0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Con instalación global: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solo puede ganar uno de los dos.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Resultado: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conflictos de versiones y errores imposibles de reproducir.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es un entorno virtual?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mecanismo para gestionar paquetes de forma aislada, por proyecto.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Aislamiento: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cada proyecto tiene sus propias dependencias.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Control de versiones: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sabes exactamente qué versión usa cada cosa.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Reproducibilidad: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otra persona puede recrear tu entorno idéntico.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Disponible desde: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Python 3.6 trae el módulo venv incorporado.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Crear el entorno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solo comando crea una carpeta con todo lo necesario.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python -m venv env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En otra ruta: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python3 -m venv /path/to/new/env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Si el módulo venv falla: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pip install virtualenv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Convención: llamarlo 'env' para reconocerlo de inmediato.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Activar el entorno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El comando cambia según el sistema operativo.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Unix / Linux / macOS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6245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424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source env/bin/activate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6245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424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env\Scripts\activate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Comprobar y desactivar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Cuando está activo, el nombre del entorno aparece entre paréntesis en el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6852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485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(env) C:\Users\Eduardo\Documents&gt;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Para salir del entorno: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deactivate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Para eliminarlo por completo: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deactivate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rm -rf env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Borrar un entorno es borrar una carpeta. No hay desinstalador.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Ver qué hay instalado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vistas del mismo contenido.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Formato para archivo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6245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4245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pip freeze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Formato para leer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pip list --format=columns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Package             Version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------------------  -------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argon2-cffi         21.1.0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async-generator     1.10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attrs               21.2.0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requirements.txt: la receta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Es el archivo que permite recrear el entorno en otra máquina o en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80212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6021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Guardar las dependencias actuales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pip freeze &gt; requirements.txt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Instalarlas todas de una vez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pip install -r requirements.txt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Actualízalo cada vez que instales o desinstales algo.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Entornos virtuales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Organización y 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formas de acomodar el entorno respecto al proyecto.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Opción 1: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entorno dentro del proyecto, registrado en .gitignore.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Opción 2: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entorno un nivel arriba, fuera de la carpeta del proyecto.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Nunca: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hacer commit de la carpeta del entorno.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Referencia: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.gitignore oficial de GitHub para Python.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39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Tipado dinámico: cómodo y peligroso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En Python una variable puede cambiar de tipo en cualquier momento.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ventaja: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escribes rápido, sin declarar tipos.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 costo: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al leer código ajeno no sabes qué contiene cada variable.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solución: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anotaciones de tipo, disponibles desde Python 3.6.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Ojo: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son documentación ejecutable, no reglas obligatorias.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Anotar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 estructura es: variable, dos puntos, tipo, y opcionalmente el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&lt;variable&gt; : &lt;tipo de dato&gt; = &lt;valor&gt;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a : int = 10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b : float = 3.14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c : bool = False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d : str = 'PyWombat'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Cuidado: anotar no es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Declarar el tipo sin asignar valor NO crea la variable.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21335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013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message : str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message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NameError: name 'message' is not defined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La anotación existe; la variable, no.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Anotar colecciones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Puedes indicar el tipo de lo que la colección contiene.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754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75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lista : list[int] = []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calificaciones : list[int] = [10, 10, 8, 9, 9, 8, 10]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puertos : tuple[int] = (3306, 8000, 3000)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configuraciones : tuple[int, int, bool, str] = (3306, 8000, False, 'MySQL')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configuraciones : tuple[int, ...] = (3306, 8000, 1080)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&gt;&gt;&gt; usuarios : dict[str:int] = {'usuario1':10, 'usuario2':20}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En tuplas puedes fijar cantidad, orden y tipos; '...' significa cantidad libre.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Anotar funciones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puntos para los parámetros, flecha para el valor de retorno.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27405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074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def suma(numero1 : int, numero2 : int = 10) -&gt; int: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...    return numero1 + numero2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suma(10, 20)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30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suma(40)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50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def promedio_calificaciones(calificaciones: list[int]) -&gt; int: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...     return sum(calificaciones) // len(calificaciones)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Anotar clases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Los métodos que no devuelven nada se anotan con -&gt; None.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User():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__init__(self, username : str, email : str) -&gt; None: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self.username = username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self.email = email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saluda(self) -&gt; str: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return f'Hola, mi username es {self.username}'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Anotaciones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intérprete NO valida las anotaciones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Puedes violar una anotación y Python no dirá 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80212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6021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calificaciones : list[int] = []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calificaciones.append(10)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calificaciones.append('Demo')   # viola la anotación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&gt;&gt;&gt; calificaciones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[10, 'Demo']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Sirven para leer, testear y mantener. Para validar de verdad: mypy o pyright.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5800" b="1" i="0">
                <a:solidFill>
                  <a:srgbClr val="FFD43B"/>
                </a:solidFill>
                <a:latin typeface="Aptos Display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ptos Display"/>
              </a:rPr>
              <a:t>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87552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ptos"/>
              </a:rPr>
              <a:t>De cero a una aplicación web con base de datos y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306998"/>
                </a:solidFill>
                <a:latin typeface="Aptos"/>
              </a:rPr>
              <a:t>Programación con Python para docentes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es Django?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framework web escrito en Python. Trae hecho lo que toda web necesita.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Te da hecho: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panel de administración, seguridad, formularios y base de datos.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Su lema: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framework para perfeccionistas con fechas de entrega.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idea de fondo: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no reescribir en cada proyecto lo que ya está resuelto.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Tú te concentras en: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lo que hace único a tu proyecto.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Empresas que usan Django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No es un framework de juguete: sostiene productos enormes.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Instagram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5180" y="164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Eventbrite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000" y="164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Mozilla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6820" y="164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Pinterest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5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Disqus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5180" y="295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The Washington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000" y="295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Spotify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6820" y="2957280"/>
            <a:ext cx="2630820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NASA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49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patrón MTV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separa los datos, la presentación y la lógica.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M — Model: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los datos y sus tablas.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 — Template: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lo que el usuario ve en pantalla.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V — 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la lógica que une las dos cosas.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En otros frameworks: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 esto le llaman MVC. Es la misma idea con otros nombres.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recorrido de una petición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Lo que pasa desde que alguien escribe la dirección hasta que ve la página.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763395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5633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Navegador  -&gt;  urls.py  -&gt;  views.py  -&gt;  models.py  -&gt;  Base de datos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                      |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                 template.html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                      |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                 Navegador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La URL decide la vista. La vista busca los datos. El template los pinta.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Proyecto y app: no son lo mismo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Es la confusión más común del primer día.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Proyecto — la configuración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django-admin startproject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monitoreo_red .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monitoreo_red/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settings.py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urls.py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App — la funcionalidad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python manage.py startapp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dispositivos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dispositivos/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models.py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views.py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De tabla SQL a clase de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Lo mismo que escribimos a mano en SQL, ahora como una clase.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5077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30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Dispositivo(models.Model):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nombre = models.CharField(max_length=100)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direccion_ip = models.GenericIPAddressField(unique=True)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red = models.ForeignKey(Red, on_delete=models.CASCADE)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14966"/>
            <a:ext cx="10500000" cy="1817624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0080" y="4154966"/>
            <a:ext cx="1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  <a:latin typeface="Aptos"/>
              </a:rPr>
              <a:t>salida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44966"/>
            <a:ext cx="10100000" cy="1617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CREATE TABLE dispositivos_dispositivo (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    id BIGINT AUTO_INCREMENT PRIMARY KEY,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    nombre VARCHAR(100) NOT NULL,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    direccion_ip CHAR(39) NOT NULL UNIQUE,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    red_id BIGINT NOT NULL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E2E8F0"/>
                </a:solidFill>
                <a:latin typeface="Courier New"/>
              </a:rPr>
              <a:t>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Django genera el SQL. Míralo con: python manage.py sqlmigrate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Migraciones: la receta y el plato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comandos, dos momentos distintos.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makemigrations — escribe la receta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180212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16021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python manage.py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makemigrations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crea el archivo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migrations/0001_initial.py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migrate — la cocina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150774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130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python manage.py migrate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ejecuta el SQL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en la base de datos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panel de administración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Con unas pocas líneas, Django genera un CRUD completo.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Lo que incluye: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alta, baja, edición, buscador, filtros y validaciones.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 comando: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python manage.py createsuperuser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dirección: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/admin/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Por qué importa: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cliente puede cargar datos desde el primer día.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Archivos estáticos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Estático es todo lo que no cambia: CSS, imágenes y JavaScript.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5003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500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dispositivos/static/dispositivos/estilos.css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└──────┘ └──────────┘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            la carpeta   el nombre de la app OTRA VEZ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{% load static %}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&lt;link rel="stylesheet" href="{% static 'dispositivos/estilos.css' %}"&gt;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Nunca escribas la ruta a mano: en producción cambia y se rompe.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Django: 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API: la misma información, otro formato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REST Framework sirve los datos como JSON en vez de HTML.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HTML: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para que lo lea una persona en el navegador.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JSON: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para que lo lea otro programa: una app móvil, un tablero.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Serializer: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traductor entre objetos de Python y JSON.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ViewSet: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da las cinco operaciones del CRUD sin escribirlas.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Enviar correos desde Django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trae todo lo necesario; solo hay que decirle qué servidor usar.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Paso 1: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configurar el servidor SMTP en settings.py.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Paso 2: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enviar un correo simple con send_mail().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Paso 3: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enviar HTML con EmailMultiAlternatives.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Paso 4: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no bloquear al usuario: enviar en segundo plano.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Configuración SMTP en settings.py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Ejemplo con Gmail.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EMAIL_USE_TLS = True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EMAIL_USE_SSL = False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EMAIL_HOST = 'smtp.gmail.com'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EMAIL_HOST_USER = 'myaccount@gmail.com'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EMAIL_HOST_PASSWORD = 'my_super_password123'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EMAIL_PORT = 587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Nunca dejes la contraseña escrita en el código.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59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Credenciales fuera del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Las contraseñas van en variables de entorno, igual que en el tema de entornos virtuales.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En settings.py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180212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16021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from decouple import config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EMAIL_HOST_PASSWORD = config(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'EMAIL_HOST_PASSWORD'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En la terminal (Unix)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export EMAIL_HOST_PASSWORD=\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my_super_password123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send_mail: el envío más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Cuatro argumentos obligatorios: asunto, cuerpo, remitente y lista de destinatarios.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27405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074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from django.conf import settings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from django.core.mail import send_mail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send_mail(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'Título del correo',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'Hola, este correo es enviado desde un post en PyWombat. 🐍',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settings.EMAIL_HOST_USER,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['to@example.com'],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fail_silently=False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fail_silently=False lanza smtplib.SMTPException si algo falla. Úsalo así.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Correos con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send_mail solo envía texto plano. Para un correo real se usa EmailMultiAlternatives.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67626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44762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from django.template.loader import get_template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from django.core.mail import EmailMultiAlternatives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def create_mail(user_mail, subject, template_name, context):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template = get_template(template_name)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content = template.render(context)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message = EmailMultiAlternatives(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subject=subject,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body='',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from_email=settings.EMAIL_HOST_USER,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to=[user_mail],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cc=[]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message.attach_alternative(content, 'text/html')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return message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template del correo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Un HTML normal con variables de Django. Archivo: welcome_mail.html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56844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368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&lt;!DOCTYPE html&gt;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&lt;html&gt;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&lt;head&gt;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&lt;title&gt;Welcome&lt;/title&gt;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&lt;/head&gt;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&lt;body&gt;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&lt;div&gt;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&lt;h2&gt;Hola {{ username }}, te damos la bienvenida&lt;/h2&gt;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&lt;/div&gt;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&lt;/body&gt;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&lt;/html&gt;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Usarlo desde una vista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Se arma el mensaje y se envía.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27405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0740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def sign_up(request):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mail = create_mail(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'eduardo78d@gmail.com',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'Bienvenido a la plataforma 🥳',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'welcome_mail.html',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{'username': 'eduardo_gpg'}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mail.send(fail_silently=False)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return redirect('welcome')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Problema: el usuario espera a que el correo salga antes de ver la página.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Correos en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No hagas esperar al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Enviar el correo en un hilo aparte devuelve la respuesta de inmediato.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29666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40966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import threading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def send_welcome_mail(user):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mail = create_mail(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    user.email,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    'Bienvenido a la plataforma 🥳',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    'welcome_mail.html',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    {'username': user.username}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)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mail.send(fail_silently=False)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def sign_up(request):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user = request.user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thread = threading.Thread(target=send_welcome_mail, args=(user,))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thread.start()</a:t>
            </a:r>
          </a:p>
          <a:p>
            <a:pPr>
              <a:lnSpc>
                <a:spcPct val="105000"/>
              </a:lnSpc>
            </a:pPr>
            <a:r>
              <a:rPr sz="1600" b="0" i="0">
                <a:solidFill>
                  <a:srgbClr val="1E293B"/>
                </a:solidFill>
                <a:latin typeface="Courier New"/>
              </a:rPr>
              <a:t>    return redirect('welcome')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Para proyectos grandes, el siguiente paso es Celery.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patrón MTV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separa el procesamiento de los datos de su presentación.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Model: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los datos y su estructura.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Template: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el archivo que el usuario finalmente ve.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la lógica que une los datos con el template.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Idea clave: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mostrar bien la información es tan importante como procesarla.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¿Qué es un template?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Normalmente HTML, pero también puede ser XML, YAML o JSON. Admite ciclos y condicionales.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56844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368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&lt;div class="col-6"&gt;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&lt;h5&gt;Últimos tokens generados.&lt;/h5&gt;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&lt;ul&gt;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{% for user in last_users %}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&lt;li&gt; {{ user.username }} &lt;/li&gt;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{% if user.active %}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    &lt;p&gt;Usuario activo&lt;/p&gt;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{% endif %}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{% endfor %}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&lt;/ul&gt;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&lt;/div&gt;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{{ }} muestra valores. {% %} ejecuta lógica.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 función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Vive en django.shortcuts y recibe tres argumentos: petición, template y contexto.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6852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4852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from django.shortcuts import render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def premium(request, slug):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article = get_object_or_404(Article, slug=slug)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return render(request, 'articles/premium.html', {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'article': article,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62966"/>
            <a:ext cx="10500000" cy="918972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0080" y="4402966"/>
            <a:ext cx="12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475569"/>
                </a:solidFill>
                <a:latin typeface="Aptos"/>
              </a:rPr>
              <a:t>salida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92966"/>
            <a:ext cx="101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&lt;h1&gt;{{ article.title }}&lt;/h1&gt;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E2E8F0"/>
                </a:solidFill>
                <a:latin typeface="Courier New"/>
              </a:rPr>
              <a:t>&lt;p&gt;{{ article.content }}&lt;/p&gt;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¿Dónde busca Django los templates?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Hay una ruta por convención y una configurable.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Por convención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57280"/>
            <a:ext cx="5100000" cy="9189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87280"/>
            <a:ext cx="4700000" cy="7189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aplicacion/templates/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aplicacion/archivo.html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0080" y="1597280"/>
            <a:ext cx="5100000" cy="420000"/>
          </a:xfrm>
          <a:prstGeom prst="roundRect">
            <a:avLst>
              <a:gd name="adj" fmla="val 16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Configurada en settings.py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40080" y="2157280"/>
            <a:ext cx="5100000" cy="2189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8680" y="2287280"/>
            <a:ext cx="4700000" cy="1989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TEMPLATES = [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{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'BACKEND': '...DjangoTemplates',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'DIRS': ['templates'],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'APP_DIRS': True,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'OPTIONS': { ... },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},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]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69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render devuelve un HttpResponse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Y por eso puedes manipular la respuesta antes de entregarla.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19011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9901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response = render(request, 'subscriptions/subscription.html', context)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response.set_cookie('coupon_code', coupon.code)</a:t>
            </a:r>
          </a:p>
          <a:p>
            <a:pPr>
              <a:lnSpc>
                <a:spcPct val="105000"/>
              </a:lnSpc>
            </a:pPr>
            <a:r>
              <a:rPr sz="1850" b="0" i="0">
                <a:solidFill>
                  <a:srgbClr val="1E293B"/>
                </a:solidFill>
                <a:latin typeface="Courier New"/>
              </a:rPr>
              <a:t>return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No siempre hay que retornar render directamente.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get_template: cuando no hay 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Para casos como generar el HTML de un correo. Se conecta con el tema anterior.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6685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446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from django.template.loader import get_template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from django.core.mail import EmailMultiAlternatives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template = get_template('users/mails')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content = template.render({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   'user': user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})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msg = EmailMultiAlternatives(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   subject,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   'PyWombat',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   settings.FROM_EMAIL,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   [user.email],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)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750" b="0" i="0">
                <a:solidFill>
                  <a:srgbClr val="1E293B"/>
                </a:solidFill>
                <a:latin typeface="Courier New"/>
              </a:rPr>
              <a:t>msg.attach_alternative(content, 'text/html')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Templates en vistas basadas en clases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Las CBV siguen convenciones y permiten decidir el template en tiempo de ejecución.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15721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9572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ArticleDetailView(DetailView):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model = Article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# busca automáticamente: articles/article_detail.html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ArticleDetailView(DetailView):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model = Article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template_name = 'articles/detail.html'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get_template_names(self):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if not self.request.user.is_anonymous: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return ['articles/detail.html']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else: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return ['articles/subscription.html']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Cambiar de template NO es redirigir: la URL sigue siendo la misma.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problema: campos duplicados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Dos modelos que comparten casi todo. El código repetido es una señal.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45224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2522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Video(models.Model):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title = models.CharField(max_length=50)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description = models.TextField()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image_path = models.CharField(max_length=100, default='', null=True, blank=True)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slug = models.SlugField(null=False, blank=False, unique=True)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created_at = models.DateTimeField(auto_now_add=True)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Article(models.Model):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title = models.CharField(max_length=100)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image_path = models.CharField(max_length=100, default='', null=True, blank=True)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slug = models.SlugField(null=False, blank=False, unique=True)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markdown_content = models.TextField()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created_at = models.DateTimeField(auto_now_add=True)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Tres formas de heredar en Django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Abstracta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sin tabla propia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453" y="13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1E293B"/>
                </a:solidFill>
                <a:latin typeface="Aptos"/>
              </a:rPr>
              <a:t>Multi tabla</a:t>
            </a:r>
            <a:br/>
            <a:r>
              <a:rPr sz="1500" b="1" i="0">
                <a:solidFill>
                  <a:srgbClr val="1E293B"/>
                </a:solidFill>
                <a:latin typeface="Aptos"/>
              </a:rPr>
              <a:t>tabla por clase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546" y="1347280"/>
            <a:ext cx="3561093" cy="1150000"/>
          </a:xfrm>
          <a:prstGeom prst="roundRect">
            <a:avLst>
              <a:gd name="adj" fmla="val 14000"/>
            </a:avLst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Proxy</a:t>
            </a:r>
            <a:br/>
            <a:r>
              <a:rPr sz="1500" b="1" i="0">
                <a:solidFill>
                  <a:srgbClr val="FFFFFF"/>
                </a:solidFill>
                <a:latin typeface="Aptos"/>
              </a:rPr>
              <a:t>solo comportamiento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1. Herencia abstracta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 clase padre define los campos comunes pero NO genera tabla.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692397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492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Resource(models.Model):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title = models.CharField(max_length=50)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image_path = models.CharField(max_length=100, default='', null=True, blank=True)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slug = models.SlugField(null=False, blank=False, unique=True)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created_at = models.DateTimeField(auto_now_add=True)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class Meta: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    abstract = True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Video(Resource):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description = models.TextField()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Article(Resource):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markdown_content = models.TextField()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Sin abstract = True, Django crearía una tabla 'resource' que no necesitas.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Qué gana la herencia abstracta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Tablas creadas: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solo video y article. Ninguna para Resource.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Los hijos heredan: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atributos y métodos de la clase padre.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Requisito obligatorio: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abstract = True dentro de class Meta.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Permite: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heredar de varias clases padre a la vez.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Cuándo usarla: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cuando solo quieres dejar de repetir campos.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2. Herencia multi tabla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Aquí sí se crean dos tablas y Django las relaciona una a una.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Admin(models.Model):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username = models.CharField(max_length=50)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name = models.CharField(max_length=50)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last_name = models.CharField(max_length=50)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class Employee(Admin):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RFC = models.CharField(max_length=50)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Se crean las tablas admin y employee.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 relación automática: _ptr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agrega un puntero con el nombre de la clase padre en minúsculas más _ptr.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2514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051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admin1 = Admin.objects.create(username='admin1', name='Eduardo', last_name='García')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employee1 = Employee.objects.create(admin_ptr=admin1, RFC='EXAMPLE')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admin1.employee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# &lt;Employee: Employee object (1)&gt;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employee1.admin_ptr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# &lt;Admin: Admin object (1)&gt;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Ideal cuando necesitas registros del padre Y del hijo al mismo tiempo.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78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3. Herencia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Agrega comportamiento a un modelo existente sin tocarlo y sin crear tabla.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345224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32522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Article(models.Model):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title = models.CharField(max_length=100)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image_path = models.CharField(max_length=100, default='', null=True, blank=True)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slug = models.SlugField(null=False, blank=False, unique=True)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premium = models.BooleanField(default=False)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created_at = models.DateTimeField(auto_now_add=True)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class SuperArticle(Article):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class Meta: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    proxy = True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def new_super_title(self):</a:t>
            </a:r>
          </a:p>
          <a:p>
            <a:pPr>
              <a:lnSpc>
                <a:spcPct val="105000"/>
              </a:lnSpc>
            </a:pPr>
            <a:r>
              <a:rPr sz="1550" b="0" i="0">
                <a:solidFill>
                  <a:srgbClr val="1E293B"/>
                </a:solidFill>
                <a:latin typeface="Courier New"/>
              </a:rPr>
              <a:t>        return f'Nuevo título: {self.title}'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79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proxy en acción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Mismos datos, misma tabla, métodos adicionales.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9090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909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article = SuperArticle.objects.filter(pk=1).get()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article.title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'¿Realmente conoces los Strings en Python?'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article.new_super_title()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# 'Nuevo título: ¿Realmente conoces los Strings en Python?'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Perfecto para extender modelos de terceros que no puedes modificar.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Herencia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80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Cuál usar en cada caso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Abstracta: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quiero reutilizar campos sin crear tabla del padre.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Multi tabla: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necesito registros independientes del padre y del hijo.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Proxy: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solo quiero agregar métodos a un modelo que ya existe.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La palabra clave: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todo se decide en class Meta.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81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Vistas basadas en clases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Django trae clases listas para las operaciones más comunes de un CRUD.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ListView: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listar registros.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CreateView: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crear un registro.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DetailView: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ver el detalle de uno.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UpdateView / DeleteView: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editar y eliminar.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Ventaja: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código más legible, estructurado y reutilizable.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82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dispatch: el punto de intercepción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Todas heredan de View. dispatch es el intermediario entre la petición y la respuesta.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754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75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class ArticleDetailView(DetailView):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template_name = 'articles/subscription.html'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model = Article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def dispatch(self, request, *args, **kwargs):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if not self.get_object().public: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    return redirect('articles:list')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return super(ArticleDetailView, self).dispatch(request, *args, **kwargs)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En DetailView, get_object() se ejecuta ANTES que dispatch.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83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El problema: la misma validación en todos lados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Tres vistas, la misma lógica copiada tres veces.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428117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40811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class ArticleCreateView(CreateView):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def dispatch(self, request, *args, **kwargs):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if not request.user.admin():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    return redirect('index')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return super(ArticleCreateView, self).dispatch(request, *args, **kwargs)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class ArticleDetailView(LoginRequiredMixin, DetailView):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def dispatch(self, request, *args, **kwargs):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if not request.user.admin():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    return redirect('index')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return super(ArticleDetailView, self).dispatch(request, *args, **kwargs)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class ArticleUpdateView(LoginRequiredMixin, SuccessMessageMixin, UpdateView):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def dispatch(self, request, *args, **kwargs):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if not request.user.admin():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    return redirect('index')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1E293B"/>
                </a:solidFill>
                <a:latin typeface="Courier New"/>
              </a:rPr>
              <a:t>        return super(ArticleUpdateView, self).dispatch(request, *args, **kwargs)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¿Y si mañana son 20 o 50 vistas? Un cambio se vuelve un problema.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84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La solución: un decorador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La validación se escribe una vez. Recibe request como primer argumento, igual que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09651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89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def admin_required(function):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def wrap(request, *args, **kwargs):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if not request.user.admin():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    return redirect('index')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    return function(request, *args, **kwargs)</a:t>
            </a:r>
          </a:p>
          <a:p>
            <a:pPr>
              <a:lnSpc>
                <a:spcPct val="105000"/>
              </a:lnSpc>
            </a:pPr>
            <a:r>
              <a:rPr sz="1900" b="0" i="0">
                <a:solidFill>
                  <a:srgbClr val="1E293B"/>
                </a:solidFill>
                <a:latin typeface="Courier New"/>
              </a:rPr>
              <a:t>    return wrap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85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Aplicarlo con method_decorator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En vistas basadas en clases se usa method_decorator sobre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23754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2175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from django.utils.decorators import method_decorator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class AnswerUpdateView(LoginRequiredMixin, SuccessMessageMixin, UpdateView):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model = Answer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@method_decorator(admin_required)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def dispatch(self, request, *args, **kwargs):</a:t>
            </a:r>
          </a:p>
          <a:p>
            <a:pPr>
              <a:lnSpc>
                <a:spcPct val="105000"/>
              </a:lnSpc>
            </a:pPr>
            <a:r>
              <a:rPr sz="1650" b="0" i="0">
                <a:solidFill>
                  <a:srgbClr val="1E293B"/>
                </a:solidFill>
                <a:latin typeface="Courier New"/>
              </a:rPr>
              <a:t>        return super(AnswerUpdateView, self).dispatch(request, *args, **kwargs)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El dispatch queda de una sola línea. La validación vive en un solo lugar.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86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Encadenar decoradores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103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 i="0">
                <a:solidFill>
                  <a:srgbClr val="1E293B"/>
                </a:solidFill>
                <a:latin typeface="Aptos"/>
              </a:rPr>
              <a:t>Se pueden apilar para construir una secuencia de validaciones.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47280"/>
            <a:ext cx="10500000" cy="164718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280"/>
            <a:ext cx="10100000" cy="14471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1E293B"/>
                </a:solidFill>
                <a:latin typeface="Courier New"/>
              </a:rPr>
              <a:t>@method_decorator(admin_required)</a:t>
            </a:r>
          </a:p>
          <a:p>
            <a:pPr>
              <a:lnSpc>
                <a:spcPct val="105000"/>
              </a:lnSpc>
            </a:pPr>
            <a:r>
              <a:rPr sz="1700" b="0" i="0">
                <a:solidFill>
                  <a:srgbClr val="1E293B"/>
                </a:solidFill>
                <a:latin typeface="Courier New"/>
              </a:rPr>
              <a:t>@method_decorator(user_authenticated)</a:t>
            </a:r>
          </a:p>
          <a:p>
            <a:pPr>
              <a:lnSpc>
                <a:spcPct val="105000"/>
              </a:lnSpc>
            </a:pPr>
            <a:r>
              <a:rPr sz="1700" b="0" i="0">
                <a:solidFill>
                  <a:srgbClr val="1E293B"/>
                </a:solidFill>
                <a:latin typeface="Courier New"/>
              </a:rPr>
              <a:t>@method_decorator(article_pubished)</a:t>
            </a:r>
          </a:p>
          <a:p>
            <a:pPr>
              <a:lnSpc>
                <a:spcPct val="105000"/>
              </a:lnSpc>
            </a:pPr>
            <a:r>
              <a:rPr sz="1700" b="0" i="0">
                <a:solidFill>
                  <a:srgbClr val="1E293B"/>
                </a:solidFill>
                <a:latin typeface="Courier New"/>
              </a:rPr>
              <a:t>def dispatch(self, request, *args, **kwargs):</a:t>
            </a:r>
          </a:p>
          <a:p>
            <a:pPr>
              <a:lnSpc>
                <a:spcPct val="105000"/>
              </a:lnSpc>
            </a:pPr>
            <a:r>
              <a:rPr sz="1700" b="0" i="0">
                <a:solidFill>
                  <a:srgbClr val="1E293B"/>
                </a:solidFill>
                <a:latin typeface="Courier New"/>
              </a:rPr>
              <a:t>    return super(ArticleCreateView, self).dispatch(request, *args, **kwargs)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0000"/>
            <a:ext cx="10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1">
                <a:solidFill>
                  <a:srgbClr val="306998"/>
                </a:solidFill>
                <a:latin typeface="Aptos"/>
              </a:rPr>
              <a:t>Se ejecutan de abajo hacia arriba.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4572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Programación con Python para docentes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6565392"/>
            <a:ext cx="3200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475569"/>
                </a:solidFill>
                <a:latin typeface="Aptos"/>
              </a:rPr>
              <a:t>Decoradores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6539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0" i="0">
                <a:solidFill>
                  <a:srgbClr val="475569"/>
                </a:solidFill>
                <a:latin typeface="Aptos"/>
              </a:rPr>
              <a:t>87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8197" y="308397"/>
            <a:ext cx="430000" cy="43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57200"/>
            <a:ext cx="10500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306998"/>
                </a:solidFill>
                <a:latin typeface="Aptos Display"/>
              </a:rPr>
              <a:t>Buenas prácticas con decoradores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77280"/>
            <a:ext cx="103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Que sean simples: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validar una o dos cosas, no más.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Sin lógica de negocio: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un decorador valida, no calcula ni guarda.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Uno por responsabilidad: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si además agrega datos a la petición, sepáralo.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FFD43B"/>
                </a:solidFill>
                <a:latin typeface="Aptos"/>
              </a:rPr>
              <a:t>▪  </a:t>
            </a:r>
            <a:r>
              <a:rPr sz="1700" b="1" i="0">
                <a:solidFill>
                  <a:srgbClr val="306998"/>
                </a:solidFill>
                <a:latin typeface="Aptos"/>
              </a:rPr>
              <a:t>El beneficio: </a:t>
            </a:r>
            <a:r>
              <a:rPr sz="1700" b="0" i="0">
                <a:solidFill>
                  <a:srgbClr val="1E293B"/>
                </a:solidFill>
                <a:latin typeface="Aptos"/>
              </a:rPr>
              <a:t>la validación queda centralizada y reutilizable.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6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00000"/>
            <a:ext cx="1078992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ptos Display"/>
              </a:rPr>
              <a:t>Fuentes y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00000"/>
            <a:ext cx="9875520" cy="2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Todo el contenido proviene de los artículos de pywombat.com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Autor de los artículos: @eduardogpg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Siguiente paso: llevar estos conceptos al proyecto integrador.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Los ejemplos de código se conservaron tal como aparecen en la fuente.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150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306998"/>
                </a:solidFill>
                <a:latin typeface="Aptos"/>
              </a:rPr>
              <a:t>Programación con Python para docentes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