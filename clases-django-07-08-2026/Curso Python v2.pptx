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6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197.xml" ContentType="application/vnd.openxmlformats-officedocument.presentationml.notesSlide+xml"/>
  <Override PartName="/ppt/notesSlides/notesSlide198.xml" ContentType="application/vnd.openxmlformats-officedocument.presentationml.notesSlide+xml"/>
  <Override PartName="/ppt/notesSlides/notesSlide199.xml" ContentType="application/vnd.openxmlformats-officedocument.presentationml.notesSlide+xml"/>
  <Override PartName="/ppt/notesSlides/notesSlide200.xml" ContentType="application/vnd.openxmlformats-officedocument.presentationml.notesSlide+xml"/>
  <Override PartName="/ppt/notesSlides/notesSlide201.xml" ContentType="application/vnd.openxmlformats-officedocument.presentationml.notesSlide+xml"/>
  <Override PartName="/ppt/notesSlides/notesSlide202.xml" ContentType="application/vnd.openxmlformats-officedocument.presentationml.notesSlide+xml"/>
  <Override PartName="/ppt/notesSlides/notesSlide203.xml" ContentType="application/vnd.openxmlformats-officedocument.presentationml.notesSlide+xml"/>
  <Override PartName="/ppt/notesSlides/notesSlide204.xml" ContentType="application/vnd.openxmlformats-officedocument.presentationml.notesSlide+xml"/>
  <Override PartName="/ppt/notesSlides/notesSlide205.xml" ContentType="application/vnd.openxmlformats-officedocument.presentationml.notesSlide+xml"/>
  <Override PartName="/ppt/notesSlides/notesSlide206.xml" ContentType="application/vnd.openxmlformats-officedocument.presentationml.notesSlide+xml"/>
  <Override PartName="/ppt/notesSlides/notesSlide207.xml" ContentType="application/vnd.openxmlformats-officedocument.presentationml.notesSlide+xml"/>
  <Override PartName="/ppt/notesSlides/notesSlide208.xml" ContentType="application/vnd.openxmlformats-officedocument.presentationml.notesSlide+xml"/>
  <Override PartName="/ppt/notesSlides/notesSlide209.xml" ContentType="application/vnd.openxmlformats-officedocument.presentationml.notesSlide+xml"/>
  <Override PartName="/ppt/notesSlides/notesSlide210.xml" ContentType="application/vnd.openxmlformats-officedocument.presentationml.notesSlide+xml"/>
  <Override PartName="/ppt/notesSlides/notesSlide211.xml" ContentType="application/vnd.openxmlformats-officedocument.presentationml.notesSlide+xml"/>
  <Override PartName="/ppt/notesSlides/notesSlide212.xml" ContentType="application/vnd.openxmlformats-officedocument.presentationml.notesSlide+xml"/>
  <Override PartName="/ppt/notesSlides/notesSlide213.xml" ContentType="application/vnd.openxmlformats-officedocument.presentationml.notesSlide+xml"/>
  <Override PartName="/ppt/notesSlides/notesSlide214.xml" ContentType="application/vnd.openxmlformats-officedocument.presentationml.notesSlide+xml"/>
  <Override PartName="/ppt/notesSlides/notesSlide215.xml" ContentType="application/vnd.openxmlformats-officedocument.presentationml.notesSlide+xml"/>
  <Override PartName="/ppt/notesSlides/notesSlide216.xml" ContentType="application/vnd.openxmlformats-officedocument.presentationml.notesSlide+xml"/>
  <Override PartName="/ppt/notesSlides/notesSlide217.xml" ContentType="application/vnd.openxmlformats-officedocument.presentationml.notesSlide+xml"/>
  <Override PartName="/ppt/notesSlides/notesSlide218.xml" ContentType="application/vnd.openxmlformats-officedocument.presentationml.notesSlide+xml"/>
  <Override PartName="/ppt/notesSlides/notesSlide219.xml" ContentType="application/vnd.openxmlformats-officedocument.presentationml.notesSlide+xml"/>
  <Override PartName="/ppt/notesSlides/notesSlide220.xml" ContentType="application/vnd.openxmlformats-officedocument.presentationml.notesSlide+xml"/>
  <Override PartName="/ppt/notesSlides/notesSlide221.xml" ContentType="application/vnd.openxmlformats-officedocument.presentationml.notesSlide+xml"/>
  <Override PartName="/ppt/notesSlides/notesSlide222.xml" ContentType="application/vnd.openxmlformats-officedocument.presentationml.notesSlide+xml"/>
  <Override PartName="/ppt/notesSlides/notesSlide223.xml" ContentType="application/vnd.openxmlformats-officedocument.presentationml.notesSlide+xml"/>
  <Override PartName="/ppt/notesSlides/notesSlide224.xml" ContentType="application/vnd.openxmlformats-officedocument.presentationml.notesSlide+xml"/>
  <Override PartName="/ppt/notesSlides/notesSlide225.xml" ContentType="application/vnd.openxmlformats-officedocument.presentationml.notesSlide+xml"/>
  <Override PartName="/ppt/notesSlides/notesSlide226.xml" ContentType="application/vnd.openxmlformats-officedocument.presentationml.notesSlide+xml"/>
  <Override PartName="/ppt/notesSlides/notesSlide227.xml" ContentType="application/vnd.openxmlformats-officedocument.presentationml.notesSlide+xml"/>
  <Override PartName="/ppt/notesSlides/notesSlide228.xml" ContentType="application/vnd.openxmlformats-officedocument.presentationml.notesSlide+xml"/>
  <Override PartName="/ppt/notesSlides/notesSlide229.xml" ContentType="application/vnd.openxmlformats-officedocument.presentationml.notesSlide+xml"/>
  <Override PartName="/ppt/notesSlides/notesSlide230.xml" ContentType="application/vnd.openxmlformats-officedocument.presentationml.notesSlide+xml"/>
  <Override PartName="/ppt/notesSlides/notesSlide231.xml" ContentType="application/vnd.openxmlformats-officedocument.presentationml.notesSlide+xml"/>
  <Override PartName="/ppt/notesSlides/notesSlide232.xml" ContentType="application/vnd.openxmlformats-officedocument.presentationml.notesSlide+xml"/>
  <Override PartName="/ppt/notesSlides/notesSlide233.xml" ContentType="application/vnd.openxmlformats-officedocument.presentationml.notesSlide+xml"/>
  <Override PartName="/ppt/notesSlides/notesSlide234.xml" ContentType="application/vnd.openxmlformats-officedocument.presentationml.notesSlide+xml"/>
  <Override PartName="/ppt/notesSlides/notesSlide235.xml" ContentType="application/vnd.openxmlformats-officedocument.presentationml.notesSlide+xml"/>
  <Override PartName="/ppt/notesSlides/notesSlide236.xml" ContentType="application/vnd.openxmlformats-officedocument.presentationml.notesSlide+xml"/>
  <Override PartName="/ppt/notesSlides/notesSlide237.xml" ContentType="application/vnd.openxmlformats-officedocument.presentationml.notesSlide+xml"/>
  <Override PartName="/ppt/notesSlides/notesSlide238.xml" ContentType="application/vnd.openxmlformats-officedocument.presentationml.notesSlide+xml"/>
  <Override PartName="/ppt/notesSlides/notesSlide239.xml" ContentType="application/vnd.openxmlformats-officedocument.presentationml.notesSlide+xml"/>
  <Override PartName="/ppt/notesSlides/notesSlide240.xml" ContentType="application/vnd.openxmlformats-officedocument.presentationml.notesSlide+xml"/>
  <Override PartName="/ppt/notesSlides/notesSlide241.xml" ContentType="application/vnd.openxmlformats-officedocument.presentationml.notesSlide+xml"/>
  <Override PartName="/ppt/notesSlides/notesSlide242.xml" ContentType="application/vnd.openxmlformats-officedocument.presentationml.notesSlide+xml"/>
  <Override PartName="/ppt/notesSlides/notesSlide243.xml" ContentType="application/vnd.openxmlformats-officedocument.presentationml.notesSlide+xml"/>
  <Override PartName="/ppt/notesSlides/notesSlide244.xml" ContentType="application/vnd.openxmlformats-officedocument.presentationml.notesSlide+xml"/>
  <Override PartName="/ppt/notesSlides/notesSlide245.xml" ContentType="application/vnd.openxmlformats-officedocument.presentationml.notesSlide+xml"/>
  <Override PartName="/ppt/notesSlides/notesSlide246.xml" ContentType="application/vnd.openxmlformats-officedocument.presentationml.notesSlide+xml"/>
  <Override PartName="/ppt/notesSlides/notesSlide247.xml" ContentType="application/vnd.openxmlformats-officedocument.presentationml.notesSlide+xml"/>
  <Override PartName="/ppt/notesSlides/notesSlide248.xml" ContentType="application/vnd.openxmlformats-officedocument.presentationml.notesSlide+xml"/>
  <Override PartName="/ppt/notesSlides/notesSlide249.xml" ContentType="application/vnd.openxmlformats-officedocument.presentationml.notesSlide+xml"/>
  <Override PartName="/ppt/notesSlides/notesSlide250.xml" ContentType="application/vnd.openxmlformats-officedocument.presentationml.notesSlide+xml"/>
  <Override PartName="/ppt/notesSlides/notesSlide251.xml" ContentType="application/vnd.openxmlformats-officedocument.presentationml.notesSlide+xml"/>
  <Override PartName="/ppt/notesSlides/notesSlide252.xml" ContentType="application/vnd.openxmlformats-officedocument.presentationml.notesSlide+xml"/>
  <Override PartName="/ppt/notesSlides/notesSlide253.xml" ContentType="application/vnd.openxmlformats-officedocument.presentationml.notesSlide+xml"/>
  <Override PartName="/ppt/notesSlides/notesSlide254.xml" ContentType="application/vnd.openxmlformats-officedocument.presentationml.notesSlide+xml"/>
  <Override PartName="/ppt/notesSlides/notesSlide255.xml" ContentType="application/vnd.openxmlformats-officedocument.presentationml.notesSlide+xml"/>
  <Override PartName="/ppt/notesSlides/notesSlide256.xml" ContentType="application/vnd.openxmlformats-officedocument.presentationml.notesSlide+xml"/>
  <Override PartName="/ppt/notesSlides/notesSlide257.xml" ContentType="application/vnd.openxmlformats-officedocument.presentationml.notesSlide+xml"/>
  <Override PartName="/ppt/notesSlides/notesSlide258.xml" ContentType="application/vnd.openxmlformats-officedocument.presentationml.notesSlide+xml"/>
  <Override PartName="/ppt/notesSlides/notesSlide259.xml" ContentType="application/vnd.openxmlformats-officedocument.presentationml.notesSlide+xml"/>
  <Override PartName="/ppt/notesSlides/notesSlide26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3"/>
  </p:notesMasterIdLst>
  <p:sldIdLst>
    <p:sldId id="538" r:id="rId2"/>
    <p:sldId id="537" r:id="rId3"/>
    <p:sldId id="264" r:id="rId4"/>
    <p:sldId id="265" r:id="rId5"/>
    <p:sldId id="267" r:id="rId6"/>
    <p:sldId id="268" r:id="rId7"/>
    <p:sldId id="269" r:id="rId8"/>
    <p:sldId id="274" r:id="rId9"/>
    <p:sldId id="275" r:id="rId10"/>
    <p:sldId id="276" r:id="rId11"/>
    <p:sldId id="277" r:id="rId12"/>
    <p:sldId id="467" r:id="rId13"/>
    <p:sldId id="468" r:id="rId14"/>
    <p:sldId id="282" r:id="rId15"/>
    <p:sldId id="278" r:id="rId16"/>
    <p:sldId id="279" r:id="rId17"/>
    <p:sldId id="280" r:id="rId18"/>
    <p:sldId id="281" r:id="rId19"/>
    <p:sldId id="283" r:id="rId20"/>
    <p:sldId id="285" r:id="rId21"/>
    <p:sldId id="288" r:id="rId22"/>
    <p:sldId id="289" r:id="rId23"/>
    <p:sldId id="290" r:id="rId24"/>
    <p:sldId id="469" r:id="rId25"/>
    <p:sldId id="470" r:id="rId26"/>
    <p:sldId id="291" r:id="rId27"/>
    <p:sldId id="292" r:id="rId28"/>
    <p:sldId id="293" r:id="rId29"/>
    <p:sldId id="294" r:id="rId30"/>
    <p:sldId id="295" r:id="rId31"/>
    <p:sldId id="296" r:id="rId32"/>
    <p:sldId id="297" r:id="rId33"/>
    <p:sldId id="298" r:id="rId34"/>
    <p:sldId id="299" r:id="rId35"/>
    <p:sldId id="300" r:id="rId36"/>
    <p:sldId id="301" r:id="rId37"/>
    <p:sldId id="302" r:id="rId38"/>
    <p:sldId id="303" r:id="rId39"/>
    <p:sldId id="304" r:id="rId40"/>
    <p:sldId id="471" r:id="rId41"/>
    <p:sldId id="305" r:id="rId42"/>
    <p:sldId id="306" r:id="rId43"/>
    <p:sldId id="307" r:id="rId44"/>
    <p:sldId id="308" r:id="rId45"/>
    <p:sldId id="309" r:id="rId46"/>
    <p:sldId id="310" r:id="rId47"/>
    <p:sldId id="311" r:id="rId48"/>
    <p:sldId id="312" r:id="rId49"/>
    <p:sldId id="313" r:id="rId50"/>
    <p:sldId id="314" r:id="rId51"/>
    <p:sldId id="320" r:id="rId52"/>
    <p:sldId id="321" r:id="rId53"/>
    <p:sldId id="322" r:id="rId54"/>
    <p:sldId id="323" r:id="rId55"/>
    <p:sldId id="324" r:id="rId56"/>
    <p:sldId id="325" r:id="rId57"/>
    <p:sldId id="326" r:id="rId58"/>
    <p:sldId id="327" r:id="rId59"/>
    <p:sldId id="328" r:id="rId60"/>
    <p:sldId id="329" r:id="rId61"/>
    <p:sldId id="330" r:id="rId62"/>
    <p:sldId id="331" r:id="rId63"/>
    <p:sldId id="332" r:id="rId64"/>
    <p:sldId id="473" r:id="rId65"/>
    <p:sldId id="333" r:id="rId66"/>
    <p:sldId id="334" r:id="rId67"/>
    <p:sldId id="335" r:id="rId68"/>
    <p:sldId id="336" r:id="rId69"/>
    <p:sldId id="337" r:id="rId70"/>
    <p:sldId id="338" r:id="rId71"/>
    <p:sldId id="339" r:id="rId72"/>
    <p:sldId id="340" r:id="rId73"/>
    <p:sldId id="341" r:id="rId74"/>
    <p:sldId id="342" r:id="rId75"/>
    <p:sldId id="343" r:id="rId76"/>
    <p:sldId id="344" r:id="rId77"/>
    <p:sldId id="345" r:id="rId78"/>
    <p:sldId id="346" r:id="rId79"/>
    <p:sldId id="347" r:id="rId80"/>
    <p:sldId id="348" r:id="rId81"/>
    <p:sldId id="475" r:id="rId82"/>
    <p:sldId id="476" r:id="rId83"/>
    <p:sldId id="478" r:id="rId84"/>
    <p:sldId id="479" r:id="rId85"/>
    <p:sldId id="481" r:id="rId86"/>
    <p:sldId id="482" r:id="rId87"/>
    <p:sldId id="483" r:id="rId88"/>
    <p:sldId id="484" r:id="rId89"/>
    <p:sldId id="485" r:id="rId90"/>
    <p:sldId id="486" r:id="rId91"/>
    <p:sldId id="487" r:id="rId92"/>
    <p:sldId id="488" r:id="rId93"/>
    <p:sldId id="474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539" r:id="rId104"/>
    <p:sldId id="542" r:id="rId105"/>
    <p:sldId id="541" r:id="rId106"/>
    <p:sldId id="543" r:id="rId107"/>
    <p:sldId id="544" r:id="rId108"/>
    <p:sldId id="545" r:id="rId109"/>
    <p:sldId id="506" r:id="rId110"/>
    <p:sldId id="552" r:id="rId111"/>
    <p:sldId id="546" r:id="rId112"/>
    <p:sldId id="549" r:id="rId113"/>
    <p:sldId id="554" r:id="rId114"/>
    <p:sldId id="550" r:id="rId115"/>
    <p:sldId id="551" r:id="rId116"/>
    <p:sldId id="553" r:id="rId117"/>
    <p:sldId id="547" r:id="rId118"/>
    <p:sldId id="548" r:id="rId119"/>
    <p:sldId id="489" r:id="rId120"/>
    <p:sldId id="491" r:id="rId121"/>
    <p:sldId id="490" r:id="rId122"/>
    <p:sldId id="492" r:id="rId123"/>
    <p:sldId id="493" r:id="rId124"/>
    <p:sldId id="494" r:id="rId125"/>
    <p:sldId id="495" r:id="rId126"/>
    <p:sldId id="496" r:id="rId127"/>
    <p:sldId id="498" r:id="rId128"/>
    <p:sldId id="497" r:id="rId129"/>
    <p:sldId id="499" r:id="rId130"/>
    <p:sldId id="500" r:id="rId131"/>
    <p:sldId id="501" r:id="rId132"/>
    <p:sldId id="502" r:id="rId133"/>
    <p:sldId id="504" r:id="rId134"/>
    <p:sldId id="507" r:id="rId135"/>
    <p:sldId id="508" r:id="rId136"/>
    <p:sldId id="509" r:id="rId137"/>
    <p:sldId id="510" r:id="rId138"/>
    <p:sldId id="511" r:id="rId139"/>
    <p:sldId id="514" r:id="rId140"/>
    <p:sldId id="513" r:id="rId141"/>
    <p:sldId id="515" r:id="rId142"/>
    <p:sldId id="512" r:id="rId143"/>
    <p:sldId id="516" r:id="rId144"/>
    <p:sldId id="518" r:id="rId145"/>
    <p:sldId id="517" r:id="rId146"/>
    <p:sldId id="519" r:id="rId147"/>
    <p:sldId id="520" r:id="rId148"/>
    <p:sldId id="522" r:id="rId149"/>
    <p:sldId id="521" r:id="rId150"/>
    <p:sldId id="363" r:id="rId151"/>
    <p:sldId id="364" r:id="rId152"/>
    <p:sldId id="365" r:id="rId153"/>
    <p:sldId id="366" r:id="rId154"/>
    <p:sldId id="367" r:id="rId155"/>
    <p:sldId id="368" r:id="rId156"/>
    <p:sldId id="369" r:id="rId157"/>
    <p:sldId id="370" r:id="rId158"/>
    <p:sldId id="371" r:id="rId159"/>
    <p:sldId id="523" r:id="rId160"/>
    <p:sldId id="372" r:id="rId161"/>
    <p:sldId id="524" r:id="rId162"/>
    <p:sldId id="373" r:id="rId163"/>
    <p:sldId id="525" r:id="rId164"/>
    <p:sldId id="529" r:id="rId165"/>
    <p:sldId id="527" r:id="rId166"/>
    <p:sldId id="530" r:id="rId167"/>
    <p:sldId id="531" r:id="rId168"/>
    <p:sldId id="532" r:id="rId169"/>
    <p:sldId id="533" r:id="rId170"/>
    <p:sldId id="534" r:id="rId171"/>
    <p:sldId id="535" r:id="rId172"/>
    <p:sldId id="555" r:id="rId173"/>
    <p:sldId id="556" r:id="rId174"/>
    <p:sldId id="558" r:id="rId175"/>
    <p:sldId id="559" r:id="rId176"/>
    <p:sldId id="557" r:id="rId177"/>
    <p:sldId id="560" r:id="rId178"/>
    <p:sldId id="561" r:id="rId179"/>
    <p:sldId id="562" r:id="rId180"/>
    <p:sldId id="563" r:id="rId181"/>
    <p:sldId id="536" r:id="rId182"/>
    <p:sldId id="381" r:id="rId183"/>
    <p:sldId id="382" r:id="rId184"/>
    <p:sldId id="389" r:id="rId185"/>
    <p:sldId id="390" r:id="rId186"/>
    <p:sldId id="391" r:id="rId187"/>
    <p:sldId id="392" r:id="rId188"/>
    <p:sldId id="393" r:id="rId189"/>
    <p:sldId id="394" r:id="rId190"/>
    <p:sldId id="395" r:id="rId191"/>
    <p:sldId id="396" r:id="rId192"/>
    <p:sldId id="397" r:id="rId193"/>
    <p:sldId id="398" r:id="rId194"/>
    <p:sldId id="399" r:id="rId195"/>
    <p:sldId id="400" r:id="rId196"/>
    <p:sldId id="401" r:id="rId197"/>
    <p:sldId id="402" r:id="rId198"/>
    <p:sldId id="403" r:id="rId199"/>
    <p:sldId id="404" r:id="rId200"/>
    <p:sldId id="405" r:id="rId201"/>
    <p:sldId id="406" r:id="rId202"/>
    <p:sldId id="407" r:id="rId203"/>
    <p:sldId id="408" r:id="rId204"/>
    <p:sldId id="409" r:id="rId205"/>
    <p:sldId id="410" r:id="rId206"/>
    <p:sldId id="411" r:id="rId207"/>
    <p:sldId id="412" r:id="rId208"/>
    <p:sldId id="413" r:id="rId209"/>
    <p:sldId id="414" r:id="rId210"/>
    <p:sldId id="415" r:id="rId211"/>
    <p:sldId id="416" r:id="rId212"/>
    <p:sldId id="417" r:id="rId213"/>
    <p:sldId id="418" r:id="rId214"/>
    <p:sldId id="419" r:id="rId215"/>
    <p:sldId id="420" r:id="rId216"/>
    <p:sldId id="421" r:id="rId217"/>
    <p:sldId id="422" r:id="rId218"/>
    <p:sldId id="423" r:id="rId219"/>
    <p:sldId id="424" r:id="rId220"/>
    <p:sldId id="425" r:id="rId221"/>
    <p:sldId id="426" r:id="rId222"/>
    <p:sldId id="427" r:id="rId223"/>
    <p:sldId id="428" r:id="rId224"/>
    <p:sldId id="429" r:id="rId225"/>
    <p:sldId id="430" r:id="rId226"/>
    <p:sldId id="431" r:id="rId227"/>
    <p:sldId id="432" r:id="rId228"/>
    <p:sldId id="433" r:id="rId229"/>
    <p:sldId id="434" r:id="rId230"/>
    <p:sldId id="435" r:id="rId231"/>
    <p:sldId id="436" r:id="rId232"/>
    <p:sldId id="437" r:id="rId233"/>
    <p:sldId id="438" r:id="rId234"/>
    <p:sldId id="439" r:id="rId235"/>
    <p:sldId id="440" r:id="rId236"/>
    <p:sldId id="441" r:id="rId237"/>
    <p:sldId id="442" r:id="rId238"/>
    <p:sldId id="443" r:id="rId239"/>
    <p:sldId id="444" r:id="rId240"/>
    <p:sldId id="445" r:id="rId241"/>
    <p:sldId id="446" r:id="rId242"/>
    <p:sldId id="447" r:id="rId243"/>
    <p:sldId id="448" r:id="rId244"/>
    <p:sldId id="449" r:id="rId245"/>
    <p:sldId id="450" r:id="rId246"/>
    <p:sldId id="451" r:id="rId247"/>
    <p:sldId id="452" r:id="rId248"/>
    <p:sldId id="453" r:id="rId249"/>
    <p:sldId id="454" r:id="rId250"/>
    <p:sldId id="455" r:id="rId251"/>
    <p:sldId id="456" r:id="rId252"/>
    <p:sldId id="457" r:id="rId253"/>
    <p:sldId id="458" r:id="rId254"/>
    <p:sldId id="459" r:id="rId255"/>
    <p:sldId id="460" r:id="rId256"/>
    <p:sldId id="461" r:id="rId257"/>
    <p:sldId id="462" r:id="rId258"/>
    <p:sldId id="463" r:id="rId259"/>
    <p:sldId id="464" r:id="rId260"/>
    <p:sldId id="465" r:id="rId261"/>
    <p:sldId id="466" r:id="rId26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4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1" autoAdjust="0"/>
    <p:restoredTop sz="94610"/>
  </p:normalViewPr>
  <p:slideViewPr>
    <p:cSldViewPr snapToGrid="0" snapToObjects="1">
      <p:cViewPr>
        <p:scale>
          <a:sx n="95" d="100"/>
          <a:sy n="95" d="100"/>
        </p:scale>
        <p:origin x="66" y="-6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63" Type="http://schemas.openxmlformats.org/officeDocument/2006/relationships/slide" Target="slides/slide62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226" Type="http://schemas.openxmlformats.org/officeDocument/2006/relationships/slide" Target="slides/slide22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slide" Target="slides/slide180.xml"/><Relationship Id="rId216" Type="http://schemas.openxmlformats.org/officeDocument/2006/relationships/slide" Target="slides/slide215.xml"/><Relationship Id="rId237" Type="http://schemas.openxmlformats.org/officeDocument/2006/relationships/slide" Target="slides/slide236.xml"/><Relationship Id="rId258" Type="http://schemas.openxmlformats.org/officeDocument/2006/relationships/slide" Target="slides/slide257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92" Type="http://schemas.openxmlformats.org/officeDocument/2006/relationships/slide" Target="slides/slide191.xml"/><Relationship Id="rId206" Type="http://schemas.openxmlformats.org/officeDocument/2006/relationships/slide" Target="slides/slide205.xml"/><Relationship Id="rId227" Type="http://schemas.openxmlformats.org/officeDocument/2006/relationships/slide" Target="slides/slide226.xml"/><Relationship Id="rId248" Type="http://schemas.openxmlformats.org/officeDocument/2006/relationships/slide" Target="slides/slide247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82" Type="http://schemas.openxmlformats.org/officeDocument/2006/relationships/slide" Target="slides/slide181.xml"/><Relationship Id="rId217" Type="http://schemas.openxmlformats.org/officeDocument/2006/relationships/slide" Target="slides/slide216.xml"/><Relationship Id="rId6" Type="http://schemas.openxmlformats.org/officeDocument/2006/relationships/slide" Target="slides/slide5.xml"/><Relationship Id="rId238" Type="http://schemas.openxmlformats.org/officeDocument/2006/relationships/slide" Target="slides/slide237.xml"/><Relationship Id="rId259" Type="http://schemas.openxmlformats.org/officeDocument/2006/relationships/slide" Target="slides/slide258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5" Type="http://schemas.openxmlformats.org/officeDocument/2006/relationships/slide" Target="slides/slide64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51" Type="http://schemas.openxmlformats.org/officeDocument/2006/relationships/slide" Target="slides/slide150.xml"/><Relationship Id="rId172" Type="http://schemas.openxmlformats.org/officeDocument/2006/relationships/slide" Target="slides/slide171.xml"/><Relationship Id="rId193" Type="http://schemas.openxmlformats.org/officeDocument/2006/relationships/slide" Target="slides/slide192.xml"/><Relationship Id="rId207" Type="http://schemas.openxmlformats.org/officeDocument/2006/relationships/slide" Target="slides/slide206.xml"/><Relationship Id="rId228" Type="http://schemas.openxmlformats.org/officeDocument/2006/relationships/slide" Target="slides/slide227.xml"/><Relationship Id="rId249" Type="http://schemas.openxmlformats.org/officeDocument/2006/relationships/slide" Target="slides/slide248.xml"/><Relationship Id="rId13" Type="http://schemas.openxmlformats.org/officeDocument/2006/relationships/slide" Target="slides/slide12.xml"/><Relationship Id="rId109" Type="http://schemas.openxmlformats.org/officeDocument/2006/relationships/slide" Target="slides/slide108.xml"/><Relationship Id="rId260" Type="http://schemas.openxmlformats.org/officeDocument/2006/relationships/slide" Target="slides/slide259.xml"/><Relationship Id="rId34" Type="http://schemas.openxmlformats.org/officeDocument/2006/relationships/slide" Target="slides/slide33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20" Type="http://schemas.openxmlformats.org/officeDocument/2006/relationships/slide" Target="slides/slide119.xml"/><Relationship Id="rId141" Type="http://schemas.openxmlformats.org/officeDocument/2006/relationships/slide" Target="slides/slide140.xml"/><Relationship Id="rId7" Type="http://schemas.openxmlformats.org/officeDocument/2006/relationships/slide" Target="slides/slide6.xml"/><Relationship Id="rId162" Type="http://schemas.openxmlformats.org/officeDocument/2006/relationships/slide" Target="slides/slide161.xml"/><Relationship Id="rId183" Type="http://schemas.openxmlformats.org/officeDocument/2006/relationships/slide" Target="slides/slide182.xml"/><Relationship Id="rId218" Type="http://schemas.openxmlformats.org/officeDocument/2006/relationships/slide" Target="slides/slide217.xml"/><Relationship Id="rId239" Type="http://schemas.openxmlformats.org/officeDocument/2006/relationships/slide" Target="slides/slide238.xml"/><Relationship Id="rId250" Type="http://schemas.openxmlformats.org/officeDocument/2006/relationships/slide" Target="slides/slide249.xml"/><Relationship Id="rId24" Type="http://schemas.openxmlformats.org/officeDocument/2006/relationships/slide" Target="slides/slide23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31" Type="http://schemas.openxmlformats.org/officeDocument/2006/relationships/slide" Target="slides/slide130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4" Type="http://schemas.openxmlformats.org/officeDocument/2006/relationships/slide" Target="slides/slide193.xml"/><Relationship Id="rId208" Type="http://schemas.openxmlformats.org/officeDocument/2006/relationships/slide" Target="slides/slide207.xml"/><Relationship Id="rId229" Type="http://schemas.openxmlformats.org/officeDocument/2006/relationships/slide" Target="slides/slide228.xml"/><Relationship Id="rId240" Type="http://schemas.openxmlformats.org/officeDocument/2006/relationships/slide" Target="slides/slide239.xml"/><Relationship Id="rId261" Type="http://schemas.openxmlformats.org/officeDocument/2006/relationships/slide" Target="slides/slide260.xml"/><Relationship Id="rId14" Type="http://schemas.openxmlformats.org/officeDocument/2006/relationships/slide" Target="slides/slide13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8" Type="http://schemas.openxmlformats.org/officeDocument/2006/relationships/slide" Target="slides/slide7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219" Type="http://schemas.openxmlformats.org/officeDocument/2006/relationships/slide" Target="slides/slide218.xml"/><Relationship Id="rId230" Type="http://schemas.openxmlformats.org/officeDocument/2006/relationships/slide" Target="slides/slide229.xml"/><Relationship Id="rId251" Type="http://schemas.openxmlformats.org/officeDocument/2006/relationships/slide" Target="slides/slide250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95" Type="http://schemas.openxmlformats.org/officeDocument/2006/relationships/slide" Target="slides/slide194.xml"/><Relationship Id="rId209" Type="http://schemas.openxmlformats.org/officeDocument/2006/relationships/slide" Target="slides/slide208.xml"/><Relationship Id="rId220" Type="http://schemas.openxmlformats.org/officeDocument/2006/relationships/slide" Target="slides/slide219.xml"/><Relationship Id="rId241" Type="http://schemas.openxmlformats.org/officeDocument/2006/relationships/slide" Target="slides/slide24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262" Type="http://schemas.openxmlformats.org/officeDocument/2006/relationships/slide" Target="slides/slide261.xml"/><Relationship Id="rId78" Type="http://schemas.openxmlformats.org/officeDocument/2006/relationships/slide" Target="slides/slide77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64" Type="http://schemas.openxmlformats.org/officeDocument/2006/relationships/slide" Target="slides/slide163.xml"/><Relationship Id="rId185" Type="http://schemas.openxmlformats.org/officeDocument/2006/relationships/slide" Target="slides/slide184.xml"/><Relationship Id="rId9" Type="http://schemas.openxmlformats.org/officeDocument/2006/relationships/slide" Target="slides/slide8.xml"/><Relationship Id="rId210" Type="http://schemas.openxmlformats.org/officeDocument/2006/relationships/slide" Target="slides/slide209.xml"/><Relationship Id="rId26" Type="http://schemas.openxmlformats.org/officeDocument/2006/relationships/slide" Target="slides/slide25.xml"/><Relationship Id="rId231" Type="http://schemas.openxmlformats.org/officeDocument/2006/relationships/slide" Target="slides/slide230.xml"/><Relationship Id="rId252" Type="http://schemas.openxmlformats.org/officeDocument/2006/relationships/slide" Target="slides/slide251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96" Type="http://schemas.openxmlformats.org/officeDocument/2006/relationships/slide" Target="slides/slide195.xml"/><Relationship Id="rId200" Type="http://schemas.openxmlformats.org/officeDocument/2006/relationships/slide" Target="slides/slide199.xml"/><Relationship Id="rId16" Type="http://schemas.openxmlformats.org/officeDocument/2006/relationships/slide" Target="slides/slide15.xml"/><Relationship Id="rId221" Type="http://schemas.openxmlformats.org/officeDocument/2006/relationships/slide" Target="slides/slide220.xml"/><Relationship Id="rId242" Type="http://schemas.openxmlformats.org/officeDocument/2006/relationships/slide" Target="slides/slide241.xml"/><Relationship Id="rId263" Type="http://schemas.openxmlformats.org/officeDocument/2006/relationships/notesMaster" Target="notesMasters/notesMaster1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slide" Target="slides/slide185.xml"/><Relationship Id="rId211" Type="http://schemas.openxmlformats.org/officeDocument/2006/relationships/slide" Target="slides/slide210.xml"/><Relationship Id="rId232" Type="http://schemas.openxmlformats.org/officeDocument/2006/relationships/slide" Target="slides/slide231.xml"/><Relationship Id="rId253" Type="http://schemas.openxmlformats.org/officeDocument/2006/relationships/slide" Target="slides/slide252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97" Type="http://schemas.openxmlformats.org/officeDocument/2006/relationships/slide" Target="slides/slide196.xml"/><Relationship Id="rId201" Type="http://schemas.openxmlformats.org/officeDocument/2006/relationships/slide" Target="slides/slide200.xml"/><Relationship Id="rId222" Type="http://schemas.openxmlformats.org/officeDocument/2006/relationships/slide" Target="slides/slide221.xml"/><Relationship Id="rId243" Type="http://schemas.openxmlformats.org/officeDocument/2006/relationships/slide" Target="slides/slide242.xml"/><Relationship Id="rId264" Type="http://schemas.openxmlformats.org/officeDocument/2006/relationships/presProps" Target="presProps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87" Type="http://schemas.openxmlformats.org/officeDocument/2006/relationships/slide" Target="slides/slide186.xml"/><Relationship Id="rId1" Type="http://schemas.openxmlformats.org/officeDocument/2006/relationships/slideMaster" Target="slideMasters/slideMaster1.xml"/><Relationship Id="rId212" Type="http://schemas.openxmlformats.org/officeDocument/2006/relationships/slide" Target="slides/slide211.xml"/><Relationship Id="rId233" Type="http://schemas.openxmlformats.org/officeDocument/2006/relationships/slide" Target="slides/slide232.xml"/><Relationship Id="rId254" Type="http://schemas.openxmlformats.org/officeDocument/2006/relationships/slide" Target="slides/slide253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60" Type="http://schemas.openxmlformats.org/officeDocument/2006/relationships/slide" Target="slides/slide59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98" Type="http://schemas.openxmlformats.org/officeDocument/2006/relationships/slide" Target="slides/slide197.xml"/><Relationship Id="rId202" Type="http://schemas.openxmlformats.org/officeDocument/2006/relationships/slide" Target="slides/slide201.xml"/><Relationship Id="rId223" Type="http://schemas.openxmlformats.org/officeDocument/2006/relationships/slide" Target="slides/slide222.xml"/><Relationship Id="rId244" Type="http://schemas.openxmlformats.org/officeDocument/2006/relationships/slide" Target="slides/slide243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265" Type="http://schemas.openxmlformats.org/officeDocument/2006/relationships/viewProps" Target="viewProps.xml"/><Relationship Id="rId50" Type="http://schemas.openxmlformats.org/officeDocument/2006/relationships/slide" Target="slides/slide49.xml"/><Relationship Id="rId104" Type="http://schemas.openxmlformats.org/officeDocument/2006/relationships/slide" Target="slides/slide103.xml"/><Relationship Id="rId125" Type="http://schemas.openxmlformats.org/officeDocument/2006/relationships/slide" Target="slides/slide124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slide" Target="slides/slide187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13" Type="http://schemas.openxmlformats.org/officeDocument/2006/relationships/slide" Target="slides/slide212.xml"/><Relationship Id="rId234" Type="http://schemas.openxmlformats.org/officeDocument/2006/relationships/slide" Target="slides/slide233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55" Type="http://schemas.openxmlformats.org/officeDocument/2006/relationships/slide" Target="slides/slide254.xml"/><Relationship Id="rId40" Type="http://schemas.openxmlformats.org/officeDocument/2006/relationships/slide" Target="slides/slide39.xml"/><Relationship Id="rId115" Type="http://schemas.openxmlformats.org/officeDocument/2006/relationships/slide" Target="slides/slide114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9" Type="http://schemas.openxmlformats.org/officeDocument/2006/relationships/slide" Target="slides/slide198.xml"/><Relationship Id="rId203" Type="http://schemas.openxmlformats.org/officeDocument/2006/relationships/slide" Target="slides/slide202.xml"/><Relationship Id="rId19" Type="http://schemas.openxmlformats.org/officeDocument/2006/relationships/slide" Target="slides/slide18.xml"/><Relationship Id="rId224" Type="http://schemas.openxmlformats.org/officeDocument/2006/relationships/slide" Target="slides/slide223.xml"/><Relationship Id="rId245" Type="http://schemas.openxmlformats.org/officeDocument/2006/relationships/slide" Target="slides/slide244.xml"/><Relationship Id="rId266" Type="http://schemas.openxmlformats.org/officeDocument/2006/relationships/theme" Target="theme/theme1.xml"/><Relationship Id="rId30" Type="http://schemas.openxmlformats.org/officeDocument/2006/relationships/slide" Target="slides/slide2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189" Type="http://schemas.openxmlformats.org/officeDocument/2006/relationships/slide" Target="slides/slide188.xml"/><Relationship Id="rId3" Type="http://schemas.openxmlformats.org/officeDocument/2006/relationships/slide" Target="slides/slide2.xml"/><Relationship Id="rId214" Type="http://schemas.openxmlformats.org/officeDocument/2006/relationships/slide" Target="slides/slide213.xml"/><Relationship Id="rId235" Type="http://schemas.openxmlformats.org/officeDocument/2006/relationships/slide" Target="slides/slide234.xml"/><Relationship Id="rId256" Type="http://schemas.openxmlformats.org/officeDocument/2006/relationships/slide" Target="slides/slide255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179" Type="http://schemas.openxmlformats.org/officeDocument/2006/relationships/slide" Target="slides/slide178.xml"/><Relationship Id="rId190" Type="http://schemas.openxmlformats.org/officeDocument/2006/relationships/slide" Target="slides/slide189.xml"/><Relationship Id="rId204" Type="http://schemas.openxmlformats.org/officeDocument/2006/relationships/slide" Target="slides/slide203.xml"/><Relationship Id="rId225" Type="http://schemas.openxmlformats.org/officeDocument/2006/relationships/slide" Target="slides/slide224.xml"/><Relationship Id="rId246" Type="http://schemas.openxmlformats.org/officeDocument/2006/relationships/slide" Target="slides/slide245.xml"/><Relationship Id="rId267" Type="http://schemas.openxmlformats.org/officeDocument/2006/relationships/tableStyles" Target="tableStyles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94" Type="http://schemas.openxmlformats.org/officeDocument/2006/relationships/slide" Target="slides/slide93.xml"/><Relationship Id="rId148" Type="http://schemas.openxmlformats.org/officeDocument/2006/relationships/slide" Target="slides/slide147.xml"/><Relationship Id="rId169" Type="http://schemas.openxmlformats.org/officeDocument/2006/relationships/slide" Target="slides/slide168.xml"/><Relationship Id="rId4" Type="http://schemas.openxmlformats.org/officeDocument/2006/relationships/slide" Target="slides/slide3.xml"/><Relationship Id="rId180" Type="http://schemas.openxmlformats.org/officeDocument/2006/relationships/slide" Target="slides/slide179.xml"/><Relationship Id="rId215" Type="http://schemas.openxmlformats.org/officeDocument/2006/relationships/slide" Target="slides/slide214.xml"/><Relationship Id="rId236" Type="http://schemas.openxmlformats.org/officeDocument/2006/relationships/slide" Target="slides/slide235.xml"/><Relationship Id="rId257" Type="http://schemas.openxmlformats.org/officeDocument/2006/relationships/slide" Target="slides/slide256.xml"/><Relationship Id="rId42" Type="http://schemas.openxmlformats.org/officeDocument/2006/relationships/slide" Target="slides/slide41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91" Type="http://schemas.openxmlformats.org/officeDocument/2006/relationships/slide" Target="slides/slide190.xml"/><Relationship Id="rId205" Type="http://schemas.openxmlformats.org/officeDocument/2006/relationships/slide" Target="slides/slide204.xml"/><Relationship Id="rId247" Type="http://schemas.openxmlformats.org/officeDocument/2006/relationships/slide" Target="slides/slide246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6F7737F-732C-4E07-8C85-2EB99F96AE8B}" type="doc">
      <dgm:prSet loTypeId="urn:microsoft.com/office/officeart/2005/8/layout/hProcess9" loCatId="process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s-MX"/>
        </a:p>
      </dgm:t>
    </dgm:pt>
    <dgm:pt modelId="{520B4F7C-E8A8-450B-96B9-C9BCA23E65CE}">
      <dgm:prSet/>
      <dgm:spPr/>
      <dgm:t>
        <a:bodyPr/>
        <a:lstStyle/>
        <a:p>
          <a:r>
            <a:rPr lang="en-US" dirty="0"/>
            <a:t>Una </a:t>
          </a:r>
          <a:r>
            <a:rPr lang="en-US" b="1" dirty="0"/>
            <a:t>variable </a:t>
          </a:r>
          <a:r>
            <a:rPr lang="en-US" dirty="0" err="1"/>
            <a:t>guarda</a:t>
          </a:r>
          <a:r>
            <a:rPr lang="en-US" dirty="0"/>
            <a:t> una </a:t>
          </a:r>
          <a:r>
            <a:rPr lang="en-US" b="1" dirty="0" err="1"/>
            <a:t>referencia</a:t>
          </a:r>
          <a:r>
            <a:rPr lang="en-US" dirty="0"/>
            <a:t> a un valor.</a:t>
          </a:r>
          <a:endParaRPr lang="es-MX" dirty="0"/>
        </a:p>
      </dgm:t>
    </dgm:pt>
    <dgm:pt modelId="{09F7910C-8E44-408F-90E0-1CE736EDF244}" type="parTrans" cxnId="{F826D7F6-2B68-4349-A085-FE73D4FA0B33}">
      <dgm:prSet/>
      <dgm:spPr/>
      <dgm:t>
        <a:bodyPr/>
        <a:lstStyle/>
        <a:p>
          <a:endParaRPr lang="es-MX"/>
        </a:p>
      </dgm:t>
    </dgm:pt>
    <dgm:pt modelId="{6F050F99-392E-40F3-8103-EB219339A0B5}" type="sibTrans" cxnId="{F826D7F6-2B68-4349-A085-FE73D4FA0B33}">
      <dgm:prSet/>
      <dgm:spPr/>
      <dgm:t>
        <a:bodyPr/>
        <a:lstStyle/>
        <a:p>
          <a:endParaRPr lang="es-MX"/>
        </a:p>
      </dgm:t>
    </dgm:pt>
    <dgm:pt modelId="{27EAF012-2F6B-4885-942E-532420D1A028}">
      <dgm:prSet/>
      <dgm:spPr/>
      <dgm:t>
        <a:bodyPr/>
        <a:lstStyle/>
        <a:p>
          <a:r>
            <a:rPr lang="en-US" dirty="0"/>
            <a:t>Debe </a:t>
          </a:r>
          <a:r>
            <a:rPr lang="en-US" dirty="0" err="1"/>
            <a:t>tener</a:t>
          </a:r>
          <a:r>
            <a:rPr lang="en-US" dirty="0"/>
            <a:t> un </a:t>
          </a:r>
          <a:r>
            <a:rPr lang="en-US" dirty="0" err="1"/>
            <a:t>nombre</a:t>
          </a:r>
          <a:r>
            <a:rPr lang="en-US" dirty="0"/>
            <a:t> claro.</a:t>
          </a:r>
          <a:endParaRPr lang="es-MX" dirty="0"/>
        </a:p>
      </dgm:t>
    </dgm:pt>
    <dgm:pt modelId="{32E8A94F-B32B-4A7D-B5C6-50B4E637DD40}" type="parTrans" cxnId="{005E2C9C-F4C6-4D80-ADDD-711BBA3DE04D}">
      <dgm:prSet/>
      <dgm:spPr/>
      <dgm:t>
        <a:bodyPr/>
        <a:lstStyle/>
        <a:p>
          <a:endParaRPr lang="es-MX"/>
        </a:p>
      </dgm:t>
    </dgm:pt>
    <dgm:pt modelId="{94D88809-D685-41C0-BC2C-EAFE1B9696C4}" type="sibTrans" cxnId="{005E2C9C-F4C6-4D80-ADDD-711BBA3DE04D}">
      <dgm:prSet/>
      <dgm:spPr/>
      <dgm:t>
        <a:bodyPr/>
        <a:lstStyle/>
        <a:p>
          <a:endParaRPr lang="es-MX"/>
        </a:p>
      </dgm:t>
    </dgm:pt>
    <dgm:pt modelId="{A4EB64D4-91BF-4CA6-81D3-94D59521E254}">
      <dgm:prSet/>
      <dgm:spPr/>
      <dgm:t>
        <a:bodyPr/>
        <a:lstStyle/>
        <a:p>
          <a:r>
            <a:rPr lang="en-US"/>
            <a:t>Se recomienda usar snake_case.</a:t>
          </a:r>
          <a:endParaRPr lang="es-MX"/>
        </a:p>
      </dgm:t>
    </dgm:pt>
    <dgm:pt modelId="{2B2D1BF0-CF93-4215-A14D-9FA7E24A7EC2}" type="parTrans" cxnId="{B9085620-81EE-4466-A237-1742DB8F0096}">
      <dgm:prSet/>
      <dgm:spPr/>
      <dgm:t>
        <a:bodyPr/>
        <a:lstStyle/>
        <a:p>
          <a:endParaRPr lang="es-MX"/>
        </a:p>
      </dgm:t>
    </dgm:pt>
    <dgm:pt modelId="{0ABB69BC-5185-4D79-8E7F-3419A52DC40A}" type="sibTrans" cxnId="{B9085620-81EE-4466-A237-1742DB8F0096}">
      <dgm:prSet/>
      <dgm:spPr/>
      <dgm:t>
        <a:bodyPr/>
        <a:lstStyle/>
        <a:p>
          <a:endParaRPr lang="es-MX"/>
        </a:p>
      </dgm:t>
    </dgm:pt>
    <dgm:pt modelId="{EB2A8B8B-8F2A-4CAE-86E4-5AE56EAB2DFA}">
      <dgm:prSet/>
      <dgm:spPr/>
      <dgm:t>
        <a:bodyPr/>
        <a:lstStyle/>
        <a:p>
          <a:r>
            <a:rPr lang="en-US"/>
            <a:t>Evitar nombres genéricos como x si no son temporales.</a:t>
          </a:r>
          <a:endParaRPr lang="es-MX"/>
        </a:p>
      </dgm:t>
    </dgm:pt>
    <dgm:pt modelId="{25C3B0B3-27D9-42EE-A522-C392076B6533}" type="parTrans" cxnId="{7F717C7A-4D30-47BC-A735-3A2189C24C5D}">
      <dgm:prSet/>
      <dgm:spPr/>
      <dgm:t>
        <a:bodyPr/>
        <a:lstStyle/>
        <a:p>
          <a:endParaRPr lang="es-MX"/>
        </a:p>
      </dgm:t>
    </dgm:pt>
    <dgm:pt modelId="{3F1A6CD4-30EF-4E4B-BF7F-C78A3503D55E}" type="sibTrans" cxnId="{7F717C7A-4D30-47BC-A735-3A2189C24C5D}">
      <dgm:prSet/>
      <dgm:spPr/>
      <dgm:t>
        <a:bodyPr/>
        <a:lstStyle/>
        <a:p>
          <a:endParaRPr lang="es-MX"/>
        </a:p>
      </dgm:t>
    </dgm:pt>
    <dgm:pt modelId="{35690E68-DDAB-4BEE-B67C-E64A419320B2}" type="pres">
      <dgm:prSet presAssocID="{D6F7737F-732C-4E07-8C85-2EB99F96AE8B}" presName="CompostProcess" presStyleCnt="0">
        <dgm:presLayoutVars>
          <dgm:dir/>
          <dgm:resizeHandles val="exact"/>
        </dgm:presLayoutVars>
      </dgm:prSet>
      <dgm:spPr/>
    </dgm:pt>
    <dgm:pt modelId="{3CF54AF9-050F-43B7-B7D5-A491359A3BD0}" type="pres">
      <dgm:prSet presAssocID="{D6F7737F-732C-4E07-8C85-2EB99F96AE8B}" presName="arrow" presStyleLbl="bgShp" presStyleIdx="0" presStyleCnt="1"/>
      <dgm:spPr/>
    </dgm:pt>
    <dgm:pt modelId="{DE125617-8A52-4162-93A4-597501D1EE99}" type="pres">
      <dgm:prSet presAssocID="{D6F7737F-732C-4E07-8C85-2EB99F96AE8B}" presName="linearProcess" presStyleCnt="0"/>
      <dgm:spPr/>
    </dgm:pt>
    <dgm:pt modelId="{78509EA0-E86F-46D4-8DF7-EC867FEB605A}" type="pres">
      <dgm:prSet presAssocID="{520B4F7C-E8A8-450B-96B9-C9BCA23E65CE}" presName="textNode" presStyleLbl="node1" presStyleIdx="0" presStyleCnt="4">
        <dgm:presLayoutVars>
          <dgm:bulletEnabled val="1"/>
        </dgm:presLayoutVars>
      </dgm:prSet>
      <dgm:spPr/>
    </dgm:pt>
    <dgm:pt modelId="{A573128A-B03A-40B7-AC77-CA1C3A023C12}" type="pres">
      <dgm:prSet presAssocID="{6F050F99-392E-40F3-8103-EB219339A0B5}" presName="sibTrans" presStyleCnt="0"/>
      <dgm:spPr/>
    </dgm:pt>
    <dgm:pt modelId="{4B7BC865-94C6-454C-8F78-FD443973F1D6}" type="pres">
      <dgm:prSet presAssocID="{27EAF012-2F6B-4885-942E-532420D1A028}" presName="textNode" presStyleLbl="node1" presStyleIdx="1" presStyleCnt="4">
        <dgm:presLayoutVars>
          <dgm:bulletEnabled val="1"/>
        </dgm:presLayoutVars>
      </dgm:prSet>
      <dgm:spPr/>
    </dgm:pt>
    <dgm:pt modelId="{18D0D5B6-9318-490B-90A4-86F4A0873C9E}" type="pres">
      <dgm:prSet presAssocID="{94D88809-D685-41C0-BC2C-EAFE1B9696C4}" presName="sibTrans" presStyleCnt="0"/>
      <dgm:spPr/>
    </dgm:pt>
    <dgm:pt modelId="{7DB08162-9FD2-4CA8-AF7F-9F9F1E86D6F1}" type="pres">
      <dgm:prSet presAssocID="{A4EB64D4-91BF-4CA6-81D3-94D59521E254}" presName="textNode" presStyleLbl="node1" presStyleIdx="2" presStyleCnt="4">
        <dgm:presLayoutVars>
          <dgm:bulletEnabled val="1"/>
        </dgm:presLayoutVars>
      </dgm:prSet>
      <dgm:spPr/>
    </dgm:pt>
    <dgm:pt modelId="{8C2245D3-E30B-4BBE-BB94-C0C64A98B3FE}" type="pres">
      <dgm:prSet presAssocID="{0ABB69BC-5185-4D79-8E7F-3419A52DC40A}" presName="sibTrans" presStyleCnt="0"/>
      <dgm:spPr/>
    </dgm:pt>
    <dgm:pt modelId="{3532B4C2-BC7A-4F95-AA54-969A8B356350}" type="pres">
      <dgm:prSet presAssocID="{EB2A8B8B-8F2A-4CAE-86E4-5AE56EAB2DFA}" presName="textNode" presStyleLbl="node1" presStyleIdx="3" presStyleCnt="4">
        <dgm:presLayoutVars>
          <dgm:bulletEnabled val="1"/>
        </dgm:presLayoutVars>
      </dgm:prSet>
      <dgm:spPr/>
    </dgm:pt>
  </dgm:ptLst>
  <dgm:cxnLst>
    <dgm:cxn modelId="{6BA9F91F-5E6C-46EF-B03E-897DE160D4ED}" type="presOf" srcId="{A4EB64D4-91BF-4CA6-81D3-94D59521E254}" destId="{7DB08162-9FD2-4CA8-AF7F-9F9F1E86D6F1}" srcOrd="0" destOrd="0" presId="urn:microsoft.com/office/officeart/2005/8/layout/hProcess9"/>
    <dgm:cxn modelId="{B9085620-81EE-4466-A237-1742DB8F0096}" srcId="{D6F7737F-732C-4E07-8C85-2EB99F96AE8B}" destId="{A4EB64D4-91BF-4CA6-81D3-94D59521E254}" srcOrd="2" destOrd="0" parTransId="{2B2D1BF0-CF93-4215-A14D-9FA7E24A7EC2}" sibTransId="{0ABB69BC-5185-4D79-8E7F-3419A52DC40A}"/>
    <dgm:cxn modelId="{48A0456E-8762-48B0-A084-80ABABC49B90}" type="presOf" srcId="{27EAF012-2F6B-4885-942E-532420D1A028}" destId="{4B7BC865-94C6-454C-8F78-FD443973F1D6}" srcOrd="0" destOrd="0" presId="urn:microsoft.com/office/officeart/2005/8/layout/hProcess9"/>
    <dgm:cxn modelId="{73336374-4D3D-4DA6-AE84-60F5A2A358D4}" type="presOf" srcId="{EB2A8B8B-8F2A-4CAE-86E4-5AE56EAB2DFA}" destId="{3532B4C2-BC7A-4F95-AA54-969A8B356350}" srcOrd="0" destOrd="0" presId="urn:microsoft.com/office/officeart/2005/8/layout/hProcess9"/>
    <dgm:cxn modelId="{7F717C7A-4D30-47BC-A735-3A2189C24C5D}" srcId="{D6F7737F-732C-4E07-8C85-2EB99F96AE8B}" destId="{EB2A8B8B-8F2A-4CAE-86E4-5AE56EAB2DFA}" srcOrd="3" destOrd="0" parTransId="{25C3B0B3-27D9-42EE-A522-C392076B6533}" sibTransId="{3F1A6CD4-30EF-4E4B-BF7F-C78A3503D55E}"/>
    <dgm:cxn modelId="{6175658F-07C8-4431-9C94-8A3EBF50ED84}" type="presOf" srcId="{D6F7737F-732C-4E07-8C85-2EB99F96AE8B}" destId="{35690E68-DDAB-4BEE-B67C-E64A419320B2}" srcOrd="0" destOrd="0" presId="urn:microsoft.com/office/officeart/2005/8/layout/hProcess9"/>
    <dgm:cxn modelId="{005E2C9C-F4C6-4D80-ADDD-711BBA3DE04D}" srcId="{D6F7737F-732C-4E07-8C85-2EB99F96AE8B}" destId="{27EAF012-2F6B-4885-942E-532420D1A028}" srcOrd="1" destOrd="0" parTransId="{32E8A94F-B32B-4A7D-B5C6-50B4E637DD40}" sibTransId="{94D88809-D685-41C0-BC2C-EAFE1B9696C4}"/>
    <dgm:cxn modelId="{C85A27C7-1EAB-4248-996D-F1358DFF3733}" type="presOf" srcId="{520B4F7C-E8A8-450B-96B9-C9BCA23E65CE}" destId="{78509EA0-E86F-46D4-8DF7-EC867FEB605A}" srcOrd="0" destOrd="0" presId="urn:microsoft.com/office/officeart/2005/8/layout/hProcess9"/>
    <dgm:cxn modelId="{F826D7F6-2B68-4349-A085-FE73D4FA0B33}" srcId="{D6F7737F-732C-4E07-8C85-2EB99F96AE8B}" destId="{520B4F7C-E8A8-450B-96B9-C9BCA23E65CE}" srcOrd="0" destOrd="0" parTransId="{09F7910C-8E44-408F-90E0-1CE736EDF244}" sibTransId="{6F050F99-392E-40F3-8103-EB219339A0B5}"/>
    <dgm:cxn modelId="{45D1D411-9C43-4F44-9526-3A27F95405D4}" type="presParOf" srcId="{35690E68-DDAB-4BEE-B67C-E64A419320B2}" destId="{3CF54AF9-050F-43B7-B7D5-A491359A3BD0}" srcOrd="0" destOrd="0" presId="urn:microsoft.com/office/officeart/2005/8/layout/hProcess9"/>
    <dgm:cxn modelId="{4564A437-01C3-4ED9-8F86-4235D028CC0D}" type="presParOf" srcId="{35690E68-DDAB-4BEE-B67C-E64A419320B2}" destId="{DE125617-8A52-4162-93A4-597501D1EE99}" srcOrd="1" destOrd="0" presId="urn:microsoft.com/office/officeart/2005/8/layout/hProcess9"/>
    <dgm:cxn modelId="{7BC62BEF-A6DB-4327-B012-F922922B72DC}" type="presParOf" srcId="{DE125617-8A52-4162-93A4-597501D1EE99}" destId="{78509EA0-E86F-46D4-8DF7-EC867FEB605A}" srcOrd="0" destOrd="0" presId="urn:microsoft.com/office/officeart/2005/8/layout/hProcess9"/>
    <dgm:cxn modelId="{4E2642CE-EE53-4C37-8689-9E3AF5154D0F}" type="presParOf" srcId="{DE125617-8A52-4162-93A4-597501D1EE99}" destId="{A573128A-B03A-40B7-AC77-CA1C3A023C12}" srcOrd="1" destOrd="0" presId="urn:microsoft.com/office/officeart/2005/8/layout/hProcess9"/>
    <dgm:cxn modelId="{5A5E6AC6-4EB9-4400-80E2-6866317C3C19}" type="presParOf" srcId="{DE125617-8A52-4162-93A4-597501D1EE99}" destId="{4B7BC865-94C6-454C-8F78-FD443973F1D6}" srcOrd="2" destOrd="0" presId="urn:microsoft.com/office/officeart/2005/8/layout/hProcess9"/>
    <dgm:cxn modelId="{7556B394-9B3E-448D-BCA4-58F881810760}" type="presParOf" srcId="{DE125617-8A52-4162-93A4-597501D1EE99}" destId="{18D0D5B6-9318-490B-90A4-86F4A0873C9E}" srcOrd="3" destOrd="0" presId="urn:microsoft.com/office/officeart/2005/8/layout/hProcess9"/>
    <dgm:cxn modelId="{55CD5769-68B8-45A3-B658-C82C43AB15C7}" type="presParOf" srcId="{DE125617-8A52-4162-93A4-597501D1EE99}" destId="{7DB08162-9FD2-4CA8-AF7F-9F9F1E86D6F1}" srcOrd="4" destOrd="0" presId="urn:microsoft.com/office/officeart/2005/8/layout/hProcess9"/>
    <dgm:cxn modelId="{3E7D45B1-8C02-4892-988C-42DB3B827265}" type="presParOf" srcId="{DE125617-8A52-4162-93A4-597501D1EE99}" destId="{8C2245D3-E30B-4BBE-BB94-C0C64A98B3FE}" srcOrd="5" destOrd="0" presId="urn:microsoft.com/office/officeart/2005/8/layout/hProcess9"/>
    <dgm:cxn modelId="{7D568A2E-BFC7-46C0-A55D-FD401BD21D9B}" type="presParOf" srcId="{DE125617-8A52-4162-93A4-597501D1EE99}" destId="{3532B4C2-BC7A-4F95-AA54-969A8B356350}" srcOrd="6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E65FD1E-F95A-473D-99DA-AEBB26EB6058}" type="doc">
      <dgm:prSet loTypeId="urn:microsoft.com/office/officeart/2005/8/layout/target3" loCatId="relationship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s-MX"/>
        </a:p>
      </dgm:t>
    </dgm:pt>
    <dgm:pt modelId="{57746E01-9062-4638-8B1B-CAF72AF5F6F0}">
      <dgm:prSet/>
      <dgm:spPr/>
      <dgm:t>
        <a:bodyPr/>
        <a:lstStyle/>
        <a:p>
          <a:r>
            <a:rPr lang="en-US" b="1"/>
            <a:t>int: </a:t>
          </a:r>
          <a:r>
            <a:rPr lang="en-US"/>
            <a:t>números enteros.</a:t>
          </a:r>
          <a:endParaRPr lang="es-MX"/>
        </a:p>
      </dgm:t>
    </dgm:pt>
    <dgm:pt modelId="{14A2B1AB-4C55-4B2F-A3A9-46F9DEFA6D24}" type="parTrans" cxnId="{9A4AC71B-3D10-40CC-BD47-B1658CE1D6FB}">
      <dgm:prSet/>
      <dgm:spPr/>
      <dgm:t>
        <a:bodyPr/>
        <a:lstStyle/>
        <a:p>
          <a:endParaRPr lang="es-MX"/>
        </a:p>
      </dgm:t>
    </dgm:pt>
    <dgm:pt modelId="{08597CFF-6AFA-46CA-A1DB-E0B060384D54}" type="sibTrans" cxnId="{9A4AC71B-3D10-40CC-BD47-B1658CE1D6FB}">
      <dgm:prSet/>
      <dgm:spPr/>
      <dgm:t>
        <a:bodyPr/>
        <a:lstStyle/>
        <a:p>
          <a:endParaRPr lang="es-MX"/>
        </a:p>
      </dgm:t>
    </dgm:pt>
    <dgm:pt modelId="{5A239E4C-89D6-478C-A783-665E3005F962}">
      <dgm:prSet/>
      <dgm:spPr/>
      <dgm:t>
        <a:bodyPr/>
        <a:lstStyle/>
        <a:p>
          <a:r>
            <a:rPr lang="en-US" b="1"/>
            <a:t>float: </a:t>
          </a:r>
          <a:r>
            <a:rPr lang="en-US"/>
            <a:t>números decimales.</a:t>
          </a:r>
          <a:endParaRPr lang="es-MX"/>
        </a:p>
      </dgm:t>
    </dgm:pt>
    <dgm:pt modelId="{5AB623E2-8384-42B7-9D1F-CCE337F22495}" type="parTrans" cxnId="{B9648A2A-9BF1-4F79-AC8C-F0BAC5581367}">
      <dgm:prSet/>
      <dgm:spPr/>
      <dgm:t>
        <a:bodyPr/>
        <a:lstStyle/>
        <a:p>
          <a:endParaRPr lang="es-MX"/>
        </a:p>
      </dgm:t>
    </dgm:pt>
    <dgm:pt modelId="{105F7064-862C-4268-AB84-D21762E23044}" type="sibTrans" cxnId="{B9648A2A-9BF1-4F79-AC8C-F0BAC5581367}">
      <dgm:prSet/>
      <dgm:spPr/>
      <dgm:t>
        <a:bodyPr/>
        <a:lstStyle/>
        <a:p>
          <a:endParaRPr lang="es-MX"/>
        </a:p>
      </dgm:t>
    </dgm:pt>
    <dgm:pt modelId="{EA192621-F57D-4485-AA39-B16007F6F290}">
      <dgm:prSet/>
      <dgm:spPr/>
      <dgm:t>
        <a:bodyPr/>
        <a:lstStyle/>
        <a:p>
          <a:r>
            <a:rPr lang="en-US" b="1"/>
            <a:t>str: </a:t>
          </a:r>
          <a:r>
            <a:rPr lang="en-US"/>
            <a:t>texto.</a:t>
          </a:r>
          <a:endParaRPr lang="es-MX"/>
        </a:p>
      </dgm:t>
    </dgm:pt>
    <dgm:pt modelId="{1E0F9C52-33BF-4800-B90F-EB555A51066C}" type="parTrans" cxnId="{729B0A1E-8CB6-444B-B4E6-A9EE9848DFDE}">
      <dgm:prSet/>
      <dgm:spPr/>
      <dgm:t>
        <a:bodyPr/>
        <a:lstStyle/>
        <a:p>
          <a:endParaRPr lang="es-MX"/>
        </a:p>
      </dgm:t>
    </dgm:pt>
    <dgm:pt modelId="{BE5247F6-ACC1-4176-B4B2-BAD2723DC57E}" type="sibTrans" cxnId="{729B0A1E-8CB6-444B-B4E6-A9EE9848DFDE}">
      <dgm:prSet/>
      <dgm:spPr/>
      <dgm:t>
        <a:bodyPr/>
        <a:lstStyle/>
        <a:p>
          <a:endParaRPr lang="es-MX"/>
        </a:p>
      </dgm:t>
    </dgm:pt>
    <dgm:pt modelId="{1CD824FC-79AF-4160-85B7-12208B9620ED}">
      <dgm:prSet/>
      <dgm:spPr/>
      <dgm:t>
        <a:bodyPr/>
        <a:lstStyle/>
        <a:p>
          <a:r>
            <a:rPr lang="en-US" b="1"/>
            <a:t>bool: </a:t>
          </a:r>
          <a:r>
            <a:rPr lang="en-US"/>
            <a:t>verdadero o falso.</a:t>
          </a:r>
          <a:endParaRPr lang="es-MX"/>
        </a:p>
      </dgm:t>
    </dgm:pt>
    <dgm:pt modelId="{9D56B536-324E-441D-86B5-32E150397D8D}" type="parTrans" cxnId="{4333543C-ECE7-4986-9232-F92B20BD3F6D}">
      <dgm:prSet/>
      <dgm:spPr/>
      <dgm:t>
        <a:bodyPr/>
        <a:lstStyle/>
        <a:p>
          <a:endParaRPr lang="es-MX"/>
        </a:p>
      </dgm:t>
    </dgm:pt>
    <dgm:pt modelId="{777DCBFA-E413-42F5-B846-CB3AF5BA8179}" type="sibTrans" cxnId="{4333543C-ECE7-4986-9232-F92B20BD3F6D}">
      <dgm:prSet/>
      <dgm:spPr/>
      <dgm:t>
        <a:bodyPr/>
        <a:lstStyle/>
        <a:p>
          <a:endParaRPr lang="es-MX"/>
        </a:p>
      </dgm:t>
    </dgm:pt>
    <dgm:pt modelId="{50B7FF68-1519-44D7-9954-2607144D537E}">
      <dgm:prSet/>
      <dgm:spPr/>
      <dgm:t>
        <a:bodyPr/>
        <a:lstStyle/>
        <a:p>
          <a:r>
            <a:rPr lang="en-US" b="1"/>
            <a:t>None: </a:t>
          </a:r>
          <a:r>
            <a:rPr lang="en-US"/>
            <a:t>ausencia de valor.</a:t>
          </a:r>
          <a:endParaRPr lang="es-MX"/>
        </a:p>
      </dgm:t>
    </dgm:pt>
    <dgm:pt modelId="{D0CA3914-909E-4845-82F5-ED75C04DA59E}" type="parTrans" cxnId="{DF8F259A-833C-4041-A283-3D365CF2C7EB}">
      <dgm:prSet/>
      <dgm:spPr/>
      <dgm:t>
        <a:bodyPr/>
        <a:lstStyle/>
        <a:p>
          <a:endParaRPr lang="es-MX"/>
        </a:p>
      </dgm:t>
    </dgm:pt>
    <dgm:pt modelId="{0DE9E0AC-F659-4A64-98ED-109333C4FDFC}" type="sibTrans" cxnId="{DF8F259A-833C-4041-A283-3D365CF2C7EB}">
      <dgm:prSet/>
      <dgm:spPr/>
      <dgm:t>
        <a:bodyPr/>
        <a:lstStyle/>
        <a:p>
          <a:endParaRPr lang="es-MX"/>
        </a:p>
      </dgm:t>
    </dgm:pt>
    <dgm:pt modelId="{01CD5EB9-98E4-48E7-8B0D-681318A25ACA}" type="pres">
      <dgm:prSet presAssocID="{AE65FD1E-F95A-473D-99DA-AEBB26EB6058}" presName="Name0" presStyleCnt="0">
        <dgm:presLayoutVars>
          <dgm:chMax val="7"/>
          <dgm:dir/>
          <dgm:animLvl val="lvl"/>
          <dgm:resizeHandles val="exact"/>
        </dgm:presLayoutVars>
      </dgm:prSet>
      <dgm:spPr/>
    </dgm:pt>
    <dgm:pt modelId="{89676F2A-34AE-434D-8667-615D0DD8879F}" type="pres">
      <dgm:prSet presAssocID="{57746E01-9062-4638-8B1B-CAF72AF5F6F0}" presName="circle1" presStyleLbl="node1" presStyleIdx="0" presStyleCnt="5"/>
      <dgm:spPr/>
    </dgm:pt>
    <dgm:pt modelId="{1EA803EC-1D27-4FF6-83F6-3993096FF90E}" type="pres">
      <dgm:prSet presAssocID="{57746E01-9062-4638-8B1B-CAF72AF5F6F0}" presName="space" presStyleCnt="0"/>
      <dgm:spPr/>
    </dgm:pt>
    <dgm:pt modelId="{1E9DFE7A-5E56-4C47-A2B5-DEB3B2E1B3B2}" type="pres">
      <dgm:prSet presAssocID="{57746E01-9062-4638-8B1B-CAF72AF5F6F0}" presName="rect1" presStyleLbl="alignAcc1" presStyleIdx="0" presStyleCnt="5"/>
      <dgm:spPr/>
    </dgm:pt>
    <dgm:pt modelId="{3880E686-C3B4-4119-B111-B8DDE3F2C5C8}" type="pres">
      <dgm:prSet presAssocID="{5A239E4C-89D6-478C-A783-665E3005F962}" presName="vertSpace2" presStyleLbl="node1" presStyleIdx="0" presStyleCnt="5"/>
      <dgm:spPr/>
    </dgm:pt>
    <dgm:pt modelId="{9E838FFF-9933-4C47-8389-A3D07E6064C5}" type="pres">
      <dgm:prSet presAssocID="{5A239E4C-89D6-478C-A783-665E3005F962}" presName="circle2" presStyleLbl="node1" presStyleIdx="1" presStyleCnt="5"/>
      <dgm:spPr/>
    </dgm:pt>
    <dgm:pt modelId="{B58EB2A7-29BD-4C8E-8DEC-368540EC9606}" type="pres">
      <dgm:prSet presAssocID="{5A239E4C-89D6-478C-A783-665E3005F962}" presName="rect2" presStyleLbl="alignAcc1" presStyleIdx="1" presStyleCnt="5"/>
      <dgm:spPr/>
    </dgm:pt>
    <dgm:pt modelId="{6D3E00CB-9A00-4C9D-BC20-3EDAD0E76B92}" type="pres">
      <dgm:prSet presAssocID="{EA192621-F57D-4485-AA39-B16007F6F290}" presName="vertSpace3" presStyleLbl="node1" presStyleIdx="1" presStyleCnt="5"/>
      <dgm:spPr/>
    </dgm:pt>
    <dgm:pt modelId="{DA9A5C0C-3896-4D09-BA01-6BEE7BF88301}" type="pres">
      <dgm:prSet presAssocID="{EA192621-F57D-4485-AA39-B16007F6F290}" presName="circle3" presStyleLbl="node1" presStyleIdx="2" presStyleCnt="5"/>
      <dgm:spPr/>
    </dgm:pt>
    <dgm:pt modelId="{77ACDA3D-1B37-47A0-9A51-9387149AEE34}" type="pres">
      <dgm:prSet presAssocID="{EA192621-F57D-4485-AA39-B16007F6F290}" presName="rect3" presStyleLbl="alignAcc1" presStyleIdx="2" presStyleCnt="5"/>
      <dgm:spPr/>
    </dgm:pt>
    <dgm:pt modelId="{E9208B95-F6B1-4E28-8DCE-BFF66C8BA75A}" type="pres">
      <dgm:prSet presAssocID="{1CD824FC-79AF-4160-85B7-12208B9620ED}" presName="vertSpace4" presStyleLbl="node1" presStyleIdx="2" presStyleCnt="5"/>
      <dgm:spPr/>
    </dgm:pt>
    <dgm:pt modelId="{35D30C69-2A4A-4585-87CF-83F53C8377C5}" type="pres">
      <dgm:prSet presAssocID="{1CD824FC-79AF-4160-85B7-12208B9620ED}" presName="circle4" presStyleLbl="node1" presStyleIdx="3" presStyleCnt="5"/>
      <dgm:spPr/>
    </dgm:pt>
    <dgm:pt modelId="{3F2673D5-B1E0-4C19-881E-96C2866DB9A9}" type="pres">
      <dgm:prSet presAssocID="{1CD824FC-79AF-4160-85B7-12208B9620ED}" presName="rect4" presStyleLbl="alignAcc1" presStyleIdx="3" presStyleCnt="5"/>
      <dgm:spPr/>
    </dgm:pt>
    <dgm:pt modelId="{8885B06E-2651-4E65-A957-B6C25394511F}" type="pres">
      <dgm:prSet presAssocID="{50B7FF68-1519-44D7-9954-2607144D537E}" presName="vertSpace5" presStyleLbl="node1" presStyleIdx="3" presStyleCnt="5"/>
      <dgm:spPr/>
    </dgm:pt>
    <dgm:pt modelId="{E2D12461-A1AF-44F6-A179-FB4DBC93190B}" type="pres">
      <dgm:prSet presAssocID="{50B7FF68-1519-44D7-9954-2607144D537E}" presName="circle5" presStyleLbl="node1" presStyleIdx="4" presStyleCnt="5"/>
      <dgm:spPr/>
    </dgm:pt>
    <dgm:pt modelId="{3717F5EE-1148-4D8F-8945-3DBAE1E12247}" type="pres">
      <dgm:prSet presAssocID="{50B7FF68-1519-44D7-9954-2607144D537E}" presName="rect5" presStyleLbl="alignAcc1" presStyleIdx="4" presStyleCnt="5"/>
      <dgm:spPr/>
    </dgm:pt>
    <dgm:pt modelId="{4799DD1A-ACCD-472F-970C-C8A1480C0763}" type="pres">
      <dgm:prSet presAssocID="{57746E01-9062-4638-8B1B-CAF72AF5F6F0}" presName="rect1ParTxNoCh" presStyleLbl="alignAcc1" presStyleIdx="4" presStyleCnt="5">
        <dgm:presLayoutVars>
          <dgm:chMax val="1"/>
          <dgm:bulletEnabled val="1"/>
        </dgm:presLayoutVars>
      </dgm:prSet>
      <dgm:spPr/>
    </dgm:pt>
    <dgm:pt modelId="{A41251AA-C5C1-4FF4-B094-1E029E2993FC}" type="pres">
      <dgm:prSet presAssocID="{5A239E4C-89D6-478C-A783-665E3005F962}" presName="rect2ParTxNoCh" presStyleLbl="alignAcc1" presStyleIdx="4" presStyleCnt="5">
        <dgm:presLayoutVars>
          <dgm:chMax val="1"/>
          <dgm:bulletEnabled val="1"/>
        </dgm:presLayoutVars>
      </dgm:prSet>
      <dgm:spPr/>
    </dgm:pt>
    <dgm:pt modelId="{B9D73B4D-C560-4F8C-A89B-54F8165A3574}" type="pres">
      <dgm:prSet presAssocID="{EA192621-F57D-4485-AA39-B16007F6F290}" presName="rect3ParTxNoCh" presStyleLbl="alignAcc1" presStyleIdx="4" presStyleCnt="5">
        <dgm:presLayoutVars>
          <dgm:chMax val="1"/>
          <dgm:bulletEnabled val="1"/>
        </dgm:presLayoutVars>
      </dgm:prSet>
      <dgm:spPr/>
    </dgm:pt>
    <dgm:pt modelId="{673C65C3-93B5-468C-B1BD-9F4C652FC840}" type="pres">
      <dgm:prSet presAssocID="{1CD824FC-79AF-4160-85B7-12208B9620ED}" presName="rect4ParTxNoCh" presStyleLbl="alignAcc1" presStyleIdx="4" presStyleCnt="5">
        <dgm:presLayoutVars>
          <dgm:chMax val="1"/>
          <dgm:bulletEnabled val="1"/>
        </dgm:presLayoutVars>
      </dgm:prSet>
      <dgm:spPr/>
    </dgm:pt>
    <dgm:pt modelId="{484FF78C-16D2-44DA-879F-77F86B1233E0}" type="pres">
      <dgm:prSet presAssocID="{50B7FF68-1519-44D7-9954-2607144D537E}" presName="rect5ParTxNoCh" presStyleLbl="alignAcc1" presStyleIdx="4" presStyleCnt="5">
        <dgm:presLayoutVars>
          <dgm:chMax val="1"/>
          <dgm:bulletEnabled val="1"/>
        </dgm:presLayoutVars>
      </dgm:prSet>
      <dgm:spPr/>
    </dgm:pt>
  </dgm:ptLst>
  <dgm:cxnLst>
    <dgm:cxn modelId="{2F94C50C-86D8-4C54-9F6D-C65C107A9796}" type="presOf" srcId="{EA192621-F57D-4485-AA39-B16007F6F290}" destId="{77ACDA3D-1B37-47A0-9A51-9387149AEE34}" srcOrd="0" destOrd="0" presId="urn:microsoft.com/office/officeart/2005/8/layout/target3"/>
    <dgm:cxn modelId="{9A4AC71B-3D10-40CC-BD47-B1658CE1D6FB}" srcId="{AE65FD1E-F95A-473D-99DA-AEBB26EB6058}" destId="{57746E01-9062-4638-8B1B-CAF72AF5F6F0}" srcOrd="0" destOrd="0" parTransId="{14A2B1AB-4C55-4B2F-A3A9-46F9DEFA6D24}" sibTransId="{08597CFF-6AFA-46CA-A1DB-E0B060384D54}"/>
    <dgm:cxn modelId="{729B0A1E-8CB6-444B-B4E6-A9EE9848DFDE}" srcId="{AE65FD1E-F95A-473D-99DA-AEBB26EB6058}" destId="{EA192621-F57D-4485-AA39-B16007F6F290}" srcOrd="2" destOrd="0" parTransId="{1E0F9C52-33BF-4800-B90F-EB555A51066C}" sibTransId="{BE5247F6-ACC1-4176-B4B2-BAD2723DC57E}"/>
    <dgm:cxn modelId="{20530B1F-ACDC-418B-9460-DAE55046DF99}" type="presOf" srcId="{AE65FD1E-F95A-473D-99DA-AEBB26EB6058}" destId="{01CD5EB9-98E4-48E7-8B0D-681318A25ACA}" srcOrd="0" destOrd="0" presId="urn:microsoft.com/office/officeart/2005/8/layout/target3"/>
    <dgm:cxn modelId="{B9648A2A-9BF1-4F79-AC8C-F0BAC5581367}" srcId="{AE65FD1E-F95A-473D-99DA-AEBB26EB6058}" destId="{5A239E4C-89D6-478C-A783-665E3005F962}" srcOrd="1" destOrd="0" parTransId="{5AB623E2-8384-42B7-9D1F-CCE337F22495}" sibTransId="{105F7064-862C-4268-AB84-D21762E23044}"/>
    <dgm:cxn modelId="{4333543C-ECE7-4986-9232-F92B20BD3F6D}" srcId="{AE65FD1E-F95A-473D-99DA-AEBB26EB6058}" destId="{1CD824FC-79AF-4160-85B7-12208B9620ED}" srcOrd="3" destOrd="0" parTransId="{9D56B536-324E-441D-86B5-32E150397D8D}" sibTransId="{777DCBFA-E413-42F5-B846-CB3AF5BA8179}"/>
    <dgm:cxn modelId="{95F55F57-7F04-49C2-BBCF-FAFB28B53BFC}" type="presOf" srcId="{5A239E4C-89D6-478C-A783-665E3005F962}" destId="{A41251AA-C5C1-4FF4-B094-1E029E2993FC}" srcOrd="1" destOrd="0" presId="urn:microsoft.com/office/officeart/2005/8/layout/target3"/>
    <dgm:cxn modelId="{7DC29F7E-F346-413B-B3FC-6D150E5C242C}" type="presOf" srcId="{EA192621-F57D-4485-AA39-B16007F6F290}" destId="{B9D73B4D-C560-4F8C-A89B-54F8165A3574}" srcOrd="1" destOrd="0" presId="urn:microsoft.com/office/officeart/2005/8/layout/target3"/>
    <dgm:cxn modelId="{DF8F259A-833C-4041-A283-3D365CF2C7EB}" srcId="{AE65FD1E-F95A-473D-99DA-AEBB26EB6058}" destId="{50B7FF68-1519-44D7-9954-2607144D537E}" srcOrd="4" destOrd="0" parTransId="{D0CA3914-909E-4845-82F5-ED75C04DA59E}" sibTransId="{0DE9E0AC-F659-4A64-98ED-109333C4FDFC}"/>
    <dgm:cxn modelId="{C2D28CB5-B93F-4FB7-B8F7-6DD64EE2BFE9}" type="presOf" srcId="{1CD824FC-79AF-4160-85B7-12208B9620ED}" destId="{3F2673D5-B1E0-4C19-881E-96C2866DB9A9}" srcOrd="0" destOrd="0" presId="urn:microsoft.com/office/officeart/2005/8/layout/target3"/>
    <dgm:cxn modelId="{A9E5F6B7-2D3A-46C8-A4CC-6498F70F1E7B}" type="presOf" srcId="{50B7FF68-1519-44D7-9954-2607144D537E}" destId="{3717F5EE-1148-4D8F-8945-3DBAE1E12247}" srcOrd="0" destOrd="0" presId="urn:microsoft.com/office/officeart/2005/8/layout/target3"/>
    <dgm:cxn modelId="{9AE4D7BE-1071-43DE-BD70-9FB853404191}" type="presOf" srcId="{50B7FF68-1519-44D7-9954-2607144D537E}" destId="{484FF78C-16D2-44DA-879F-77F86B1233E0}" srcOrd="1" destOrd="0" presId="urn:microsoft.com/office/officeart/2005/8/layout/target3"/>
    <dgm:cxn modelId="{5CFF9BC7-BD3A-41AB-A423-CE0BFB242052}" type="presOf" srcId="{5A239E4C-89D6-478C-A783-665E3005F962}" destId="{B58EB2A7-29BD-4C8E-8DEC-368540EC9606}" srcOrd="0" destOrd="0" presId="urn:microsoft.com/office/officeart/2005/8/layout/target3"/>
    <dgm:cxn modelId="{6B9903D6-492B-4F67-B394-4F0F422694F6}" type="presOf" srcId="{57746E01-9062-4638-8B1B-CAF72AF5F6F0}" destId="{1E9DFE7A-5E56-4C47-A2B5-DEB3B2E1B3B2}" srcOrd="0" destOrd="0" presId="urn:microsoft.com/office/officeart/2005/8/layout/target3"/>
    <dgm:cxn modelId="{D56B46EB-13E4-4F4D-ABBA-50D3DE9F13C3}" type="presOf" srcId="{1CD824FC-79AF-4160-85B7-12208B9620ED}" destId="{673C65C3-93B5-468C-B1BD-9F4C652FC840}" srcOrd="1" destOrd="0" presId="urn:microsoft.com/office/officeart/2005/8/layout/target3"/>
    <dgm:cxn modelId="{607447EE-0294-47B3-AE84-260CBD709477}" type="presOf" srcId="{57746E01-9062-4638-8B1B-CAF72AF5F6F0}" destId="{4799DD1A-ACCD-472F-970C-C8A1480C0763}" srcOrd="1" destOrd="0" presId="urn:microsoft.com/office/officeart/2005/8/layout/target3"/>
    <dgm:cxn modelId="{B8523C3B-5D6B-4991-A9A0-EC95930B0699}" type="presParOf" srcId="{01CD5EB9-98E4-48E7-8B0D-681318A25ACA}" destId="{89676F2A-34AE-434D-8667-615D0DD8879F}" srcOrd="0" destOrd="0" presId="urn:microsoft.com/office/officeart/2005/8/layout/target3"/>
    <dgm:cxn modelId="{77F38644-45B7-42EC-96DE-6FBCCEFBEB87}" type="presParOf" srcId="{01CD5EB9-98E4-48E7-8B0D-681318A25ACA}" destId="{1EA803EC-1D27-4FF6-83F6-3993096FF90E}" srcOrd="1" destOrd="0" presId="urn:microsoft.com/office/officeart/2005/8/layout/target3"/>
    <dgm:cxn modelId="{16EE5C35-CD48-4164-9885-00923C2B45E0}" type="presParOf" srcId="{01CD5EB9-98E4-48E7-8B0D-681318A25ACA}" destId="{1E9DFE7A-5E56-4C47-A2B5-DEB3B2E1B3B2}" srcOrd="2" destOrd="0" presId="urn:microsoft.com/office/officeart/2005/8/layout/target3"/>
    <dgm:cxn modelId="{762DD917-4233-4C90-B77C-0AC32695BAE4}" type="presParOf" srcId="{01CD5EB9-98E4-48E7-8B0D-681318A25ACA}" destId="{3880E686-C3B4-4119-B111-B8DDE3F2C5C8}" srcOrd="3" destOrd="0" presId="urn:microsoft.com/office/officeart/2005/8/layout/target3"/>
    <dgm:cxn modelId="{36A124D1-346A-4B3D-B364-FDFBF4A5E1E1}" type="presParOf" srcId="{01CD5EB9-98E4-48E7-8B0D-681318A25ACA}" destId="{9E838FFF-9933-4C47-8389-A3D07E6064C5}" srcOrd="4" destOrd="0" presId="urn:microsoft.com/office/officeart/2005/8/layout/target3"/>
    <dgm:cxn modelId="{8493BF46-C82B-4278-8C7C-C8F76B011BB8}" type="presParOf" srcId="{01CD5EB9-98E4-48E7-8B0D-681318A25ACA}" destId="{B58EB2A7-29BD-4C8E-8DEC-368540EC9606}" srcOrd="5" destOrd="0" presId="urn:microsoft.com/office/officeart/2005/8/layout/target3"/>
    <dgm:cxn modelId="{51286C0D-7870-4C99-9140-7E2A1C0EF365}" type="presParOf" srcId="{01CD5EB9-98E4-48E7-8B0D-681318A25ACA}" destId="{6D3E00CB-9A00-4C9D-BC20-3EDAD0E76B92}" srcOrd="6" destOrd="0" presId="urn:microsoft.com/office/officeart/2005/8/layout/target3"/>
    <dgm:cxn modelId="{338FD2B1-C2E0-4BB4-B4CF-CFF616FC3AB3}" type="presParOf" srcId="{01CD5EB9-98E4-48E7-8B0D-681318A25ACA}" destId="{DA9A5C0C-3896-4D09-BA01-6BEE7BF88301}" srcOrd="7" destOrd="0" presId="urn:microsoft.com/office/officeart/2005/8/layout/target3"/>
    <dgm:cxn modelId="{471F4281-1AEE-4962-9F7A-316F4EC68083}" type="presParOf" srcId="{01CD5EB9-98E4-48E7-8B0D-681318A25ACA}" destId="{77ACDA3D-1B37-47A0-9A51-9387149AEE34}" srcOrd="8" destOrd="0" presId="urn:microsoft.com/office/officeart/2005/8/layout/target3"/>
    <dgm:cxn modelId="{1B7E97FC-B833-4785-8B98-37A6260A16FC}" type="presParOf" srcId="{01CD5EB9-98E4-48E7-8B0D-681318A25ACA}" destId="{E9208B95-F6B1-4E28-8DCE-BFF66C8BA75A}" srcOrd="9" destOrd="0" presId="urn:microsoft.com/office/officeart/2005/8/layout/target3"/>
    <dgm:cxn modelId="{66B9A308-4CC2-4C95-AC96-1530B70CCEFF}" type="presParOf" srcId="{01CD5EB9-98E4-48E7-8B0D-681318A25ACA}" destId="{35D30C69-2A4A-4585-87CF-83F53C8377C5}" srcOrd="10" destOrd="0" presId="urn:microsoft.com/office/officeart/2005/8/layout/target3"/>
    <dgm:cxn modelId="{4F56A5B6-F77B-494E-95D9-856CD39D95E5}" type="presParOf" srcId="{01CD5EB9-98E4-48E7-8B0D-681318A25ACA}" destId="{3F2673D5-B1E0-4C19-881E-96C2866DB9A9}" srcOrd="11" destOrd="0" presId="urn:microsoft.com/office/officeart/2005/8/layout/target3"/>
    <dgm:cxn modelId="{D0893784-740D-4B9E-8516-5BA57AB6529F}" type="presParOf" srcId="{01CD5EB9-98E4-48E7-8B0D-681318A25ACA}" destId="{8885B06E-2651-4E65-A957-B6C25394511F}" srcOrd="12" destOrd="0" presId="urn:microsoft.com/office/officeart/2005/8/layout/target3"/>
    <dgm:cxn modelId="{7D3D3555-647F-44B2-9F92-82235691FC09}" type="presParOf" srcId="{01CD5EB9-98E4-48E7-8B0D-681318A25ACA}" destId="{E2D12461-A1AF-44F6-A179-FB4DBC93190B}" srcOrd="13" destOrd="0" presId="urn:microsoft.com/office/officeart/2005/8/layout/target3"/>
    <dgm:cxn modelId="{AE7DB283-349E-4644-9499-E74D213787A7}" type="presParOf" srcId="{01CD5EB9-98E4-48E7-8B0D-681318A25ACA}" destId="{3717F5EE-1148-4D8F-8945-3DBAE1E12247}" srcOrd="14" destOrd="0" presId="urn:microsoft.com/office/officeart/2005/8/layout/target3"/>
    <dgm:cxn modelId="{610F387B-F731-4FFB-BEE6-32B0FDB7D355}" type="presParOf" srcId="{01CD5EB9-98E4-48E7-8B0D-681318A25ACA}" destId="{4799DD1A-ACCD-472F-970C-C8A1480C0763}" srcOrd="15" destOrd="0" presId="urn:microsoft.com/office/officeart/2005/8/layout/target3"/>
    <dgm:cxn modelId="{B364DB27-E348-4557-B0B6-513509C5EEE2}" type="presParOf" srcId="{01CD5EB9-98E4-48E7-8B0D-681318A25ACA}" destId="{A41251AA-C5C1-4FF4-B094-1E029E2993FC}" srcOrd="16" destOrd="0" presId="urn:microsoft.com/office/officeart/2005/8/layout/target3"/>
    <dgm:cxn modelId="{07801573-B966-418D-BC78-8DD8808C6976}" type="presParOf" srcId="{01CD5EB9-98E4-48E7-8B0D-681318A25ACA}" destId="{B9D73B4D-C560-4F8C-A89B-54F8165A3574}" srcOrd="17" destOrd="0" presId="urn:microsoft.com/office/officeart/2005/8/layout/target3"/>
    <dgm:cxn modelId="{696F4C03-C533-4E92-87D4-A1E9B9C2788F}" type="presParOf" srcId="{01CD5EB9-98E4-48E7-8B0D-681318A25ACA}" destId="{673C65C3-93B5-468C-B1BD-9F4C652FC840}" srcOrd="18" destOrd="0" presId="urn:microsoft.com/office/officeart/2005/8/layout/target3"/>
    <dgm:cxn modelId="{0CF7C0CB-E49A-422C-8E39-6EACCC8A012B}" type="presParOf" srcId="{01CD5EB9-98E4-48E7-8B0D-681318A25ACA}" destId="{484FF78C-16D2-44DA-879F-77F86B1233E0}" srcOrd="19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2D8489C-13E5-4900-89EC-874D806577BC}" type="doc">
      <dgm:prSet loTypeId="urn:microsoft.com/office/officeart/2005/8/layout/vList2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s-MX"/>
        </a:p>
      </dgm:t>
    </dgm:pt>
    <dgm:pt modelId="{2896DCDF-86BB-4710-8B55-F8E56F58F6DE}">
      <dgm:prSet/>
      <dgm:spPr/>
      <dgm:t>
        <a:bodyPr/>
        <a:lstStyle/>
        <a:p>
          <a:r>
            <a:rPr lang="en-US" b="1"/>
            <a:t>Aritméticos: </a:t>
          </a:r>
          <a:r>
            <a:rPr lang="en-US"/>
            <a:t>+, -, *, /, //, %, **</a:t>
          </a:r>
          <a:endParaRPr lang="es-MX"/>
        </a:p>
      </dgm:t>
    </dgm:pt>
    <dgm:pt modelId="{F256B725-A076-48EE-A99F-A68DE3296962}" type="parTrans" cxnId="{888CEABB-17F6-4729-A6C5-3B7D2DF9C052}">
      <dgm:prSet/>
      <dgm:spPr/>
      <dgm:t>
        <a:bodyPr/>
        <a:lstStyle/>
        <a:p>
          <a:endParaRPr lang="es-MX"/>
        </a:p>
      </dgm:t>
    </dgm:pt>
    <dgm:pt modelId="{16D47FDC-2118-41BE-BE47-8212372451C6}" type="sibTrans" cxnId="{888CEABB-17F6-4729-A6C5-3B7D2DF9C052}">
      <dgm:prSet/>
      <dgm:spPr/>
      <dgm:t>
        <a:bodyPr/>
        <a:lstStyle/>
        <a:p>
          <a:endParaRPr lang="es-MX"/>
        </a:p>
      </dgm:t>
    </dgm:pt>
    <dgm:pt modelId="{0AC176BE-6A2A-4DB5-BBF2-F53730D82C73}">
      <dgm:prSet/>
      <dgm:spPr/>
      <dgm:t>
        <a:bodyPr/>
        <a:lstStyle/>
        <a:p>
          <a:r>
            <a:rPr lang="en-US" b="1"/>
            <a:t>Comparación: </a:t>
          </a:r>
          <a:r>
            <a:rPr lang="en-US"/>
            <a:t>==, !=, &gt;, &lt;, &gt;=, &lt;=</a:t>
          </a:r>
          <a:endParaRPr lang="es-MX"/>
        </a:p>
      </dgm:t>
    </dgm:pt>
    <dgm:pt modelId="{5C5860F4-CDA4-4BF7-85FD-1DBCAFB839A7}" type="parTrans" cxnId="{F7259DBD-5AA0-4CBB-B587-A733DD5045B6}">
      <dgm:prSet/>
      <dgm:spPr/>
      <dgm:t>
        <a:bodyPr/>
        <a:lstStyle/>
        <a:p>
          <a:endParaRPr lang="es-MX"/>
        </a:p>
      </dgm:t>
    </dgm:pt>
    <dgm:pt modelId="{597302FE-EE18-4F3E-975B-91E84BE6C3EC}" type="sibTrans" cxnId="{F7259DBD-5AA0-4CBB-B587-A733DD5045B6}">
      <dgm:prSet/>
      <dgm:spPr/>
      <dgm:t>
        <a:bodyPr/>
        <a:lstStyle/>
        <a:p>
          <a:endParaRPr lang="es-MX"/>
        </a:p>
      </dgm:t>
    </dgm:pt>
    <dgm:pt modelId="{74164DCC-AE3C-40E2-BE99-3E6434CD0F2D}">
      <dgm:prSet/>
      <dgm:spPr/>
      <dgm:t>
        <a:bodyPr/>
        <a:lstStyle/>
        <a:p>
          <a:r>
            <a:rPr lang="en-US" b="1"/>
            <a:t>Lógicos: </a:t>
          </a:r>
          <a:r>
            <a:rPr lang="en-US"/>
            <a:t>and, or, not</a:t>
          </a:r>
          <a:endParaRPr lang="es-MX"/>
        </a:p>
      </dgm:t>
    </dgm:pt>
    <dgm:pt modelId="{FBCFAFDB-B331-4FBE-B645-5232A3495BB5}" type="parTrans" cxnId="{60A6292D-571F-465B-BB4F-2C059E5C70F6}">
      <dgm:prSet/>
      <dgm:spPr/>
      <dgm:t>
        <a:bodyPr/>
        <a:lstStyle/>
        <a:p>
          <a:endParaRPr lang="es-MX"/>
        </a:p>
      </dgm:t>
    </dgm:pt>
    <dgm:pt modelId="{EF36D1CB-D77F-49B1-82D8-1417E82CE745}" type="sibTrans" cxnId="{60A6292D-571F-465B-BB4F-2C059E5C70F6}">
      <dgm:prSet/>
      <dgm:spPr/>
      <dgm:t>
        <a:bodyPr/>
        <a:lstStyle/>
        <a:p>
          <a:endParaRPr lang="es-MX"/>
        </a:p>
      </dgm:t>
    </dgm:pt>
    <dgm:pt modelId="{B42C1C91-CBFA-4218-B06F-41D5646814E2}">
      <dgm:prSet/>
      <dgm:spPr/>
      <dgm:t>
        <a:bodyPr/>
        <a:lstStyle/>
        <a:p>
          <a:r>
            <a:rPr lang="en-US" b="1"/>
            <a:t>Asignación: </a:t>
          </a:r>
          <a:r>
            <a:rPr lang="en-US"/>
            <a:t>=, +=, -=</a:t>
          </a:r>
          <a:endParaRPr lang="es-MX"/>
        </a:p>
      </dgm:t>
    </dgm:pt>
    <dgm:pt modelId="{464C93CB-0D2C-4413-B9B4-AFAEA11789E5}" type="parTrans" cxnId="{41F58847-0C97-4E1F-BA9D-CEDD164C8B91}">
      <dgm:prSet/>
      <dgm:spPr/>
      <dgm:t>
        <a:bodyPr/>
        <a:lstStyle/>
        <a:p>
          <a:endParaRPr lang="es-MX"/>
        </a:p>
      </dgm:t>
    </dgm:pt>
    <dgm:pt modelId="{02D1A5D6-77B1-41AA-86E0-770C74C35C91}" type="sibTrans" cxnId="{41F58847-0C97-4E1F-BA9D-CEDD164C8B91}">
      <dgm:prSet/>
      <dgm:spPr/>
      <dgm:t>
        <a:bodyPr/>
        <a:lstStyle/>
        <a:p>
          <a:endParaRPr lang="es-MX"/>
        </a:p>
      </dgm:t>
    </dgm:pt>
    <dgm:pt modelId="{F7F7D371-60F9-4EA3-9097-3A3D08AEE685}">
      <dgm:prSet/>
      <dgm:spPr/>
      <dgm:t>
        <a:bodyPr/>
        <a:lstStyle/>
        <a:p>
          <a:r>
            <a:rPr lang="en-US" dirty="0" err="1"/>
            <a:t>Pertenencia</a:t>
          </a:r>
          <a:r>
            <a:rPr lang="en-US" dirty="0"/>
            <a:t>: in, not in</a:t>
          </a:r>
          <a:endParaRPr lang="es-MX" dirty="0"/>
        </a:p>
      </dgm:t>
    </dgm:pt>
    <dgm:pt modelId="{C683AB52-F9F5-4ED0-B322-3A613BD61148}" type="parTrans" cxnId="{7304E11C-DCFC-400C-8444-00C7F731B43A}">
      <dgm:prSet/>
      <dgm:spPr/>
      <dgm:t>
        <a:bodyPr/>
        <a:lstStyle/>
        <a:p>
          <a:endParaRPr lang="es-MX"/>
        </a:p>
      </dgm:t>
    </dgm:pt>
    <dgm:pt modelId="{25DF6892-9DB2-4141-BAAE-83D5FCF8D197}" type="sibTrans" cxnId="{7304E11C-DCFC-400C-8444-00C7F731B43A}">
      <dgm:prSet/>
      <dgm:spPr/>
      <dgm:t>
        <a:bodyPr/>
        <a:lstStyle/>
        <a:p>
          <a:endParaRPr lang="es-MX"/>
        </a:p>
      </dgm:t>
    </dgm:pt>
    <dgm:pt modelId="{54637D15-5050-4E66-AA59-CB43A4CF39EB}" type="pres">
      <dgm:prSet presAssocID="{92D8489C-13E5-4900-89EC-874D806577BC}" presName="linear" presStyleCnt="0">
        <dgm:presLayoutVars>
          <dgm:animLvl val="lvl"/>
          <dgm:resizeHandles val="exact"/>
        </dgm:presLayoutVars>
      </dgm:prSet>
      <dgm:spPr/>
    </dgm:pt>
    <dgm:pt modelId="{815020FB-B632-4A1B-8649-12DB2A2AF922}" type="pres">
      <dgm:prSet presAssocID="{2896DCDF-86BB-4710-8B55-F8E56F58F6DE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BA3120D2-B844-4DC4-B872-4DD21B6D1920}" type="pres">
      <dgm:prSet presAssocID="{16D47FDC-2118-41BE-BE47-8212372451C6}" presName="spacer" presStyleCnt="0"/>
      <dgm:spPr/>
    </dgm:pt>
    <dgm:pt modelId="{73A26DF5-B1D3-4447-B222-65F294E756A3}" type="pres">
      <dgm:prSet presAssocID="{0AC176BE-6A2A-4DB5-BBF2-F53730D82C73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B56A7978-BF22-4008-B5CA-A300A1CACFE1}" type="pres">
      <dgm:prSet presAssocID="{597302FE-EE18-4F3E-975B-91E84BE6C3EC}" presName="spacer" presStyleCnt="0"/>
      <dgm:spPr/>
    </dgm:pt>
    <dgm:pt modelId="{A96E6117-0703-4820-BBB4-BD500128286E}" type="pres">
      <dgm:prSet presAssocID="{74164DCC-AE3C-40E2-BE99-3E6434CD0F2D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494A0EA7-3327-493E-BDF1-C06B3A76FEFB}" type="pres">
      <dgm:prSet presAssocID="{EF36D1CB-D77F-49B1-82D8-1417E82CE745}" presName="spacer" presStyleCnt="0"/>
      <dgm:spPr/>
    </dgm:pt>
    <dgm:pt modelId="{37CC9184-80F6-453D-A365-9081FA089A17}" type="pres">
      <dgm:prSet presAssocID="{B42C1C91-CBFA-4218-B06F-41D5646814E2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44125C85-4BA7-498A-BECD-9ADA93CD28A5}" type="pres">
      <dgm:prSet presAssocID="{02D1A5D6-77B1-41AA-86E0-770C74C35C91}" presName="spacer" presStyleCnt="0"/>
      <dgm:spPr/>
    </dgm:pt>
    <dgm:pt modelId="{ABCF4069-976D-411F-9CC5-87C4D01928AF}" type="pres">
      <dgm:prSet presAssocID="{F7F7D371-60F9-4EA3-9097-3A3D08AEE685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7304E11C-DCFC-400C-8444-00C7F731B43A}" srcId="{92D8489C-13E5-4900-89EC-874D806577BC}" destId="{F7F7D371-60F9-4EA3-9097-3A3D08AEE685}" srcOrd="4" destOrd="0" parTransId="{C683AB52-F9F5-4ED0-B322-3A613BD61148}" sibTransId="{25DF6892-9DB2-4141-BAAE-83D5FCF8D197}"/>
    <dgm:cxn modelId="{61D66C24-A033-4982-AB45-2A430994E6A0}" type="presOf" srcId="{92D8489C-13E5-4900-89EC-874D806577BC}" destId="{54637D15-5050-4E66-AA59-CB43A4CF39EB}" srcOrd="0" destOrd="0" presId="urn:microsoft.com/office/officeart/2005/8/layout/vList2"/>
    <dgm:cxn modelId="{60A6292D-571F-465B-BB4F-2C059E5C70F6}" srcId="{92D8489C-13E5-4900-89EC-874D806577BC}" destId="{74164DCC-AE3C-40E2-BE99-3E6434CD0F2D}" srcOrd="2" destOrd="0" parTransId="{FBCFAFDB-B331-4FBE-B645-5232A3495BB5}" sibTransId="{EF36D1CB-D77F-49B1-82D8-1417E82CE745}"/>
    <dgm:cxn modelId="{41F58847-0C97-4E1F-BA9D-CEDD164C8B91}" srcId="{92D8489C-13E5-4900-89EC-874D806577BC}" destId="{B42C1C91-CBFA-4218-B06F-41D5646814E2}" srcOrd="3" destOrd="0" parTransId="{464C93CB-0D2C-4413-B9B4-AFAEA11789E5}" sibTransId="{02D1A5D6-77B1-41AA-86E0-770C74C35C91}"/>
    <dgm:cxn modelId="{F72FFF51-E9BD-42F2-8D8D-1CC534440BFD}" type="presOf" srcId="{F7F7D371-60F9-4EA3-9097-3A3D08AEE685}" destId="{ABCF4069-976D-411F-9CC5-87C4D01928AF}" srcOrd="0" destOrd="0" presId="urn:microsoft.com/office/officeart/2005/8/layout/vList2"/>
    <dgm:cxn modelId="{677ACA8B-D669-42DB-BBCE-68435A1C47D6}" type="presOf" srcId="{B42C1C91-CBFA-4218-B06F-41D5646814E2}" destId="{37CC9184-80F6-453D-A365-9081FA089A17}" srcOrd="0" destOrd="0" presId="urn:microsoft.com/office/officeart/2005/8/layout/vList2"/>
    <dgm:cxn modelId="{7979AF8F-9ED0-48F5-8792-D6091616BCE4}" type="presOf" srcId="{74164DCC-AE3C-40E2-BE99-3E6434CD0F2D}" destId="{A96E6117-0703-4820-BBB4-BD500128286E}" srcOrd="0" destOrd="0" presId="urn:microsoft.com/office/officeart/2005/8/layout/vList2"/>
    <dgm:cxn modelId="{EDC516BB-299B-43BB-8A00-C69DA9AFA531}" type="presOf" srcId="{0AC176BE-6A2A-4DB5-BBF2-F53730D82C73}" destId="{73A26DF5-B1D3-4447-B222-65F294E756A3}" srcOrd="0" destOrd="0" presId="urn:microsoft.com/office/officeart/2005/8/layout/vList2"/>
    <dgm:cxn modelId="{888CEABB-17F6-4729-A6C5-3B7D2DF9C052}" srcId="{92D8489C-13E5-4900-89EC-874D806577BC}" destId="{2896DCDF-86BB-4710-8B55-F8E56F58F6DE}" srcOrd="0" destOrd="0" parTransId="{F256B725-A076-48EE-A99F-A68DE3296962}" sibTransId="{16D47FDC-2118-41BE-BE47-8212372451C6}"/>
    <dgm:cxn modelId="{F7259DBD-5AA0-4CBB-B587-A733DD5045B6}" srcId="{92D8489C-13E5-4900-89EC-874D806577BC}" destId="{0AC176BE-6A2A-4DB5-BBF2-F53730D82C73}" srcOrd="1" destOrd="0" parTransId="{5C5860F4-CDA4-4BF7-85FD-1DBCAFB839A7}" sibTransId="{597302FE-EE18-4F3E-975B-91E84BE6C3EC}"/>
    <dgm:cxn modelId="{FDFF5AF5-03CA-48BC-A6BF-A26B358B40EB}" type="presOf" srcId="{2896DCDF-86BB-4710-8B55-F8E56F58F6DE}" destId="{815020FB-B632-4A1B-8649-12DB2A2AF922}" srcOrd="0" destOrd="0" presId="urn:microsoft.com/office/officeart/2005/8/layout/vList2"/>
    <dgm:cxn modelId="{D931BE5D-D95C-4FC4-9216-3B5400C581E2}" type="presParOf" srcId="{54637D15-5050-4E66-AA59-CB43A4CF39EB}" destId="{815020FB-B632-4A1B-8649-12DB2A2AF922}" srcOrd="0" destOrd="0" presId="urn:microsoft.com/office/officeart/2005/8/layout/vList2"/>
    <dgm:cxn modelId="{037170B9-2E3E-4146-B46A-50DE8E5442C7}" type="presParOf" srcId="{54637D15-5050-4E66-AA59-CB43A4CF39EB}" destId="{BA3120D2-B844-4DC4-B872-4DD21B6D1920}" srcOrd="1" destOrd="0" presId="urn:microsoft.com/office/officeart/2005/8/layout/vList2"/>
    <dgm:cxn modelId="{C4E434FA-0AB8-4DA1-91B4-C0427B121B40}" type="presParOf" srcId="{54637D15-5050-4E66-AA59-CB43A4CF39EB}" destId="{73A26DF5-B1D3-4447-B222-65F294E756A3}" srcOrd="2" destOrd="0" presId="urn:microsoft.com/office/officeart/2005/8/layout/vList2"/>
    <dgm:cxn modelId="{651B0812-2BE6-406F-BC48-F2D45B6513D1}" type="presParOf" srcId="{54637D15-5050-4E66-AA59-CB43A4CF39EB}" destId="{B56A7978-BF22-4008-B5CA-A300A1CACFE1}" srcOrd="3" destOrd="0" presId="urn:microsoft.com/office/officeart/2005/8/layout/vList2"/>
    <dgm:cxn modelId="{98B4D06E-38BD-42EB-AB4F-EC0BE5380E6D}" type="presParOf" srcId="{54637D15-5050-4E66-AA59-CB43A4CF39EB}" destId="{A96E6117-0703-4820-BBB4-BD500128286E}" srcOrd="4" destOrd="0" presId="urn:microsoft.com/office/officeart/2005/8/layout/vList2"/>
    <dgm:cxn modelId="{60D94CEB-D876-4393-80F7-BB4610AED996}" type="presParOf" srcId="{54637D15-5050-4E66-AA59-CB43A4CF39EB}" destId="{494A0EA7-3327-493E-BDF1-C06B3A76FEFB}" srcOrd="5" destOrd="0" presId="urn:microsoft.com/office/officeart/2005/8/layout/vList2"/>
    <dgm:cxn modelId="{D480093C-5737-4E64-91D2-1670906CEED2}" type="presParOf" srcId="{54637D15-5050-4E66-AA59-CB43A4CF39EB}" destId="{37CC9184-80F6-453D-A365-9081FA089A17}" srcOrd="6" destOrd="0" presId="urn:microsoft.com/office/officeart/2005/8/layout/vList2"/>
    <dgm:cxn modelId="{81F13870-9390-42A5-A118-2FEF49322079}" type="presParOf" srcId="{54637D15-5050-4E66-AA59-CB43A4CF39EB}" destId="{44125C85-4BA7-498A-BECD-9ADA93CD28A5}" srcOrd="7" destOrd="0" presId="urn:microsoft.com/office/officeart/2005/8/layout/vList2"/>
    <dgm:cxn modelId="{3B2E04A6-D446-40BB-8A0A-C1FA24E2EE75}" type="presParOf" srcId="{54637D15-5050-4E66-AA59-CB43A4CF39EB}" destId="{ABCF4069-976D-411F-9CC5-87C4D01928AF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CF54AF9-050F-43B7-B7D5-A491359A3BD0}">
      <dsp:nvSpPr>
        <dsp:cNvPr id="0" name=""/>
        <dsp:cNvSpPr/>
      </dsp:nvSpPr>
      <dsp:spPr>
        <a:xfrm>
          <a:off x="788669" y="0"/>
          <a:ext cx="8938260" cy="4800600"/>
        </a:xfrm>
        <a:prstGeom prst="rightArrow">
          <a:avLst/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8509EA0-E86F-46D4-8DF7-EC867FEB605A}">
      <dsp:nvSpPr>
        <dsp:cNvPr id="0" name=""/>
        <dsp:cNvSpPr/>
      </dsp:nvSpPr>
      <dsp:spPr>
        <a:xfrm>
          <a:off x="5262" y="1440179"/>
          <a:ext cx="2531343" cy="192024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Una </a:t>
          </a:r>
          <a:r>
            <a:rPr lang="en-US" sz="2400" b="1" kern="1200" dirty="0"/>
            <a:t>variable </a:t>
          </a:r>
          <a:r>
            <a:rPr lang="en-US" sz="2400" kern="1200" dirty="0" err="1"/>
            <a:t>guarda</a:t>
          </a:r>
          <a:r>
            <a:rPr lang="en-US" sz="2400" kern="1200" dirty="0"/>
            <a:t> una </a:t>
          </a:r>
          <a:r>
            <a:rPr lang="en-US" sz="2400" b="1" kern="1200" dirty="0" err="1"/>
            <a:t>referencia</a:t>
          </a:r>
          <a:r>
            <a:rPr lang="en-US" sz="2400" kern="1200" dirty="0"/>
            <a:t> a un valor.</a:t>
          </a:r>
          <a:endParaRPr lang="es-MX" sz="2400" kern="1200" dirty="0"/>
        </a:p>
      </dsp:txBody>
      <dsp:txXfrm>
        <a:off x="99000" y="1533917"/>
        <a:ext cx="2343867" cy="1732764"/>
      </dsp:txXfrm>
    </dsp:sp>
    <dsp:sp modelId="{4B7BC865-94C6-454C-8F78-FD443973F1D6}">
      <dsp:nvSpPr>
        <dsp:cNvPr id="0" name=""/>
        <dsp:cNvSpPr/>
      </dsp:nvSpPr>
      <dsp:spPr>
        <a:xfrm>
          <a:off x="2663173" y="1440179"/>
          <a:ext cx="2531343" cy="1920240"/>
        </a:xfrm>
        <a:prstGeom prst="roundRect">
          <a:avLst/>
        </a:prstGeom>
        <a:solidFill>
          <a:schemeClr val="accent5">
            <a:hueOff val="-2252848"/>
            <a:satOff val="-5806"/>
            <a:lumOff val="-392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Debe </a:t>
          </a:r>
          <a:r>
            <a:rPr lang="en-US" sz="2400" kern="1200" dirty="0" err="1"/>
            <a:t>tener</a:t>
          </a:r>
          <a:r>
            <a:rPr lang="en-US" sz="2400" kern="1200" dirty="0"/>
            <a:t> un </a:t>
          </a:r>
          <a:r>
            <a:rPr lang="en-US" sz="2400" kern="1200" dirty="0" err="1"/>
            <a:t>nombre</a:t>
          </a:r>
          <a:r>
            <a:rPr lang="en-US" sz="2400" kern="1200" dirty="0"/>
            <a:t> claro.</a:t>
          </a:r>
          <a:endParaRPr lang="es-MX" sz="2400" kern="1200" dirty="0"/>
        </a:p>
      </dsp:txBody>
      <dsp:txXfrm>
        <a:off x="2756911" y="1533917"/>
        <a:ext cx="2343867" cy="1732764"/>
      </dsp:txXfrm>
    </dsp:sp>
    <dsp:sp modelId="{7DB08162-9FD2-4CA8-AF7F-9F9F1E86D6F1}">
      <dsp:nvSpPr>
        <dsp:cNvPr id="0" name=""/>
        <dsp:cNvSpPr/>
      </dsp:nvSpPr>
      <dsp:spPr>
        <a:xfrm>
          <a:off x="5321083" y="1440179"/>
          <a:ext cx="2531343" cy="1920240"/>
        </a:xfrm>
        <a:prstGeom prst="roundRect">
          <a:avLst/>
        </a:prstGeom>
        <a:solidFill>
          <a:schemeClr val="accent5">
            <a:hueOff val="-4505695"/>
            <a:satOff val="-11613"/>
            <a:lumOff val="-784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Se recomienda usar snake_case.</a:t>
          </a:r>
          <a:endParaRPr lang="es-MX" sz="2400" kern="1200"/>
        </a:p>
      </dsp:txBody>
      <dsp:txXfrm>
        <a:off x="5414821" y="1533917"/>
        <a:ext cx="2343867" cy="1732764"/>
      </dsp:txXfrm>
    </dsp:sp>
    <dsp:sp modelId="{3532B4C2-BC7A-4F95-AA54-969A8B356350}">
      <dsp:nvSpPr>
        <dsp:cNvPr id="0" name=""/>
        <dsp:cNvSpPr/>
      </dsp:nvSpPr>
      <dsp:spPr>
        <a:xfrm>
          <a:off x="7978993" y="1440179"/>
          <a:ext cx="2531343" cy="1920240"/>
        </a:xfrm>
        <a:prstGeom prst="roundRect">
          <a:avLst/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Evitar nombres genéricos como x si no son temporales.</a:t>
          </a:r>
          <a:endParaRPr lang="es-MX" sz="2400" kern="1200"/>
        </a:p>
      </dsp:txBody>
      <dsp:txXfrm>
        <a:off x="8072731" y="1533917"/>
        <a:ext cx="2343867" cy="173276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676F2A-34AE-434D-8667-615D0DD8879F}">
      <dsp:nvSpPr>
        <dsp:cNvPr id="0" name=""/>
        <dsp:cNvSpPr/>
      </dsp:nvSpPr>
      <dsp:spPr>
        <a:xfrm>
          <a:off x="0" y="0"/>
          <a:ext cx="4800600" cy="4800600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9DFE7A-5E56-4C47-A2B5-DEB3B2E1B3B2}">
      <dsp:nvSpPr>
        <dsp:cNvPr id="0" name=""/>
        <dsp:cNvSpPr/>
      </dsp:nvSpPr>
      <dsp:spPr>
        <a:xfrm>
          <a:off x="2400300" y="0"/>
          <a:ext cx="8115300" cy="4800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b="1" kern="1200"/>
            <a:t>int: </a:t>
          </a:r>
          <a:r>
            <a:rPr lang="en-US" sz="3500" kern="1200"/>
            <a:t>números enteros.</a:t>
          </a:r>
          <a:endParaRPr lang="es-MX" sz="3500" kern="1200"/>
        </a:p>
      </dsp:txBody>
      <dsp:txXfrm>
        <a:off x="2400300" y="0"/>
        <a:ext cx="8115300" cy="768095"/>
      </dsp:txXfrm>
    </dsp:sp>
    <dsp:sp modelId="{9E838FFF-9933-4C47-8389-A3D07E6064C5}">
      <dsp:nvSpPr>
        <dsp:cNvPr id="0" name=""/>
        <dsp:cNvSpPr/>
      </dsp:nvSpPr>
      <dsp:spPr>
        <a:xfrm>
          <a:off x="504062" y="768095"/>
          <a:ext cx="3792474" cy="3792474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8EB2A7-29BD-4C8E-8DEC-368540EC9606}">
      <dsp:nvSpPr>
        <dsp:cNvPr id="0" name=""/>
        <dsp:cNvSpPr/>
      </dsp:nvSpPr>
      <dsp:spPr>
        <a:xfrm>
          <a:off x="2400300" y="768095"/>
          <a:ext cx="8115300" cy="3792474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b="1" kern="1200"/>
            <a:t>float: </a:t>
          </a:r>
          <a:r>
            <a:rPr lang="en-US" sz="3500" kern="1200"/>
            <a:t>números decimales.</a:t>
          </a:r>
          <a:endParaRPr lang="es-MX" sz="3500" kern="1200"/>
        </a:p>
      </dsp:txBody>
      <dsp:txXfrm>
        <a:off x="2400300" y="768095"/>
        <a:ext cx="8115300" cy="768095"/>
      </dsp:txXfrm>
    </dsp:sp>
    <dsp:sp modelId="{DA9A5C0C-3896-4D09-BA01-6BEE7BF88301}">
      <dsp:nvSpPr>
        <dsp:cNvPr id="0" name=""/>
        <dsp:cNvSpPr/>
      </dsp:nvSpPr>
      <dsp:spPr>
        <a:xfrm>
          <a:off x="1008125" y="1536191"/>
          <a:ext cx="2784348" cy="2784348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ACDA3D-1B37-47A0-9A51-9387149AEE34}">
      <dsp:nvSpPr>
        <dsp:cNvPr id="0" name=""/>
        <dsp:cNvSpPr/>
      </dsp:nvSpPr>
      <dsp:spPr>
        <a:xfrm>
          <a:off x="2400300" y="1536191"/>
          <a:ext cx="8115300" cy="2784348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b="1" kern="1200"/>
            <a:t>str: </a:t>
          </a:r>
          <a:r>
            <a:rPr lang="en-US" sz="3500" kern="1200"/>
            <a:t>texto.</a:t>
          </a:r>
          <a:endParaRPr lang="es-MX" sz="3500" kern="1200"/>
        </a:p>
      </dsp:txBody>
      <dsp:txXfrm>
        <a:off x="2400300" y="1536191"/>
        <a:ext cx="8115300" cy="768095"/>
      </dsp:txXfrm>
    </dsp:sp>
    <dsp:sp modelId="{35D30C69-2A4A-4585-87CF-83F53C8377C5}">
      <dsp:nvSpPr>
        <dsp:cNvPr id="0" name=""/>
        <dsp:cNvSpPr/>
      </dsp:nvSpPr>
      <dsp:spPr>
        <a:xfrm>
          <a:off x="1512188" y="2304287"/>
          <a:ext cx="1776222" cy="1776222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2673D5-B1E0-4C19-881E-96C2866DB9A9}">
      <dsp:nvSpPr>
        <dsp:cNvPr id="0" name=""/>
        <dsp:cNvSpPr/>
      </dsp:nvSpPr>
      <dsp:spPr>
        <a:xfrm>
          <a:off x="2400300" y="2304287"/>
          <a:ext cx="8115300" cy="177622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b="1" kern="1200"/>
            <a:t>bool: </a:t>
          </a:r>
          <a:r>
            <a:rPr lang="en-US" sz="3500" kern="1200"/>
            <a:t>verdadero o falso.</a:t>
          </a:r>
          <a:endParaRPr lang="es-MX" sz="3500" kern="1200"/>
        </a:p>
      </dsp:txBody>
      <dsp:txXfrm>
        <a:off x="2400300" y="2304287"/>
        <a:ext cx="8115300" cy="768095"/>
      </dsp:txXfrm>
    </dsp:sp>
    <dsp:sp modelId="{E2D12461-A1AF-44F6-A179-FB4DBC93190B}">
      <dsp:nvSpPr>
        <dsp:cNvPr id="0" name=""/>
        <dsp:cNvSpPr/>
      </dsp:nvSpPr>
      <dsp:spPr>
        <a:xfrm>
          <a:off x="2016252" y="3072383"/>
          <a:ext cx="768095" cy="768095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17F5EE-1148-4D8F-8945-3DBAE1E12247}">
      <dsp:nvSpPr>
        <dsp:cNvPr id="0" name=""/>
        <dsp:cNvSpPr/>
      </dsp:nvSpPr>
      <dsp:spPr>
        <a:xfrm>
          <a:off x="2400300" y="3072383"/>
          <a:ext cx="8115300" cy="76809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b="1" kern="1200"/>
            <a:t>None: </a:t>
          </a:r>
          <a:r>
            <a:rPr lang="en-US" sz="3500" kern="1200"/>
            <a:t>ausencia de valor.</a:t>
          </a:r>
          <a:endParaRPr lang="es-MX" sz="3500" kern="1200"/>
        </a:p>
      </dsp:txBody>
      <dsp:txXfrm>
        <a:off x="2400300" y="3072383"/>
        <a:ext cx="8115300" cy="76809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5020FB-B632-4A1B-8649-12DB2A2AF922}">
      <dsp:nvSpPr>
        <dsp:cNvPr id="0" name=""/>
        <dsp:cNvSpPr/>
      </dsp:nvSpPr>
      <dsp:spPr>
        <a:xfrm>
          <a:off x="0" y="48825"/>
          <a:ext cx="10515600" cy="85994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b="1" kern="1200"/>
            <a:t>Aritméticos: </a:t>
          </a:r>
          <a:r>
            <a:rPr lang="en-US" sz="3500" kern="1200"/>
            <a:t>+, -, *, /, //, %, **</a:t>
          </a:r>
          <a:endParaRPr lang="es-MX" sz="3500" kern="1200"/>
        </a:p>
      </dsp:txBody>
      <dsp:txXfrm>
        <a:off x="41979" y="90804"/>
        <a:ext cx="10431642" cy="775991"/>
      </dsp:txXfrm>
    </dsp:sp>
    <dsp:sp modelId="{73A26DF5-B1D3-4447-B222-65F294E756A3}">
      <dsp:nvSpPr>
        <dsp:cNvPr id="0" name=""/>
        <dsp:cNvSpPr/>
      </dsp:nvSpPr>
      <dsp:spPr>
        <a:xfrm>
          <a:off x="0" y="1009575"/>
          <a:ext cx="10515600" cy="859949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b="1" kern="1200"/>
            <a:t>Comparación: </a:t>
          </a:r>
          <a:r>
            <a:rPr lang="en-US" sz="3500" kern="1200"/>
            <a:t>==, !=, &gt;, &lt;, &gt;=, &lt;=</a:t>
          </a:r>
          <a:endParaRPr lang="es-MX" sz="3500" kern="1200"/>
        </a:p>
      </dsp:txBody>
      <dsp:txXfrm>
        <a:off x="41979" y="1051554"/>
        <a:ext cx="10431642" cy="775991"/>
      </dsp:txXfrm>
    </dsp:sp>
    <dsp:sp modelId="{A96E6117-0703-4820-BBB4-BD500128286E}">
      <dsp:nvSpPr>
        <dsp:cNvPr id="0" name=""/>
        <dsp:cNvSpPr/>
      </dsp:nvSpPr>
      <dsp:spPr>
        <a:xfrm>
          <a:off x="0" y="1970324"/>
          <a:ext cx="10515600" cy="859949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b="1" kern="1200"/>
            <a:t>Lógicos: </a:t>
          </a:r>
          <a:r>
            <a:rPr lang="en-US" sz="3500" kern="1200"/>
            <a:t>and, or, not</a:t>
          </a:r>
          <a:endParaRPr lang="es-MX" sz="3500" kern="1200"/>
        </a:p>
      </dsp:txBody>
      <dsp:txXfrm>
        <a:off x="41979" y="2012303"/>
        <a:ext cx="10431642" cy="775991"/>
      </dsp:txXfrm>
    </dsp:sp>
    <dsp:sp modelId="{37CC9184-80F6-453D-A365-9081FA089A17}">
      <dsp:nvSpPr>
        <dsp:cNvPr id="0" name=""/>
        <dsp:cNvSpPr/>
      </dsp:nvSpPr>
      <dsp:spPr>
        <a:xfrm>
          <a:off x="0" y="2931074"/>
          <a:ext cx="10515600" cy="859949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b="1" kern="1200"/>
            <a:t>Asignación: </a:t>
          </a:r>
          <a:r>
            <a:rPr lang="en-US" sz="3500" kern="1200"/>
            <a:t>=, +=, -=</a:t>
          </a:r>
          <a:endParaRPr lang="es-MX" sz="3500" kern="1200"/>
        </a:p>
      </dsp:txBody>
      <dsp:txXfrm>
        <a:off x="41979" y="2973053"/>
        <a:ext cx="10431642" cy="775991"/>
      </dsp:txXfrm>
    </dsp:sp>
    <dsp:sp modelId="{ABCF4069-976D-411F-9CC5-87C4D01928AF}">
      <dsp:nvSpPr>
        <dsp:cNvPr id="0" name=""/>
        <dsp:cNvSpPr/>
      </dsp:nvSpPr>
      <dsp:spPr>
        <a:xfrm>
          <a:off x="0" y="3891824"/>
          <a:ext cx="10515600" cy="859949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 err="1"/>
            <a:t>Pertenencia</a:t>
          </a:r>
          <a:r>
            <a:rPr lang="en-US" sz="3500" kern="1200" dirty="0"/>
            <a:t>: in, not in</a:t>
          </a:r>
          <a:endParaRPr lang="es-MX" sz="3500" kern="1200" dirty="0"/>
        </a:p>
      </dsp:txBody>
      <dsp:txXfrm>
        <a:off x="41979" y="3933803"/>
        <a:ext cx="10431642" cy="77599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60600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7.xml"/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8.xml"/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9.xml"/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0.xml"/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1.xml"/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2.xml"/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3.xml"/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4.xml"/><Relationship Id="rId1" Type="http://schemas.openxmlformats.org/officeDocument/2006/relationships/notesMaster" Target="../notesMasters/notesMaster1.xml"/></Relationships>
</file>

<file path=ppt/notesSlides/_rels/notesSlide1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5.xml"/><Relationship Id="rId1" Type="http://schemas.openxmlformats.org/officeDocument/2006/relationships/notesMaster" Target="../notesMasters/notesMaster1.xml"/></Relationships>
</file>

<file path=ppt/notesSlides/_rels/notesSlide1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6.xml"/><Relationship Id="rId1" Type="http://schemas.openxmlformats.org/officeDocument/2006/relationships/notesMaster" Target="../notesMasters/notesMaster1.xml"/></Relationships>
</file>

<file path=ppt/notesSlides/_rels/notesSlide1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7.xml"/><Relationship Id="rId1" Type="http://schemas.openxmlformats.org/officeDocument/2006/relationships/notesMaster" Target="../notesMasters/notesMaster1.xml"/></Relationships>
</file>

<file path=ppt/notesSlides/_rels/notesSlide1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8.xml"/><Relationship Id="rId1" Type="http://schemas.openxmlformats.org/officeDocument/2006/relationships/notesMaster" Target="../notesMasters/notesMaster1.xml"/></Relationships>
</file>

<file path=ppt/notesSlides/_rels/notesSlide1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9.xml"/><Relationship Id="rId1" Type="http://schemas.openxmlformats.org/officeDocument/2006/relationships/notesMaster" Target="../notesMasters/notesMaster1.xml"/></Relationships>
</file>

<file path=ppt/notesSlides/_rels/notesSlide1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0.xml"/><Relationship Id="rId1" Type="http://schemas.openxmlformats.org/officeDocument/2006/relationships/notesMaster" Target="../notesMasters/notesMaster1.xml"/></Relationships>
</file>

<file path=ppt/notesSlides/_rels/notesSlide1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1.xml"/><Relationship Id="rId1" Type="http://schemas.openxmlformats.org/officeDocument/2006/relationships/notesMaster" Target="../notesMasters/notesMaster1.xml"/></Relationships>
</file>

<file path=ppt/notesSlides/_rels/notesSlide1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2.xml"/><Relationship Id="rId1" Type="http://schemas.openxmlformats.org/officeDocument/2006/relationships/notesMaster" Target="../notesMasters/notesMaster1.xml"/></Relationships>
</file>

<file path=ppt/notesSlides/_rels/notesSlide1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3.xml"/><Relationship Id="rId1" Type="http://schemas.openxmlformats.org/officeDocument/2006/relationships/notesMaster" Target="../notesMasters/notesMaster1.xml"/></Relationships>
</file>

<file path=ppt/notesSlides/_rels/notesSlide1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4.xml"/><Relationship Id="rId1" Type="http://schemas.openxmlformats.org/officeDocument/2006/relationships/notesMaster" Target="../notesMasters/notesMaster1.xml"/></Relationships>
</file>

<file path=ppt/notesSlides/_rels/notesSlide1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5.xml"/><Relationship Id="rId1" Type="http://schemas.openxmlformats.org/officeDocument/2006/relationships/notesMaster" Target="../notesMasters/notesMaster1.xml"/></Relationships>
</file>

<file path=ppt/notesSlides/_rels/notesSlide1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6.xml"/><Relationship Id="rId1" Type="http://schemas.openxmlformats.org/officeDocument/2006/relationships/notesMaster" Target="../notesMasters/notesMaster1.xml"/></Relationships>
</file>

<file path=ppt/notesSlides/_rels/notesSlide1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7.xml"/><Relationship Id="rId1" Type="http://schemas.openxmlformats.org/officeDocument/2006/relationships/notesMaster" Target="../notesMasters/notesMaster1.xml"/></Relationships>
</file>

<file path=ppt/notesSlides/_rels/notesSlide1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8.xml"/><Relationship Id="rId1" Type="http://schemas.openxmlformats.org/officeDocument/2006/relationships/notesMaster" Target="../notesMasters/notesMaster1.xml"/></Relationships>
</file>

<file path=ppt/notesSlides/_rels/notesSlide1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9.xml"/><Relationship Id="rId1" Type="http://schemas.openxmlformats.org/officeDocument/2006/relationships/notesMaster" Target="../notesMasters/notesMaster1.xml"/></Relationships>
</file>

<file path=ppt/notesSlides/_rels/notesSlide1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0.xml"/><Relationship Id="rId1" Type="http://schemas.openxmlformats.org/officeDocument/2006/relationships/notesMaster" Target="../notesMasters/notesMaster1.xml"/></Relationships>
</file>

<file path=ppt/notesSlides/_rels/notesSlide1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1.xml"/><Relationship Id="rId1" Type="http://schemas.openxmlformats.org/officeDocument/2006/relationships/notesMaster" Target="../notesMasters/notesMaster1.xml"/></Relationships>
</file>

<file path=ppt/notesSlides/_rels/notesSlide1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2.xml"/><Relationship Id="rId1" Type="http://schemas.openxmlformats.org/officeDocument/2006/relationships/notesMaster" Target="../notesMasters/notesMaster1.xml"/></Relationships>
</file>

<file path=ppt/notesSlides/_rels/notesSlide1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3.xml"/><Relationship Id="rId1" Type="http://schemas.openxmlformats.org/officeDocument/2006/relationships/notesMaster" Target="../notesMasters/notesMaster1.xml"/></Relationships>
</file>

<file path=ppt/notesSlides/_rels/notesSlide1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4.xml"/><Relationship Id="rId1" Type="http://schemas.openxmlformats.org/officeDocument/2006/relationships/notesMaster" Target="../notesMasters/notesMaster1.xml"/></Relationships>
</file>

<file path=ppt/notesSlides/_rels/notesSlide1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5.xml"/><Relationship Id="rId1" Type="http://schemas.openxmlformats.org/officeDocument/2006/relationships/notesMaster" Target="../notesMasters/notesMaster1.xml"/></Relationships>
</file>

<file path=ppt/notesSlides/_rels/notesSlide1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6.xml"/><Relationship Id="rId1" Type="http://schemas.openxmlformats.org/officeDocument/2006/relationships/notesMaster" Target="../notesMasters/notesMaster1.xml"/></Relationships>
</file>

<file path=ppt/notesSlides/_rels/notesSlide1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7.xml"/><Relationship Id="rId1" Type="http://schemas.openxmlformats.org/officeDocument/2006/relationships/notesMaster" Target="../notesMasters/notesMaster1.xml"/></Relationships>
</file>

<file path=ppt/notesSlides/_rels/notesSlide1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8.xml"/><Relationship Id="rId1" Type="http://schemas.openxmlformats.org/officeDocument/2006/relationships/notesMaster" Target="../notesMasters/notesMaster1.xml"/></Relationships>
</file>

<file path=ppt/notesSlides/_rels/notesSlide1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9.xml"/><Relationship Id="rId1" Type="http://schemas.openxmlformats.org/officeDocument/2006/relationships/notesMaster" Target="../notesMasters/notesMaster1.xml"/></Relationships>
</file>

<file path=ppt/notesSlides/_rels/notesSlide1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0.xml"/><Relationship Id="rId1" Type="http://schemas.openxmlformats.org/officeDocument/2006/relationships/notesMaster" Target="../notesMasters/notesMaster1.xml"/></Relationships>
</file>

<file path=ppt/notesSlides/_rels/notesSlide1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1.xml"/><Relationship Id="rId1" Type="http://schemas.openxmlformats.org/officeDocument/2006/relationships/notesMaster" Target="../notesMasters/notesMaster1.xml"/></Relationships>
</file>

<file path=ppt/notesSlides/_rels/notesSlide1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2.xml"/><Relationship Id="rId1" Type="http://schemas.openxmlformats.org/officeDocument/2006/relationships/notesMaster" Target="../notesMasters/notesMaster1.xml"/></Relationships>
</file>

<file path=ppt/notesSlides/_rels/notesSlide1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3.xml"/><Relationship Id="rId1" Type="http://schemas.openxmlformats.org/officeDocument/2006/relationships/notesMaster" Target="../notesMasters/notesMaster1.xml"/></Relationships>
</file>

<file path=ppt/notesSlides/_rels/notesSlide1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4.xml"/><Relationship Id="rId1" Type="http://schemas.openxmlformats.org/officeDocument/2006/relationships/notesMaster" Target="../notesMasters/notesMaster1.xml"/></Relationships>
</file>

<file path=ppt/notesSlides/_rels/notesSlide1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5.xml"/><Relationship Id="rId1" Type="http://schemas.openxmlformats.org/officeDocument/2006/relationships/notesMaster" Target="../notesMasters/notesMaster1.xml"/></Relationships>
</file>

<file path=ppt/notesSlides/_rels/notesSlide1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6.xml"/><Relationship Id="rId1" Type="http://schemas.openxmlformats.org/officeDocument/2006/relationships/notesMaster" Target="../notesMasters/notesMaster1.xml"/></Relationships>
</file>

<file path=ppt/notesSlides/_rels/notesSlide1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7.xml"/><Relationship Id="rId1" Type="http://schemas.openxmlformats.org/officeDocument/2006/relationships/notesMaster" Target="../notesMasters/notesMaster1.xml"/></Relationships>
</file>

<file path=ppt/notesSlides/_rels/notesSlide1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8.xml"/><Relationship Id="rId1" Type="http://schemas.openxmlformats.org/officeDocument/2006/relationships/notesMaster" Target="../notesMasters/notesMaster1.xml"/></Relationships>
</file>

<file path=ppt/notesSlides/_rels/notesSlide1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9.xml"/><Relationship Id="rId1" Type="http://schemas.openxmlformats.org/officeDocument/2006/relationships/notesMaster" Target="../notesMasters/notesMaster1.xml"/></Relationships>
</file>

<file path=ppt/notesSlides/_rels/notesSlide1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0.xml"/><Relationship Id="rId1" Type="http://schemas.openxmlformats.org/officeDocument/2006/relationships/notesMaster" Target="../notesMasters/notesMaster1.xml"/></Relationships>
</file>

<file path=ppt/notesSlides/_rels/notesSlide1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1.xml"/><Relationship Id="rId1" Type="http://schemas.openxmlformats.org/officeDocument/2006/relationships/notesMaster" Target="../notesMasters/notesMaster1.xml"/></Relationships>
</file>

<file path=ppt/notesSlides/_rels/notesSlide1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2.xml"/><Relationship Id="rId1" Type="http://schemas.openxmlformats.org/officeDocument/2006/relationships/notesMaster" Target="../notesMasters/notesMaster1.xml"/></Relationships>
</file>

<file path=ppt/notesSlides/_rels/notesSlide1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3.xml"/><Relationship Id="rId1" Type="http://schemas.openxmlformats.org/officeDocument/2006/relationships/notesMaster" Target="../notesMasters/notesMaster1.xml"/></Relationships>
</file>

<file path=ppt/notesSlides/_rels/notesSlide1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4.xml"/><Relationship Id="rId1" Type="http://schemas.openxmlformats.org/officeDocument/2006/relationships/notesMaster" Target="../notesMasters/notesMaster1.xml"/></Relationships>
</file>

<file path=ppt/notesSlides/_rels/notesSlide1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5.xml"/><Relationship Id="rId1" Type="http://schemas.openxmlformats.org/officeDocument/2006/relationships/notesMaster" Target="../notesMasters/notesMaster1.xml"/></Relationships>
</file>

<file path=ppt/notesSlides/_rels/notesSlide1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6.xml"/><Relationship Id="rId1" Type="http://schemas.openxmlformats.org/officeDocument/2006/relationships/notesMaster" Target="../notesMasters/notesMaster1.xml"/></Relationships>
</file>

<file path=ppt/notesSlides/_rels/notesSlide1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7.xml"/><Relationship Id="rId1" Type="http://schemas.openxmlformats.org/officeDocument/2006/relationships/notesMaster" Target="../notesMasters/notesMaster1.xml"/></Relationships>
</file>

<file path=ppt/notesSlides/_rels/notesSlide1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8.xml"/><Relationship Id="rId1" Type="http://schemas.openxmlformats.org/officeDocument/2006/relationships/notesMaster" Target="../notesMasters/notesMaster1.xml"/></Relationships>
</file>

<file path=ppt/notesSlides/_rels/notesSlide1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9.xml"/><Relationship Id="rId1" Type="http://schemas.openxmlformats.org/officeDocument/2006/relationships/notesMaster" Target="../notesMasters/notesMaster1.xml"/></Relationships>
</file>

<file path=ppt/notesSlides/_rels/notesSlide1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0.xml"/><Relationship Id="rId1" Type="http://schemas.openxmlformats.org/officeDocument/2006/relationships/notesMaster" Target="../notesMasters/notesMaster1.xml"/></Relationships>
</file>

<file path=ppt/notesSlides/_rels/notesSlide1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1.xml"/><Relationship Id="rId1" Type="http://schemas.openxmlformats.org/officeDocument/2006/relationships/notesMaster" Target="../notesMasters/notesMaster1.xml"/></Relationships>
</file>

<file path=ppt/notesSlides/_rels/notesSlide1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2.xml"/><Relationship Id="rId1" Type="http://schemas.openxmlformats.org/officeDocument/2006/relationships/notesMaster" Target="../notesMasters/notesMaster1.xml"/></Relationships>
</file>

<file path=ppt/notesSlides/_rels/notesSlide1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3.xml"/><Relationship Id="rId1" Type="http://schemas.openxmlformats.org/officeDocument/2006/relationships/notesMaster" Target="../notesMasters/notesMaster1.xml"/></Relationships>
</file>

<file path=ppt/notesSlides/_rels/notesSlide1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4.xml"/><Relationship Id="rId1" Type="http://schemas.openxmlformats.org/officeDocument/2006/relationships/notesMaster" Target="../notesMasters/notesMaster1.xml"/></Relationships>
</file>

<file path=ppt/notesSlides/_rels/notesSlide1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5.xml"/><Relationship Id="rId1" Type="http://schemas.openxmlformats.org/officeDocument/2006/relationships/notesMaster" Target="../notesMasters/notesMaster1.xml"/></Relationships>
</file>

<file path=ppt/notesSlides/_rels/notesSlide1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6.xml"/><Relationship Id="rId1" Type="http://schemas.openxmlformats.org/officeDocument/2006/relationships/notesMaster" Target="../notesMasters/notesMaster1.xml"/></Relationships>
</file>

<file path=ppt/notesSlides/_rels/notesSlide1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7.xml"/><Relationship Id="rId1" Type="http://schemas.openxmlformats.org/officeDocument/2006/relationships/notesMaster" Target="../notesMasters/notesMaster1.xml"/></Relationships>
</file>

<file path=ppt/notesSlides/_rels/notesSlide1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8.xml"/><Relationship Id="rId1" Type="http://schemas.openxmlformats.org/officeDocument/2006/relationships/notesMaster" Target="../notesMasters/notesMaster1.xml"/></Relationships>
</file>

<file path=ppt/notesSlides/_rels/notesSlide1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9.xml"/><Relationship Id="rId1" Type="http://schemas.openxmlformats.org/officeDocument/2006/relationships/notesMaster" Target="../notesMasters/notesMaster1.xml"/></Relationships>
</file>

<file path=ppt/notesSlides/_rels/notesSlide1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0.xml"/><Relationship Id="rId1" Type="http://schemas.openxmlformats.org/officeDocument/2006/relationships/notesMaster" Target="../notesMasters/notesMaster1.xml"/></Relationships>
</file>

<file path=ppt/notesSlides/_rels/notesSlide2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1.xml"/><Relationship Id="rId1" Type="http://schemas.openxmlformats.org/officeDocument/2006/relationships/notesMaster" Target="../notesMasters/notesMaster1.xml"/></Relationships>
</file>

<file path=ppt/notesSlides/_rels/notesSlide2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2.xml"/><Relationship Id="rId1" Type="http://schemas.openxmlformats.org/officeDocument/2006/relationships/notesMaster" Target="../notesMasters/notesMaster1.xml"/></Relationships>
</file>

<file path=ppt/notesSlides/_rels/notesSlide2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3.xml"/><Relationship Id="rId1" Type="http://schemas.openxmlformats.org/officeDocument/2006/relationships/notesMaster" Target="../notesMasters/notesMaster1.xml"/></Relationships>
</file>

<file path=ppt/notesSlides/_rels/notesSlide2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4.xml"/><Relationship Id="rId1" Type="http://schemas.openxmlformats.org/officeDocument/2006/relationships/notesMaster" Target="../notesMasters/notesMaster1.xml"/></Relationships>
</file>

<file path=ppt/notesSlides/_rels/notesSlide2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5.xml"/><Relationship Id="rId1" Type="http://schemas.openxmlformats.org/officeDocument/2006/relationships/notesMaster" Target="../notesMasters/notesMaster1.xml"/></Relationships>
</file>

<file path=ppt/notesSlides/_rels/notesSlide2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6.xml"/><Relationship Id="rId1" Type="http://schemas.openxmlformats.org/officeDocument/2006/relationships/notesMaster" Target="../notesMasters/notesMaster1.xml"/></Relationships>
</file>

<file path=ppt/notesSlides/_rels/notesSlide2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7.xml"/><Relationship Id="rId1" Type="http://schemas.openxmlformats.org/officeDocument/2006/relationships/notesMaster" Target="../notesMasters/notesMaster1.xml"/></Relationships>
</file>

<file path=ppt/notesSlides/_rels/notesSlide2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8.xml"/><Relationship Id="rId1" Type="http://schemas.openxmlformats.org/officeDocument/2006/relationships/notesMaster" Target="../notesMasters/notesMaster1.xml"/></Relationships>
</file>

<file path=ppt/notesSlides/_rels/notesSlide2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9.xml"/><Relationship Id="rId1" Type="http://schemas.openxmlformats.org/officeDocument/2006/relationships/notesMaster" Target="../notesMasters/notesMaster1.xml"/></Relationships>
</file>

<file path=ppt/notesSlides/_rels/notesSlide2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0.xml"/><Relationship Id="rId1" Type="http://schemas.openxmlformats.org/officeDocument/2006/relationships/notesMaster" Target="../notesMasters/notesMaster1.xml"/></Relationships>
</file>

<file path=ppt/notesSlides/_rels/notesSlide2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1.xml"/><Relationship Id="rId1" Type="http://schemas.openxmlformats.org/officeDocument/2006/relationships/notesMaster" Target="../notesMasters/notesMaster1.xml"/></Relationships>
</file>

<file path=ppt/notesSlides/_rels/notesSlide2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2.xml"/><Relationship Id="rId1" Type="http://schemas.openxmlformats.org/officeDocument/2006/relationships/notesMaster" Target="../notesMasters/notesMaster1.xml"/></Relationships>
</file>

<file path=ppt/notesSlides/_rels/notesSlide2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3.xml"/><Relationship Id="rId1" Type="http://schemas.openxmlformats.org/officeDocument/2006/relationships/notesMaster" Target="../notesMasters/notesMaster1.xml"/></Relationships>
</file>

<file path=ppt/notesSlides/_rels/notesSlide2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4.xml"/><Relationship Id="rId1" Type="http://schemas.openxmlformats.org/officeDocument/2006/relationships/notesMaster" Target="../notesMasters/notesMaster1.xml"/></Relationships>
</file>

<file path=ppt/notesSlides/_rels/notesSlide2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5.xml"/><Relationship Id="rId1" Type="http://schemas.openxmlformats.org/officeDocument/2006/relationships/notesMaster" Target="../notesMasters/notesMaster1.xml"/></Relationships>
</file>

<file path=ppt/notesSlides/_rels/notesSlide2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6.xml"/><Relationship Id="rId1" Type="http://schemas.openxmlformats.org/officeDocument/2006/relationships/notesMaster" Target="../notesMasters/notesMaster1.xml"/></Relationships>
</file>

<file path=ppt/notesSlides/_rels/notesSlide2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7.xml"/><Relationship Id="rId1" Type="http://schemas.openxmlformats.org/officeDocument/2006/relationships/notesMaster" Target="../notesMasters/notesMaster1.xml"/></Relationships>
</file>

<file path=ppt/notesSlides/_rels/notesSlide2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8.xml"/><Relationship Id="rId1" Type="http://schemas.openxmlformats.org/officeDocument/2006/relationships/notesMaster" Target="../notesMasters/notesMaster1.xml"/></Relationships>
</file>

<file path=ppt/notesSlides/_rels/notesSlide2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9.xml"/><Relationship Id="rId1" Type="http://schemas.openxmlformats.org/officeDocument/2006/relationships/notesMaster" Target="../notesMasters/notesMaster1.xml"/></Relationships>
</file>

<file path=ppt/notesSlides/_rels/notesSlide2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0.xml"/><Relationship Id="rId1" Type="http://schemas.openxmlformats.org/officeDocument/2006/relationships/notesMaster" Target="../notesMasters/notesMaster1.xml"/></Relationships>
</file>

<file path=ppt/notesSlides/_rels/notesSlide2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1.xml"/><Relationship Id="rId1" Type="http://schemas.openxmlformats.org/officeDocument/2006/relationships/notesMaster" Target="../notesMasters/notesMaster1.xml"/></Relationships>
</file>

<file path=ppt/notesSlides/_rels/notesSlide2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2.xml"/><Relationship Id="rId1" Type="http://schemas.openxmlformats.org/officeDocument/2006/relationships/notesMaster" Target="../notesMasters/notesMaster1.xml"/></Relationships>
</file>

<file path=ppt/notesSlides/_rels/notesSlide2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3.xml"/><Relationship Id="rId1" Type="http://schemas.openxmlformats.org/officeDocument/2006/relationships/notesMaster" Target="../notesMasters/notesMaster1.xml"/></Relationships>
</file>

<file path=ppt/notesSlides/_rels/notesSlide2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4.xml"/><Relationship Id="rId1" Type="http://schemas.openxmlformats.org/officeDocument/2006/relationships/notesMaster" Target="../notesMasters/notesMaster1.xml"/></Relationships>
</file>

<file path=ppt/notesSlides/_rels/notesSlide2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5.xml"/><Relationship Id="rId1" Type="http://schemas.openxmlformats.org/officeDocument/2006/relationships/notesMaster" Target="../notesMasters/notesMaster1.xml"/></Relationships>
</file>

<file path=ppt/notesSlides/_rels/notesSlide2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6.xml"/><Relationship Id="rId1" Type="http://schemas.openxmlformats.org/officeDocument/2006/relationships/notesMaster" Target="../notesMasters/notesMaster1.xml"/></Relationships>
</file>

<file path=ppt/notesSlides/_rels/notesSlide2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7.xml"/><Relationship Id="rId1" Type="http://schemas.openxmlformats.org/officeDocument/2006/relationships/notesMaster" Target="../notesMasters/notesMaster1.xml"/></Relationships>
</file>

<file path=ppt/notesSlides/_rels/notesSlide2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8.xml"/><Relationship Id="rId1" Type="http://schemas.openxmlformats.org/officeDocument/2006/relationships/notesMaster" Target="../notesMasters/notesMaster1.xml"/></Relationships>
</file>

<file path=ppt/notesSlides/_rels/notesSlide2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9.xml"/><Relationship Id="rId1" Type="http://schemas.openxmlformats.org/officeDocument/2006/relationships/notesMaster" Target="../notesMasters/notesMaster1.xml"/></Relationships>
</file>

<file path=ppt/notesSlides/_rels/notesSlide2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0.xml"/><Relationship Id="rId1" Type="http://schemas.openxmlformats.org/officeDocument/2006/relationships/notesMaster" Target="../notesMasters/notesMaster1.xml"/></Relationships>
</file>

<file path=ppt/notesSlides/_rels/notesSlide2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1.xml"/><Relationship Id="rId1" Type="http://schemas.openxmlformats.org/officeDocument/2006/relationships/notesMaster" Target="../notesMasters/notesMaster1.xml"/></Relationships>
</file>

<file path=ppt/notesSlides/_rels/notesSlide2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2.xml"/><Relationship Id="rId1" Type="http://schemas.openxmlformats.org/officeDocument/2006/relationships/notesMaster" Target="../notesMasters/notesMaster1.xml"/></Relationships>
</file>

<file path=ppt/notesSlides/_rels/notesSlide2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3.xml"/><Relationship Id="rId1" Type="http://schemas.openxmlformats.org/officeDocument/2006/relationships/notesMaster" Target="../notesMasters/notesMaster1.xml"/></Relationships>
</file>

<file path=ppt/notesSlides/_rels/notesSlide2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4.xml"/><Relationship Id="rId1" Type="http://schemas.openxmlformats.org/officeDocument/2006/relationships/notesMaster" Target="../notesMasters/notesMaster1.xml"/></Relationships>
</file>

<file path=ppt/notesSlides/_rels/notesSlide2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5.xml"/><Relationship Id="rId1" Type="http://schemas.openxmlformats.org/officeDocument/2006/relationships/notesMaster" Target="../notesMasters/notesMaster1.xml"/></Relationships>
</file>

<file path=ppt/notesSlides/_rels/notesSlide2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6.xml"/><Relationship Id="rId1" Type="http://schemas.openxmlformats.org/officeDocument/2006/relationships/notesMaster" Target="../notesMasters/notesMaster1.xml"/></Relationships>
</file>

<file path=ppt/notesSlides/_rels/notesSlide2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7.xml"/><Relationship Id="rId1" Type="http://schemas.openxmlformats.org/officeDocument/2006/relationships/notesMaster" Target="../notesMasters/notesMaster1.xml"/></Relationships>
</file>

<file path=ppt/notesSlides/_rels/notesSlide2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8.xml"/><Relationship Id="rId1" Type="http://schemas.openxmlformats.org/officeDocument/2006/relationships/notesMaster" Target="../notesMasters/notesMaster1.xml"/></Relationships>
</file>

<file path=ppt/notesSlides/_rels/notesSlide2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9.xml"/><Relationship Id="rId1" Type="http://schemas.openxmlformats.org/officeDocument/2006/relationships/notesMaster" Target="../notesMasters/notesMaster1.xml"/></Relationships>
</file>

<file path=ppt/notesSlides/_rels/notesSlide2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0.xml"/><Relationship Id="rId1" Type="http://schemas.openxmlformats.org/officeDocument/2006/relationships/notesMaster" Target="../notesMasters/notesMaster1.xml"/></Relationships>
</file>

<file path=ppt/notesSlides/_rels/notesSlide2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1.xml"/><Relationship Id="rId1" Type="http://schemas.openxmlformats.org/officeDocument/2006/relationships/notesMaster" Target="../notesMasters/notesMaster1.xml"/></Relationships>
</file>

<file path=ppt/notesSlides/_rels/notesSlide2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2.xml"/><Relationship Id="rId1" Type="http://schemas.openxmlformats.org/officeDocument/2006/relationships/notesMaster" Target="../notesMasters/notesMaster1.xml"/></Relationships>
</file>

<file path=ppt/notesSlides/_rels/notesSlide2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3.xml"/><Relationship Id="rId1" Type="http://schemas.openxmlformats.org/officeDocument/2006/relationships/notesMaster" Target="../notesMasters/notesMaster1.xml"/></Relationships>
</file>

<file path=ppt/notesSlides/_rels/notesSlide2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4.xml"/><Relationship Id="rId1" Type="http://schemas.openxmlformats.org/officeDocument/2006/relationships/notesMaster" Target="../notesMasters/notesMaster1.xml"/></Relationships>
</file>

<file path=ppt/notesSlides/_rels/notesSlide2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5.xml"/><Relationship Id="rId1" Type="http://schemas.openxmlformats.org/officeDocument/2006/relationships/notesMaster" Target="../notesMasters/notesMaster1.xml"/></Relationships>
</file>

<file path=ppt/notesSlides/_rels/notesSlide2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6.xml"/><Relationship Id="rId1" Type="http://schemas.openxmlformats.org/officeDocument/2006/relationships/notesMaster" Target="../notesMasters/notesMaster1.xml"/></Relationships>
</file>

<file path=ppt/notesSlides/_rels/notesSlide2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7.xml"/><Relationship Id="rId1" Type="http://schemas.openxmlformats.org/officeDocument/2006/relationships/notesMaster" Target="../notesMasters/notesMaster1.xml"/></Relationships>
</file>

<file path=ppt/notesSlides/_rels/notesSlide2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8.xml"/><Relationship Id="rId1" Type="http://schemas.openxmlformats.org/officeDocument/2006/relationships/notesMaster" Target="../notesMasters/notesMaster1.xml"/></Relationships>
</file>

<file path=ppt/notesSlides/_rels/notesSlide2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9.xml"/><Relationship Id="rId1" Type="http://schemas.openxmlformats.org/officeDocument/2006/relationships/notesMaster" Target="../notesMasters/notesMaster1.xml"/></Relationships>
</file>

<file path=ppt/notesSlides/_rels/notesSlide2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0.xml"/><Relationship Id="rId1" Type="http://schemas.openxmlformats.org/officeDocument/2006/relationships/notesMaster" Target="../notesMasters/notesMaster1.xml"/></Relationships>
</file>

<file path=ppt/notesSlides/_rels/notesSlide2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1.xml"/><Relationship Id="rId1" Type="http://schemas.openxmlformats.org/officeDocument/2006/relationships/notesMaster" Target="../notesMasters/notesMaster1.xml"/></Relationships>
</file>

<file path=ppt/notesSlides/_rels/notesSlide2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2.xml"/><Relationship Id="rId1" Type="http://schemas.openxmlformats.org/officeDocument/2006/relationships/notesMaster" Target="../notesMasters/notesMaster1.xml"/></Relationships>
</file>

<file path=ppt/notesSlides/_rels/notesSlide2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3.xml"/><Relationship Id="rId1" Type="http://schemas.openxmlformats.org/officeDocument/2006/relationships/notesMaster" Target="../notesMasters/notesMaster1.xml"/></Relationships>
</file>

<file path=ppt/notesSlides/_rels/notesSlide2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4.xml"/><Relationship Id="rId1" Type="http://schemas.openxmlformats.org/officeDocument/2006/relationships/notesMaster" Target="../notesMasters/notesMaster1.xml"/></Relationships>
</file>

<file path=ppt/notesSlides/_rels/notesSlide2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5.xml"/><Relationship Id="rId1" Type="http://schemas.openxmlformats.org/officeDocument/2006/relationships/notesMaster" Target="../notesMasters/notesMaster1.xml"/></Relationships>
</file>

<file path=ppt/notesSlides/_rels/notesSlide2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6.xml"/><Relationship Id="rId1" Type="http://schemas.openxmlformats.org/officeDocument/2006/relationships/notesMaster" Target="../notesMasters/notesMaster1.xml"/></Relationships>
</file>

<file path=ppt/notesSlides/_rels/notesSlide2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7.xml"/><Relationship Id="rId1" Type="http://schemas.openxmlformats.org/officeDocument/2006/relationships/notesMaster" Target="../notesMasters/notesMaster1.xml"/></Relationships>
</file>

<file path=ppt/notesSlides/_rels/notesSlide2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8.xml"/><Relationship Id="rId1" Type="http://schemas.openxmlformats.org/officeDocument/2006/relationships/notesMaster" Target="../notesMasters/notesMaster1.xml"/></Relationships>
</file>

<file path=ppt/notesSlides/_rels/notesSlide2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9.xml"/><Relationship Id="rId1" Type="http://schemas.openxmlformats.org/officeDocument/2006/relationships/notesMaster" Target="../notesMasters/notesMaster1.xml"/></Relationships>
</file>

<file path=ppt/notesSlides/_rels/notesSlide2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0.xml"/><Relationship Id="rId1" Type="http://schemas.openxmlformats.org/officeDocument/2006/relationships/notesMaster" Target="../notesMasters/notesMaster1.xml"/></Relationships>
</file>

<file path=ppt/notesSlides/_rels/notesSlide2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7C964D-0419-A8B8-A3E4-582CC154C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987D55-C3F6-ACD6-469F-3F0A3F7C62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F4B855-3CD3-CE3F-D37A-E79A540504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CF0FD6-24BC-DA59-4C17-935803A2AA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803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7E1A9-33A7-F6B6-3A9C-438635F18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4D2DAA-D480-2A38-A438-38236864D6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D0AD15-6B46-1FE5-DE42-7ED1306983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B0B7B6-C742-1639-FDAE-C61AF5A8987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8592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F00C2F-75F3-8BB7-94AD-E76625239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6F63F9-36BB-2C75-94A3-2B48959C2D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AB04EC-E54A-C7D7-FA1D-6DBEAA0252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8564B3-88CD-8DA4-3F2C-58C6D4F212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66677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C6421E-7B73-E528-37F6-340BC8D08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049ADB-9DB5-AE96-9E64-5A1F6B2972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D26A28-8534-CA71-7CF8-34FFC9E88A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1AD51F-2EEB-1C90-C97B-3AF08744BC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7475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A6EDF5-0D18-E3AC-CAD7-FEBEA4A726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F13971-8FC5-07C5-333C-B681EE7C1D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AB9F02-5F67-8B00-6A83-178417CA33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30BE65-1BEF-0DAB-A6A7-E0D1DD2D61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21536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18FF95-F22A-8DB2-D2BD-07941D655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61AA90-B802-3C67-2694-0CDA2DC152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8096BE-2B83-67CF-BA30-DE1FED01BC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24920F-B7A2-7A32-08DB-7B994F0A516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28039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FB42AD-2DA5-28B9-2436-C2922B866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8595DE-A863-BBF7-4C0B-3D479CCC1C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F5FED8-DE9F-4547-AFCB-E6743A8B89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6C0FC3-24E4-E377-09F3-D366DBF11E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8832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A82B9F-AE33-9F3F-5632-EF40F126E0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1F59E7-DA9A-7804-9CBF-7C359A2702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564A9D-2F95-C329-E2E2-63760BFE78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D334A1-5622-E6CD-437D-AC797F43C5C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108676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5610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4FADD6-93D4-B4B7-DB3A-5D36F7F099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B0190F-51A7-85D5-7FA1-245370AC39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ED0E85-8F22-413F-B03E-921C09E6DF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22E450-D98B-332A-7532-6B4A988203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618962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22A8A1-9139-94A8-EF0F-63DAEFEAB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699126-0F0A-BE70-848D-43C1D70396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3FF199-DB12-3E51-14F8-420356CC2A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0BD412-1035-A11E-65E4-6ED89BA999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397310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4C4089-935A-79BE-CD07-6B9C6BCB4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247539-0416-9BF8-3EF8-398EB2C1E3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C390DB-89FB-A5A0-51E5-2CD0DC55E4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A1BF9A-9AB7-6F06-7A53-F1B8ABD1F4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994194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0984CC-1105-CB57-576D-AEA57F848D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3BFE28-CADE-B3C9-85C9-C684FEC4AF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23326D-FD59-9340-B195-2949AB9900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786919-99E2-46CA-3C08-16B79DABEB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11922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67F7EB-B75F-7EE6-1712-0205A468C8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845683-9592-611F-25E9-20CC090461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6482EE-A42A-BF9C-45FB-903DA9B3F6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9641E3-A770-78EF-8D73-23A6D7223D8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775324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9C41FF-BB4A-BEC0-1CA8-98CDCCD0F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73B165-77D4-D472-09CD-6EA22E0FF3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EBB8E4-32C1-D4D5-6286-7A8E2AE69E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38A419-02C8-653B-0662-7BEABB27D5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422976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4A1EC3-E463-05EA-8428-0315FBF8C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A924BD-1B36-3476-F2A3-24512E70DF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96612C-ADB3-1D1A-B3C4-51BA8F6722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ED751-FFA9-20AC-4250-867E135C2C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861832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492AB-6A37-A661-01DB-FB44FBB10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67A085-36AC-D002-0BD8-20520DA9EB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D1F13B-FF8F-ED20-F53E-F42F9CF865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9B7A83-5501-E7BE-83C2-A8D412641F7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14307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218122-E3D2-426F-9CD5-4EF0AC2BA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04CECC-4388-B5A3-CF1D-CC8A8E148F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407353-525C-561E-1740-A4B1DD3C79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0B3CC6-8F4D-98D4-6C1F-44A2756C8B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87713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F3F53D-8CF0-4CFC-9383-E802DB30D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320900-D2D8-3EDA-DB0B-DA520805FD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166A0F-7E0D-C1E9-3490-E81EB6FC91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8ABE52-5F41-7709-6CBA-53831779AA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188650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28B03A-FE4D-E57C-43EB-A89ECE5CA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2B01B7-6A04-602F-C04E-DDCBB4BBE2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583D11-AD9F-85D4-EBA1-29846085E6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4BA8F9-BC1C-EF95-4E21-6745D0BBD3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90097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EB4B14-3E60-452A-2884-E3B11D385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9C0C2C-05E3-AEF2-2D4C-48FB901724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130558-F0E1-45C9-6754-6F123B7380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457C85-18FB-19FC-C094-BE55D505B9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315847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5F6661-B85A-A256-57B1-8080EEB26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46CCC7-DC95-5DCE-60FA-6AB7FA1021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546A86-93F1-3A19-1CDA-CC941DDBC3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CE0610-3E08-65A0-E725-162A6105F7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952628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9F19E9-2D47-19FD-CFE0-29ECEE855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A86CE3-D492-6C4A-D498-5DA3EB4D87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C83751-479D-7A85-9778-8DC533BEF8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445A8F-A5AC-A269-93D4-A6FFA7D771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909607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099BA5-35E1-EC61-1FC0-C5A06D69BE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313419-2768-043D-9178-215F245838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D0A8A9-1768-5DFE-8563-49340F6719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F208E4-D428-AF35-D73E-0550E1D0BD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351520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43E89-1A2B-255A-404F-6839146A9D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A886AF-C4DF-4715-D242-B2AEFCC665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8172AB-CC8F-72A6-00EB-A8615C7F97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880BE6-4B85-F38D-C92C-2635E4A03F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078063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9C0080-8EB7-C4C9-9280-3E79B36ED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FC562E-9C80-325B-FF15-642AEBBD83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ED0816-BEA8-66C0-037D-E16D50602F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F8A5E7-248F-1B0B-43E3-AEC6C166F9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54597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50DF30-8D64-B2E0-3A4C-AAEF4DA40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D6F3C9-C2D7-773F-EF39-E6C1721F33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D7CCD3-AF2B-403E-E84A-2FD2B41440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8C3052-EC1B-EEEA-394C-9FA43F20A0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603465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74E03B-CC6B-3545-2916-A71923FFD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E5D473-419B-E545-33C3-A2B9EBC581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D7F709-32F4-D01B-A5D3-EA727EB4F8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D262FD-260D-3D30-08CF-8816D44BF1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301903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E15DF2-622C-1F71-7403-69981B003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B6EC1E-9F92-F22B-F4D0-826ED27DCD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5772F3-0436-DF86-91BA-FE3D4C914E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8AE9D4-9242-796E-461E-65ED0DDB1D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796293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53B1F2-EC35-2169-E541-9F19F9C9EB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6EBA02-AD0A-5E83-7F3A-8EBA032581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59D65F-372A-9784-BAB7-3BA029D211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4A1E43-1841-C339-6836-FA2876F6F66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354792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3209BA-58C7-835E-304A-ADF36EF6C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F3D480-9872-17AC-817E-7916D69FA3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9EA2E8-5105-7A7D-B893-A475282312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4133E4-DED3-19AF-67E7-F79D888343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104755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E0CA74-4CF0-40AD-6CD4-9099CCD10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0C737D-7A34-777F-DA22-1439113F55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E8F6EE-F128-72BB-1171-07426D8B46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B108-8809-FC7F-3634-3748CA8FE3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684032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DD35C7-B331-EFB2-E37A-A589E68CE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27910A-5069-DDFA-4439-18B3340A7F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1DBA7A-635B-8702-9F7D-D13C4F99BC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C3AB48-859F-156C-C8E4-70945A8B23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94228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0F157B-30C5-EA8A-D156-E26C2658A6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8FC9CC-D541-6922-496A-91A3505A81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1CE973-B34B-F74D-A483-9036CDA133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4B5039-5A76-31A3-9FCE-47CA7CAC55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745835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0B9B48-70F9-75D9-D809-E3780B415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7946EB-749E-32C1-40E8-F6534EAC6C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2560C6-7E60-ADB9-A3D3-321E7AFDA2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3FB2B8-B8DF-88CE-F048-E807A8E3F8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983520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584E29-A7C6-2A71-9738-ADE688B51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6973A3-0CA4-DD86-2C62-21E4095BC0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B5682B-B35F-CEEF-26FD-968F3B0361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60926B-61DC-691E-0D73-68E386A890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967732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9CDCE6-252C-8AC8-6A1A-9A5030894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B48C54-7304-A22C-CF31-2273064507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43ECA2-4581-FD61-D52C-48F25D23B2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C7A2B0-DD2C-C999-9689-93C45C162D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372097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694EC9-7742-B3DE-5ABA-C6001D784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8E164B-E8A4-C03F-C636-9D8A75BA6E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ACC6F1-50B2-2A1C-0273-DD91CA7774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226E91-6EB8-52E5-CCCA-E9AC71897E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208654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BB402F-CD83-764D-D635-CC2237506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D1CE64-0C6C-AB97-CD36-3FB7F4A2A2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A9C7A7-CE61-9FD0-088E-4B9D82630E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324E4D-462B-E5F8-9F43-2ED72D764D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388568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AC1B69-69EA-7F1F-51F5-2E4FAABBB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B25912-E731-33F7-581C-EEB12C9915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35A5D4-2B0F-DBF5-0629-0D21997B42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AF211-8DDD-4E2D-8B14-C3A37E3535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772153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B17047-EBC3-6834-9A70-C04A48568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4AF31F-4689-78E3-9E8F-EB52EEB72C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5028F9-FD81-9A00-52A9-80791BBE27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E245F7-C24F-E3DE-B366-51D3856E30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467650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842A8-E2DD-1D34-E14C-BE4D3D5B20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AA1EA9-BA47-A368-0F43-FA3CCB683C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DDA147-3B20-1BF6-6449-BA33A8E86D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4736AA-2B99-F63A-EADB-42A4AF1853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411694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26D137-A280-EF92-71F2-442B65CE5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F647B4-FCA7-36AD-2BCB-B2B210BE73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B172B1-87E1-303C-8578-243427ECA1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BC67FC-85C9-1748-6C44-7CD9886C9C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81579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9A5C58-E7D4-A319-AF1D-EF7B7D9B9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8B5D9D-42DC-ADAD-6B02-29632CDC78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2FE6A7-8818-770C-9F52-11E8B9AD1A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9B4716-D4A1-DB38-6C40-524BC83880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924839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E7474D-5170-2B2B-75EA-BEE206B90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BFA022-8719-4AA9-EBD9-2B9F4363E7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479C15-3E36-29C1-635C-24E4E913DB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FA0351-B603-189D-B146-29C5A15FC6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430449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CBB567-175C-6439-A162-2EB97276A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16AD98-669B-074E-C69A-79F123DA97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53AEE9-7367-FC47-85CB-CD83036108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5D33CD-E3FC-E366-C800-FD46A0AC51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404144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FFE252-1B2F-AE62-C316-8B663468B7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A3443B-2A02-6DB0-D3CE-456EA6A6E3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32B99A-9D00-C165-AAD3-7C9C74F444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D9692E-E3B5-2945-008C-6ED61AF93B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73900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9FC719-551D-01DA-E758-6A35E2612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AA5BC3-3398-7BDD-287E-C403E72839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C92DBD-8E4C-4B6A-F671-DCE77B9F8B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2AA0A7-6B5A-ED1D-1A0E-A43B52EBEA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61373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C7EAB-AE7C-7AD1-086C-701AFC7625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DAE3C4-1469-9C95-F68A-3A771D9F73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5F2FC1-E690-B8EB-555E-771EBCD9D5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F9B562-46B0-8C2B-7E27-7737336656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696960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64C3F0-9015-5020-D2D7-81BDE49187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DE1D43-E986-4366-CB8F-2BEB8BD14F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A85E31-F9DD-C7C0-5926-A49AEA986F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DE9B17-E921-69B9-9EF5-A5187FABC4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694330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68BEDD-4631-6FCE-20BE-D1B026564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187E9C-B196-4725-71DA-8D2E34D667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9C1FCC-4080-A81A-AADE-D667FF98EC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EE633E-BCB9-7117-FB33-1970A7C92B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969009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841C1B-F9F5-A9C8-D3A2-B49298363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831808-D0A8-1DB2-93BD-3C0A0CBDB1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34E1B1-C303-C6A1-4744-2B14666599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C50C88-B266-C687-930A-D04E11B3D7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345518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F82F24-B25D-2218-EE92-DA1C71F62D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59FD1E-4D75-4FE7-8C74-36E2C8C657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00D69C-2971-880C-CEB5-A1E61ABF6A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593241-AB0C-54C0-ED92-9F5D782D505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249392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F07872-DF4C-0742-A674-1810B00DFB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3528C8-09F9-A624-F108-7708EFB194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85B4D7-55E9-F514-CA10-0B38E51C59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C1D3C7-303D-D647-BF86-71BF91D9FD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828232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7E595-0998-34AF-E5F3-9E804D4C7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6CFA28-8761-2BFF-0137-012D5C3058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05DB62-5654-4949-3B3D-D3A27A28DA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FA57B9-2303-B83A-CE9D-D28F469067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783974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F9FBB3-379E-8C08-042C-1F079F151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6B7FE8-915F-BEE9-5B3F-6857B8A865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81FB96-8511-83CC-0AFF-B8439BF142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B6F8BA-EC99-14D5-3FA1-524288A762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841842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04235A-3BB8-FDC5-4942-B97C3E5A59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BB3E80-24BF-C6E7-4CF4-D72711BDB6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820B9F-1E27-9106-8BB1-DD0BE06ED4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4D5A8E-4B9D-6373-8E59-051228C17CD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358345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53B0D6-8C7C-B455-0914-3AEBB36D9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3E8805-6DBE-2F5D-8810-42416C1A0A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E98C9F-F370-81CD-592D-1112EE05D7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E6A2CE-64C4-9504-BB45-E6BD137906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670131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71E258-E570-35B2-4F4D-899E8F5A08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359426-E87D-44EB-753B-910472D5D8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1F0646-FE3E-E1ED-9F63-21BBBF7A73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AFACF9-20F9-79EE-1A5C-8F4FB42E58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783809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D118E-2ACC-5AC8-AF09-60683A1659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1C074A-6810-399A-0640-A783C9E9FD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6AB564-FAA7-5D7F-B1FC-C170123D4D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FB4CDA-A6F0-EDDA-7803-1841F0BA75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328566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2A91DA-C3CE-A78C-698B-445461313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355C40-87B0-2447-B49E-7801D927B4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348C8E-3653-ABE3-48FD-82C0FF7A9E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B847D7-D5F1-AA0B-2D93-0AD474D1A4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197623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91799F-CEC6-D0EE-C4E1-F8DE7B61F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51DBD1-DFAC-899B-9CF8-2BF092031C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1EBA71-F9AD-CF13-D966-B61D440BD1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5F71A3-5165-992B-F440-1010D7C2C1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868034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D56FC-5469-FCF7-E78F-351ABBCE5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82154B-DF4A-BB9D-3829-8AECF09145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B51BBE-88D5-E232-935A-89BA0CAF87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2A3714-57D7-2E63-51F3-99DDBAADAB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545013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B79B9A-7D7F-BE5A-3C08-2D827AE51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13769A-5594-182F-FC5A-DF57BA12C5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C3052C-C6AB-F258-0ECC-DA3B31459F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0E800B-E8B9-B64B-273D-DDD96410DA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637860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655E37-DA61-2676-6DC9-A16317DC9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376337-B517-5CBB-FE0B-8526168207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BAC435-A7DE-91B0-89CF-0C40659AA8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00FE8F-B420-716E-5118-6A3AEA2A4A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792972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1B455E-9324-3759-E8BF-A94398B3C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16613A-48E5-546F-263A-326AD85BF4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A10E72-D6F4-5953-BE1F-C26C30E732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EF6C28-656D-3845-5BC8-5E219E5F12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037235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33AF4-76F2-00C1-B6C0-465E9DECA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85E460-BC46-DB8F-5C2C-9DCFDCF4B5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EDDDFF-2DD5-946C-780F-C78ABD8774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EF3DF7-49BD-F4D0-E1E3-3E3DD921BC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044281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B9E9B6-8C11-F7E8-0453-D5A42200F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0F7A14-90F0-20B3-F56C-59EDCA8297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A0B2CB-243E-1550-55B3-DDC19B27B8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BCAF03-C7B2-E641-3162-60D88E460F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151547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A9A34D-1DBB-9B9D-B40C-5E0EF5B26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9B56BE-4E6D-5231-891A-BB8B8A155E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310F8A-5DE2-6282-102D-4DD35C511C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0EBF8D-D2F6-9EA6-6191-82A6609715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375692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58248D-0CF8-AD70-EC91-72606CC83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E13B05-51D0-0B6E-F682-97A51B1707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B25C68-BF62-5EA4-7175-CFA84BDDCE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46A937-937A-AEC6-3BE0-A25964FB93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464299"/>
      </p:ext>
    </p:extLst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D68396-5932-CFAB-EEF5-2302F294F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AD0A9C-2613-2F1D-0808-58D44F97E6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E556D4-6AB8-16C7-FB45-3E962028BC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A1D842-E3CE-D407-800F-FF8E46BABF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924995"/>
      </p:ext>
    </p:extLst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9E0A2D-F495-CB64-65DF-4D58D397A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33B24B-6ACB-7828-A510-A95936A95A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21EEBD-B14B-C459-0FBE-F87B7D05C0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D12615-4F3B-3770-06F7-4166180E257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023304"/>
      </p:ext>
    </p:extLst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029DD-AF93-6E31-942F-40E05485C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A0C9AF-DC25-9299-34C8-3009DDB522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8FF241-E0E5-BB5E-F4D7-40A6B603C7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94D074-2CA3-4074-5D5F-F77C8B5F6A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595634"/>
      </p:ext>
    </p:extLst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56927C-0B5F-7B16-2A4B-6228147125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F002F8-E5A4-D66B-526F-38ACC1BB5B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2DFD72-A077-276E-E30D-EAAA7CFD10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FE2DCE-1B9C-3A8C-C5BD-74570164AF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293995"/>
      </p:ext>
    </p:extLst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0F3ED7-20CD-A73E-D495-869CCC193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9ADAAD-EB2C-6493-A040-6D37913BAE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043D17-251B-DFF7-2D47-C95E8230AE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4E25E5-7A67-5938-5A47-DA46AB6412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025141"/>
      </p:ext>
    </p:extLst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E900AA-0F5D-B0C9-F7EF-155946F30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0E7052-9774-9723-F04D-E364049B2C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690156-FE81-4D24-14C8-3D697FC339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E5D5F0-07D3-FD7C-578B-467B5DA394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393494"/>
      </p:ext>
    </p:extLst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807AF1-0DB0-20BD-1148-FC0471C22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A7E378-77A4-35F5-E3B0-D15DCD8349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D09915-5636-1003-AC74-A2DDEFE6E0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CE1C26-1208-F79E-DE3A-633162C8AD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994006"/>
      </p:ext>
    </p:extLst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C69B61-D8F9-CDF6-CF3A-17BF33286C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08F21B-45A8-B4DD-C2F9-C7C9F1D91F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F1E9E6-2A41-F23D-D864-4E28D3F5F0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34D0A7-2C21-02AC-BD67-1727A35161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525545"/>
      </p:ext>
    </p:extLst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AEA4D0-ABF2-115E-0F27-7F8C69913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1F1E02-BCC0-3FF0-3A95-D63680491F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570979-BC46-471F-B537-486AD14C6D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4AC13B-180C-E1FC-9FC7-869B69A69F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064775"/>
      </p:ext>
    </p:extLst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2CCF49-67C9-A858-1E24-A37AC49D40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13697E-3C9C-71E2-3774-9B74ADF0BF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3A9196-0AC0-F046-D2F6-BEFFC7A8CA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1F61AF-3FA8-DDDF-2C61-5AA5C566EE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527045"/>
      </p:ext>
    </p:extLst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AC2CD5-E8CF-A75C-3ACC-3C1647ACD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7E4900-D4E4-E27A-DC22-6AA0649860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6C2B8F-AAF9-D526-083C-0012D6B96E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7CB5B3-7A59-4215-1768-1A5EF4FB92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250241"/>
      </p:ext>
    </p:extLst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0C945-6C59-4A6F-E0DF-B7B5DA449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F455A2-8728-79B2-C92E-9C23A38F38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EA9FF8-0E96-F2D6-0F01-8B7233E424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3EF6FD-B8D1-949F-CCC2-194E07E7898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210703"/>
      </p:ext>
    </p:extLst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B2487-2070-C660-6C12-9B4285026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67A28D-6692-D0FC-7E44-B1189666F9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A7DFE3-F3DD-BA23-C620-182A250E10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EEBA8E-5E93-E405-F06A-B31FDEB800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744610"/>
      </p:ext>
    </p:extLst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3A43ED-5C0D-DAB2-F18D-CA76890CD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866522-792A-A1C4-5930-59597592F1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EF9364-8F77-5A60-2278-05F211B339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666651-E1E8-6F36-27A5-C89DD8D77EC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039679"/>
      </p:ext>
    </p:extLst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A0201D-944E-1656-F8DF-DEBEF685C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59A7CE-C5CC-454D-C90E-B1A409F7A9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EE466B-13FB-8D0E-4DA9-78C0AD1524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3D8C66-9BA7-4701-5747-651585F2AB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845909"/>
      </p:ext>
    </p:extLst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879C01-5397-D2AB-5DFF-F2225CD67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FB7CED-7B1E-5C96-931B-4852518E4B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E7D68F-D5CB-E211-4AFF-59E80D347C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432D89-F301-E694-4AA6-E96E2CA1B1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225032"/>
      </p:ext>
    </p:extLst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1E1142-E5B1-34C3-E90A-EAC71EADD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316E73-0AD7-9C51-0280-EF591D3498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3DF16C-A7D3-2497-EA4C-BDC9D4EF5D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0B95A8-72DB-1656-B10F-056B4B821E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722391"/>
      </p:ext>
    </p:extLst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23D9ED-A6B8-84A8-7336-1938ABBC4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66D227-C154-938D-3B75-8817EEADF1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045438-C4D1-72FD-170C-0DCB34CF4C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F0FEF9-54D4-0E23-844E-9A42841C5FB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222683"/>
      </p:ext>
    </p:extLst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2C4E50-26C7-0A4B-70CE-CEDC804F8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5BA9E9-B62C-630B-F972-86200D909E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036CF1-0652-A687-9D2A-D144DCB2AB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216F5B-8BD5-89A6-00F9-197DA3E56F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113598"/>
      </p:ext>
    </p:extLst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2D1B77-0D59-0A54-CFE1-C09BB1F475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8D8A4E-B9EB-4C8E-6857-5C1678548E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91FBC1-A1D0-3506-D42E-CFFC2CEEE9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E9DE6F-2616-6B96-B7A8-D92F5801DB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056466"/>
      </p:ext>
    </p:extLst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png"/><Relationship Id="rId7" Type="http://schemas.openxmlformats.org/officeDocument/2006/relationships/image" Target="../media/image6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8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1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1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1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1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1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1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1.xml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1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1.xml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1.xml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1.xml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1.xml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7.png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8.png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9.png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0.png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1.png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2.png"/></Relationships>
</file>

<file path=ppt/slides/_rels/slide1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3.png"/></Relationships>
</file>

<file path=ppt/slides/_rels/slide1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4.png"/></Relationships>
</file>

<file path=ppt/slides/_rels/slide1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5.png"/></Relationships>
</file>

<file path=ppt/slides/_rels/slide1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6.png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7.png"/></Relationships>
</file>

<file path=ppt/slides/_rels/slide1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8.png"/></Relationships>
</file>

<file path=ppt/slides/_rels/slide1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9.png"/></Relationships>
</file>

<file path=ppt/slides/_rels/slide1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0.png"/></Relationships>
</file>

<file path=ppt/slides/_rels/slide1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1.png"/></Relationships>
</file>

<file path=ppt/slides/_rels/slide1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2.png"/></Relationships>
</file>

<file path=ppt/slides/_rels/slide1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9.xml"/><Relationship Id="rId1" Type="http://schemas.openxmlformats.org/officeDocument/2006/relationships/slideLayout" Target="../slideLayouts/slideLayout1.xml"/></Relationships>
</file>

<file path=ppt/slides/_rels/slide1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0.xml"/><Relationship Id="rId1" Type="http://schemas.openxmlformats.org/officeDocument/2006/relationships/slideLayout" Target="../slideLayouts/slideLayout1.xml"/></Relationships>
</file>

<file path=ppt/slides/_rels/slide1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1.xml"/><Relationship Id="rId1" Type="http://schemas.openxmlformats.org/officeDocument/2006/relationships/slideLayout" Target="../slideLayouts/slideLayout1.xml"/></Relationships>
</file>

<file path=ppt/slides/_rels/slide1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2.xml"/><Relationship Id="rId1" Type="http://schemas.openxmlformats.org/officeDocument/2006/relationships/slideLayout" Target="../slideLayouts/slideLayout1.xml"/></Relationships>
</file>

<file path=ppt/slides/_rels/slide1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3.xml"/><Relationship Id="rId1" Type="http://schemas.openxmlformats.org/officeDocument/2006/relationships/slideLayout" Target="../slideLayouts/slideLayout1.xml"/></Relationships>
</file>

<file path=ppt/slides/_rels/slide1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4.xml"/><Relationship Id="rId1" Type="http://schemas.openxmlformats.org/officeDocument/2006/relationships/slideLayout" Target="../slideLayouts/slideLayout1.xml"/></Relationships>
</file>

<file path=ppt/slides/_rels/slide1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5.xml"/><Relationship Id="rId1" Type="http://schemas.openxmlformats.org/officeDocument/2006/relationships/slideLayout" Target="../slideLayouts/slideLayout1.xml"/></Relationships>
</file>

<file path=ppt/slides/_rels/slide1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6.xml"/><Relationship Id="rId1" Type="http://schemas.openxmlformats.org/officeDocument/2006/relationships/slideLayout" Target="../slideLayouts/slideLayout1.xml"/></Relationships>
</file>

<file path=ppt/slides/_rels/slide1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7.xml"/><Relationship Id="rId1" Type="http://schemas.openxmlformats.org/officeDocument/2006/relationships/slideLayout" Target="../slideLayouts/slideLayout1.xml"/></Relationships>
</file>

<file path=ppt/slides/_rels/slide1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3.png"/></Relationships>
</file>

<file path=ppt/slides/_rels/slide1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9.xml"/><Relationship Id="rId1" Type="http://schemas.openxmlformats.org/officeDocument/2006/relationships/slideLayout" Target="../slideLayouts/slideLayout1.xml"/></Relationships>
</file>

<file path=ppt/slides/_rels/slide1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0.xml"/><Relationship Id="rId1" Type="http://schemas.openxmlformats.org/officeDocument/2006/relationships/slideLayout" Target="../slideLayouts/slideLayout1.xml"/></Relationships>
</file>

<file path=ppt/slides/_rels/slide1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1.xml"/><Relationship Id="rId1" Type="http://schemas.openxmlformats.org/officeDocument/2006/relationships/slideLayout" Target="../slideLayouts/slideLayout1.xml"/></Relationships>
</file>

<file path=ppt/slides/_rels/slide1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16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5.png"/></Relationships>
</file>

<file path=ppt/slides/_rels/slide1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6.png"/></Relationships>
</file>

<file path=ppt/slides/_rels/slide1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7.png"/></Relationships>
</file>

<file path=ppt/slides/_rels/slide1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8.png"/></Relationships>
</file>

<file path=ppt/slides/_rels/slide1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1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1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4.jpg"/><Relationship Id="rId4" Type="http://schemas.openxmlformats.org/officeDocument/2006/relationships/image" Target="../media/image73.png"/></Relationships>
</file>

<file path=ppt/slides/_rels/slide1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6.jpg"/><Relationship Id="rId4" Type="http://schemas.openxmlformats.org/officeDocument/2006/relationships/image" Target="../media/image75.png"/></Relationships>
</file>

<file path=ppt/slides/_rels/slide1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6.jpg"/></Relationships>
</file>

<file path=ppt/slides/_rels/slide1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6.jpg"/></Relationships>
</file>

<file path=ppt/slides/_rels/slide1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6.jpg"/></Relationships>
</file>

<file path=ppt/slides/_rels/slide1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6.jpg"/></Relationships>
</file>

<file path=ppt/slides/_rels/slide1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6.jpg"/></Relationships>
</file>

<file path=ppt/slides/_rels/slide1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6.jpg"/></Relationships>
</file>

<file path=ppt/slides/_rels/slide1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6.jpg"/></Relationships>
</file>

<file path=ppt/slides/_rels/slide1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6.jpg"/></Relationships>
</file>

<file path=ppt/slides/_rels/slide1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6.jpg"/></Relationships>
</file>

<file path=ppt/slides/_rels/slide1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7.png"/></Relationships>
</file>

<file path=ppt/slides/_rels/slide1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1.xml"/><Relationship Id="rId1" Type="http://schemas.openxmlformats.org/officeDocument/2006/relationships/slideLayout" Target="../slideLayouts/slideLayout1.xml"/></Relationships>
</file>

<file path=ppt/slides/_rels/slide1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2.xml"/><Relationship Id="rId1" Type="http://schemas.openxmlformats.org/officeDocument/2006/relationships/slideLayout" Target="../slideLayouts/slideLayout1.xml"/></Relationships>
</file>

<file path=ppt/slides/_rels/slide1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3.xml"/><Relationship Id="rId1" Type="http://schemas.openxmlformats.org/officeDocument/2006/relationships/slideLayout" Target="../slideLayouts/slideLayout1.xml"/></Relationships>
</file>

<file path=ppt/slides/_rels/slide1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4.xml"/><Relationship Id="rId1" Type="http://schemas.openxmlformats.org/officeDocument/2006/relationships/slideLayout" Target="../slideLayouts/slideLayout1.xml"/></Relationships>
</file>

<file path=ppt/slides/_rels/slide1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5.xml"/><Relationship Id="rId1" Type="http://schemas.openxmlformats.org/officeDocument/2006/relationships/slideLayout" Target="../slideLayouts/slideLayout1.xml"/></Relationships>
</file>

<file path=ppt/slides/_rels/slide1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6.xml"/><Relationship Id="rId1" Type="http://schemas.openxmlformats.org/officeDocument/2006/relationships/slideLayout" Target="../slideLayouts/slideLayout1.xml"/></Relationships>
</file>

<file path=ppt/slides/_rels/slide1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7.xml"/><Relationship Id="rId1" Type="http://schemas.openxmlformats.org/officeDocument/2006/relationships/slideLayout" Target="../slideLayouts/slideLayout1.xml"/></Relationships>
</file>

<file path=ppt/slides/_rels/slide1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8.xml"/><Relationship Id="rId1" Type="http://schemas.openxmlformats.org/officeDocument/2006/relationships/slideLayout" Target="../slideLayouts/slideLayout1.xml"/></Relationships>
</file>

<file path=ppt/slides/_rels/slide1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9.xml"/><Relationship Id="rId1" Type="http://schemas.openxmlformats.org/officeDocument/2006/relationships/slideLayout" Target="../slideLayouts/slideLayout1.xml"/></Relationships>
</file>

<file path=ppt/slides/_rels/slide1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0.xml"/><Relationship Id="rId1" Type="http://schemas.openxmlformats.org/officeDocument/2006/relationships/slideLayout" Target="../slideLayouts/slideLayout1.xml"/></Relationships>
</file>

<file path=ppt/slides/_rels/slide1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1.xml"/><Relationship Id="rId1" Type="http://schemas.openxmlformats.org/officeDocument/2006/relationships/slideLayout" Target="../slideLayouts/slideLayout1.xml"/></Relationships>
</file>

<file path=ppt/slides/_rels/slide1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2.xml"/><Relationship Id="rId1" Type="http://schemas.openxmlformats.org/officeDocument/2006/relationships/slideLayout" Target="../slideLayouts/slideLayout1.xml"/></Relationships>
</file>

<file path=ppt/slides/_rels/slide1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3.xml"/><Relationship Id="rId1" Type="http://schemas.openxmlformats.org/officeDocument/2006/relationships/slideLayout" Target="../slideLayouts/slideLayout1.xml"/></Relationships>
</file>

<file path=ppt/slides/_rels/slide1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4.xml"/><Relationship Id="rId1" Type="http://schemas.openxmlformats.org/officeDocument/2006/relationships/slideLayout" Target="../slideLayouts/slideLayout1.xml"/></Relationships>
</file>

<file path=ppt/slides/_rels/slide1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5.xml"/><Relationship Id="rId1" Type="http://schemas.openxmlformats.org/officeDocument/2006/relationships/slideLayout" Target="../slideLayouts/slideLayout1.xml"/></Relationships>
</file>

<file path=ppt/slides/_rels/slide1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6.xml"/><Relationship Id="rId1" Type="http://schemas.openxmlformats.org/officeDocument/2006/relationships/slideLayout" Target="../slideLayouts/slideLayout1.xml"/></Relationships>
</file>

<file path=ppt/slides/_rels/slide1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7.xml"/><Relationship Id="rId1" Type="http://schemas.openxmlformats.org/officeDocument/2006/relationships/slideLayout" Target="../slideLayouts/slideLayout1.xml"/></Relationships>
</file>

<file path=ppt/slides/_rels/slide1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8.xml"/><Relationship Id="rId1" Type="http://schemas.openxmlformats.org/officeDocument/2006/relationships/slideLayout" Target="../slideLayouts/slideLayout1.xml"/></Relationships>
</file>

<file path=ppt/slides/_rels/slide2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9.xml"/><Relationship Id="rId1" Type="http://schemas.openxmlformats.org/officeDocument/2006/relationships/slideLayout" Target="../slideLayouts/slideLayout1.xml"/></Relationships>
</file>

<file path=ppt/slides/_rels/slide2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0.xml"/><Relationship Id="rId1" Type="http://schemas.openxmlformats.org/officeDocument/2006/relationships/slideLayout" Target="../slideLayouts/slideLayout1.xml"/></Relationships>
</file>

<file path=ppt/slides/_rels/slide2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1.xml"/><Relationship Id="rId1" Type="http://schemas.openxmlformats.org/officeDocument/2006/relationships/slideLayout" Target="../slideLayouts/slideLayout1.xml"/></Relationships>
</file>

<file path=ppt/slides/_rels/slide2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2.xml"/><Relationship Id="rId1" Type="http://schemas.openxmlformats.org/officeDocument/2006/relationships/slideLayout" Target="../slideLayouts/slideLayout1.xml"/></Relationships>
</file>

<file path=ppt/slides/_rels/slide2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3.xml"/><Relationship Id="rId1" Type="http://schemas.openxmlformats.org/officeDocument/2006/relationships/slideLayout" Target="../slideLayouts/slideLayout1.xml"/></Relationships>
</file>

<file path=ppt/slides/_rels/slide2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4.xml"/><Relationship Id="rId1" Type="http://schemas.openxmlformats.org/officeDocument/2006/relationships/slideLayout" Target="../slideLayouts/slideLayout1.xml"/></Relationships>
</file>

<file path=ppt/slides/_rels/slide2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5.xml"/><Relationship Id="rId1" Type="http://schemas.openxmlformats.org/officeDocument/2006/relationships/slideLayout" Target="../slideLayouts/slideLayout1.xml"/></Relationships>
</file>

<file path=ppt/slides/_rels/slide2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6.xml"/><Relationship Id="rId1" Type="http://schemas.openxmlformats.org/officeDocument/2006/relationships/slideLayout" Target="../slideLayouts/slideLayout1.xml"/></Relationships>
</file>

<file path=ppt/slides/_rels/slide2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7.xml"/><Relationship Id="rId1" Type="http://schemas.openxmlformats.org/officeDocument/2006/relationships/slideLayout" Target="../slideLayouts/slideLayout1.xml"/></Relationships>
</file>

<file path=ppt/slides/_rels/slide2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8.xml"/><Relationship Id="rId1" Type="http://schemas.openxmlformats.org/officeDocument/2006/relationships/slideLayout" Target="../slideLayouts/slideLayout1.xml"/></Relationships>
</file>

<file path=ppt/slides/_rels/slide2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9.xml"/><Relationship Id="rId1" Type="http://schemas.openxmlformats.org/officeDocument/2006/relationships/slideLayout" Target="../slideLayouts/slideLayout1.xml"/></Relationships>
</file>

<file path=ppt/slides/_rels/slide2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0.xml"/><Relationship Id="rId1" Type="http://schemas.openxmlformats.org/officeDocument/2006/relationships/slideLayout" Target="../slideLayouts/slideLayout1.xml"/></Relationships>
</file>

<file path=ppt/slides/_rels/slide2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1.xml"/><Relationship Id="rId1" Type="http://schemas.openxmlformats.org/officeDocument/2006/relationships/slideLayout" Target="../slideLayouts/slideLayout1.xml"/></Relationships>
</file>

<file path=ppt/slides/_rels/slide2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2.xml"/><Relationship Id="rId1" Type="http://schemas.openxmlformats.org/officeDocument/2006/relationships/slideLayout" Target="../slideLayouts/slideLayout1.xml"/></Relationships>
</file>

<file path=ppt/slides/_rels/slide2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3.xml"/><Relationship Id="rId1" Type="http://schemas.openxmlformats.org/officeDocument/2006/relationships/slideLayout" Target="../slideLayouts/slideLayout1.xml"/></Relationships>
</file>

<file path=ppt/slides/_rels/slide2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4.xml"/><Relationship Id="rId1" Type="http://schemas.openxmlformats.org/officeDocument/2006/relationships/slideLayout" Target="../slideLayouts/slideLayout1.xml"/></Relationships>
</file>

<file path=ppt/slides/_rels/slide2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5.xml"/><Relationship Id="rId1" Type="http://schemas.openxmlformats.org/officeDocument/2006/relationships/slideLayout" Target="../slideLayouts/slideLayout1.xml"/></Relationships>
</file>

<file path=ppt/slides/_rels/slide2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6.xml"/><Relationship Id="rId1" Type="http://schemas.openxmlformats.org/officeDocument/2006/relationships/slideLayout" Target="../slideLayouts/slideLayout1.xml"/></Relationships>
</file>

<file path=ppt/slides/_rels/slide2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7.xml"/><Relationship Id="rId1" Type="http://schemas.openxmlformats.org/officeDocument/2006/relationships/slideLayout" Target="../slideLayouts/slideLayout1.xml"/></Relationships>
</file>

<file path=ppt/slides/_rels/slide2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8.xml"/><Relationship Id="rId1" Type="http://schemas.openxmlformats.org/officeDocument/2006/relationships/slideLayout" Target="../slideLayouts/slideLayout1.xml"/></Relationships>
</file>

<file path=ppt/slides/_rels/slide2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9.xml"/><Relationship Id="rId1" Type="http://schemas.openxmlformats.org/officeDocument/2006/relationships/slideLayout" Target="../slideLayouts/slideLayout1.xml"/></Relationships>
</file>

<file path=ppt/slides/_rels/slide2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0.xml"/><Relationship Id="rId1" Type="http://schemas.openxmlformats.org/officeDocument/2006/relationships/slideLayout" Target="../slideLayouts/slideLayout1.xml"/></Relationships>
</file>

<file path=ppt/slides/_rels/slide2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1.xml"/><Relationship Id="rId1" Type="http://schemas.openxmlformats.org/officeDocument/2006/relationships/slideLayout" Target="../slideLayouts/slideLayout1.xml"/></Relationships>
</file>

<file path=ppt/slides/_rels/slide2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2.xml"/><Relationship Id="rId1" Type="http://schemas.openxmlformats.org/officeDocument/2006/relationships/slideLayout" Target="../slideLayouts/slideLayout1.xml"/></Relationships>
</file>

<file path=ppt/slides/_rels/slide2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3.xml"/><Relationship Id="rId1" Type="http://schemas.openxmlformats.org/officeDocument/2006/relationships/slideLayout" Target="../slideLayouts/slideLayout1.xml"/></Relationships>
</file>

<file path=ppt/slides/_rels/slide2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4.xml"/><Relationship Id="rId1" Type="http://schemas.openxmlformats.org/officeDocument/2006/relationships/slideLayout" Target="../slideLayouts/slideLayout1.xml"/></Relationships>
</file>

<file path=ppt/slides/_rels/slide2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5.xml"/><Relationship Id="rId1" Type="http://schemas.openxmlformats.org/officeDocument/2006/relationships/slideLayout" Target="../slideLayouts/slideLayout1.xml"/></Relationships>
</file>

<file path=ppt/slides/_rels/slide2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6.xml"/><Relationship Id="rId1" Type="http://schemas.openxmlformats.org/officeDocument/2006/relationships/slideLayout" Target="../slideLayouts/slideLayout1.xml"/></Relationships>
</file>

<file path=ppt/slides/_rels/slide2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7.xml"/><Relationship Id="rId1" Type="http://schemas.openxmlformats.org/officeDocument/2006/relationships/slideLayout" Target="../slideLayouts/slideLayout1.xml"/></Relationships>
</file>

<file path=ppt/slides/_rels/slide2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8.xml"/><Relationship Id="rId1" Type="http://schemas.openxmlformats.org/officeDocument/2006/relationships/slideLayout" Target="../slideLayouts/slideLayout1.xml"/></Relationships>
</file>

<file path=ppt/slides/_rels/slide2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9.xml"/><Relationship Id="rId1" Type="http://schemas.openxmlformats.org/officeDocument/2006/relationships/slideLayout" Target="../slideLayouts/slideLayout1.xml"/></Relationships>
</file>

<file path=ppt/slides/_rels/slide2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0.xml"/><Relationship Id="rId1" Type="http://schemas.openxmlformats.org/officeDocument/2006/relationships/slideLayout" Target="../slideLayouts/slideLayout1.xml"/></Relationships>
</file>

<file path=ppt/slides/_rels/slide2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1.xml"/><Relationship Id="rId1" Type="http://schemas.openxmlformats.org/officeDocument/2006/relationships/slideLayout" Target="../slideLayouts/slideLayout1.xml"/></Relationships>
</file>

<file path=ppt/slides/_rels/slide2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2.xml"/><Relationship Id="rId1" Type="http://schemas.openxmlformats.org/officeDocument/2006/relationships/slideLayout" Target="../slideLayouts/slideLayout1.xml"/></Relationships>
</file>

<file path=ppt/slides/_rels/slide2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3.xml"/><Relationship Id="rId1" Type="http://schemas.openxmlformats.org/officeDocument/2006/relationships/slideLayout" Target="../slideLayouts/slideLayout1.xml"/></Relationships>
</file>

<file path=ppt/slides/_rels/slide2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4.xml"/><Relationship Id="rId1" Type="http://schemas.openxmlformats.org/officeDocument/2006/relationships/slideLayout" Target="../slideLayouts/slideLayout1.xml"/></Relationships>
</file>

<file path=ppt/slides/_rels/slide2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5.xml"/><Relationship Id="rId1" Type="http://schemas.openxmlformats.org/officeDocument/2006/relationships/slideLayout" Target="../slideLayouts/slideLayout1.xml"/></Relationships>
</file>

<file path=ppt/slides/_rels/slide2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6.xml"/><Relationship Id="rId1" Type="http://schemas.openxmlformats.org/officeDocument/2006/relationships/slideLayout" Target="../slideLayouts/slideLayout1.xml"/></Relationships>
</file>

<file path=ppt/slides/_rels/slide2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7.xml"/><Relationship Id="rId1" Type="http://schemas.openxmlformats.org/officeDocument/2006/relationships/slideLayout" Target="../slideLayouts/slideLayout1.xml"/></Relationships>
</file>

<file path=ppt/slides/_rels/slide2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8.xml"/><Relationship Id="rId1" Type="http://schemas.openxmlformats.org/officeDocument/2006/relationships/slideLayout" Target="../slideLayouts/slideLayout1.xml"/></Relationships>
</file>

<file path=ppt/slides/_rels/slide2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9.xml"/><Relationship Id="rId1" Type="http://schemas.openxmlformats.org/officeDocument/2006/relationships/slideLayout" Target="../slideLayouts/slideLayout1.xml"/></Relationships>
</file>

<file path=ppt/slides/_rels/slide2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0.xml"/><Relationship Id="rId1" Type="http://schemas.openxmlformats.org/officeDocument/2006/relationships/slideLayout" Target="../slideLayouts/slideLayout1.xml"/></Relationships>
</file>

<file path=ppt/slides/_rels/slide2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1.xml"/><Relationship Id="rId1" Type="http://schemas.openxmlformats.org/officeDocument/2006/relationships/slideLayout" Target="../slideLayouts/slideLayout1.xml"/></Relationships>
</file>

<file path=ppt/slides/_rels/slide2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2.xml"/><Relationship Id="rId1" Type="http://schemas.openxmlformats.org/officeDocument/2006/relationships/slideLayout" Target="../slideLayouts/slideLayout1.xml"/></Relationships>
</file>

<file path=ppt/slides/_rels/slide2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3.xml"/><Relationship Id="rId1" Type="http://schemas.openxmlformats.org/officeDocument/2006/relationships/slideLayout" Target="../slideLayouts/slideLayout1.xml"/></Relationships>
</file>

<file path=ppt/slides/_rels/slide2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4.xml"/><Relationship Id="rId1" Type="http://schemas.openxmlformats.org/officeDocument/2006/relationships/slideLayout" Target="../slideLayouts/slideLayout1.xml"/></Relationships>
</file>

<file path=ppt/slides/_rels/slide2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5.xml"/><Relationship Id="rId1" Type="http://schemas.openxmlformats.org/officeDocument/2006/relationships/slideLayout" Target="../slideLayouts/slideLayout1.xml"/></Relationships>
</file>

<file path=ppt/slides/_rels/slide2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6.xml"/><Relationship Id="rId1" Type="http://schemas.openxmlformats.org/officeDocument/2006/relationships/slideLayout" Target="../slideLayouts/slideLayout1.xml"/></Relationships>
</file>

<file path=ppt/slides/_rels/slide2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7.xml"/><Relationship Id="rId1" Type="http://schemas.openxmlformats.org/officeDocument/2006/relationships/slideLayout" Target="../slideLayouts/slideLayout1.xml"/></Relationships>
</file>

<file path=ppt/slides/_rels/slide2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8.xml"/><Relationship Id="rId1" Type="http://schemas.openxmlformats.org/officeDocument/2006/relationships/slideLayout" Target="../slideLayouts/slideLayout1.xml"/></Relationships>
</file>

<file path=ppt/slides/_rels/slide2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9.xml"/><Relationship Id="rId1" Type="http://schemas.openxmlformats.org/officeDocument/2006/relationships/slideLayout" Target="../slideLayouts/slideLayout1.xml"/></Relationships>
</file>

<file path=ppt/slides/_rels/slide2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0.xml"/><Relationship Id="rId1" Type="http://schemas.openxmlformats.org/officeDocument/2006/relationships/slideLayout" Target="../slideLayouts/slideLayout1.xml"/></Relationships>
</file>

<file path=ppt/slides/_rels/slide2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1.xml"/><Relationship Id="rId1" Type="http://schemas.openxmlformats.org/officeDocument/2006/relationships/slideLayout" Target="../slideLayouts/slideLayout1.xml"/></Relationships>
</file>

<file path=ppt/slides/_rels/slide2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2.xml"/><Relationship Id="rId1" Type="http://schemas.openxmlformats.org/officeDocument/2006/relationships/slideLayout" Target="../slideLayouts/slideLayout1.xml"/></Relationships>
</file>

<file path=ppt/slides/_rels/slide2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3.xml"/><Relationship Id="rId1" Type="http://schemas.openxmlformats.org/officeDocument/2006/relationships/slideLayout" Target="../slideLayouts/slideLayout1.xml"/></Relationships>
</file>

<file path=ppt/slides/_rels/slide2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4.xml"/><Relationship Id="rId1" Type="http://schemas.openxmlformats.org/officeDocument/2006/relationships/slideLayout" Target="../slideLayouts/slideLayout1.xml"/></Relationships>
</file>

<file path=ppt/slides/_rels/slide2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5.xml"/><Relationship Id="rId1" Type="http://schemas.openxmlformats.org/officeDocument/2006/relationships/slideLayout" Target="../slideLayouts/slideLayout1.xml"/></Relationships>
</file>

<file path=ppt/slides/_rels/slide2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6.xml"/><Relationship Id="rId1" Type="http://schemas.openxmlformats.org/officeDocument/2006/relationships/slideLayout" Target="../slideLayouts/slideLayout1.xml"/></Relationships>
</file>

<file path=ppt/slides/_rels/slide2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7.xml"/><Relationship Id="rId1" Type="http://schemas.openxmlformats.org/officeDocument/2006/relationships/slideLayout" Target="../slideLayouts/slideLayout1.xml"/></Relationships>
</file>

<file path=ppt/slides/_rels/slide2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8.xml"/><Relationship Id="rId1" Type="http://schemas.openxmlformats.org/officeDocument/2006/relationships/slideLayout" Target="../slideLayouts/slideLayout1.xml"/></Relationships>
</file>

<file path=ppt/slides/_rels/slide2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9.xml"/><Relationship Id="rId1" Type="http://schemas.openxmlformats.org/officeDocument/2006/relationships/slideLayout" Target="../slideLayouts/slideLayout1.xml"/></Relationships>
</file>

<file path=ppt/slides/_rels/slide2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DF5E949-39EA-F0A5-EA11-A8262B63A3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8877" y="2340391"/>
            <a:ext cx="3834246" cy="3834246"/>
          </a:xfrm>
          <a:prstGeom prst="ellipse">
            <a:avLst/>
          </a:prstGeom>
          <a:ln w="190500" cap="rnd">
            <a:solidFill>
              <a:srgbClr val="C8C6BD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1C242022-2749-8C3D-EC05-11B96B9A5F8A}"/>
              </a:ext>
            </a:extLst>
          </p:cNvPr>
          <p:cNvSpPr/>
          <p:nvPr/>
        </p:nvSpPr>
        <p:spPr>
          <a:xfrm>
            <a:off x="2012100" y="675187"/>
            <a:ext cx="8167493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72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CURSO DE PYTHON</a:t>
            </a:r>
          </a:p>
        </p:txBody>
      </p:sp>
      <p:sp>
        <p:nvSpPr>
          <p:cNvPr id="8" name="Shape 0">
            <a:extLst>
              <a:ext uri="{FF2B5EF4-FFF2-40B4-BE49-F238E27FC236}">
                <a16:creationId xmlns:a16="http://schemas.microsoft.com/office/drawing/2014/main" id="{58C75B24-BF5D-F856-A55F-B750E119DF69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Shape 1">
            <a:extLst>
              <a:ext uri="{FF2B5EF4-FFF2-40B4-BE49-F238E27FC236}">
                <a16:creationId xmlns:a16="http://schemas.microsoft.com/office/drawing/2014/main" id="{0E0F1873-380C-7161-4C0F-DD1DE9B0D15D}"/>
              </a:ext>
            </a:extLst>
          </p:cNvPr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493731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62826B-BB14-1D86-0AD3-284ED7C89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365AEC9-F632-DB8C-C6EB-5CD07A51D3B2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3019643-D543-6480-7756-8C05E1F2FE1F}"/>
              </a:ext>
            </a:extLst>
          </p:cNvPr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C09C3A6-7310-589A-6E54-F954519BF945}"/>
              </a:ext>
            </a:extLst>
          </p:cNvPr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70A4A55-EC97-40AE-8131-D1982365B568}"/>
              </a:ext>
            </a:extLst>
          </p:cNvPr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75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683DBA7-15B8-0DE1-DF14-5C736862507B}"/>
              </a:ext>
            </a:extLst>
          </p:cNvPr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Ruta del curso</a:t>
            </a:r>
            <a:endParaRPr lang="en-US" sz="75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D88AE0A1-5CDE-4C8E-7EF1-15AE30344963}"/>
              </a:ext>
            </a:extLst>
          </p:cNvPr>
          <p:cNvSpPr/>
          <p:nvPr/>
        </p:nvSpPr>
        <p:spPr>
          <a:xfrm>
            <a:off x="502920" y="502920"/>
            <a:ext cx="1097280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Ruta de aprendizaje en 10 sesiones</a:t>
            </a:r>
            <a:endParaRPr lang="en-US" sz="280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53796BB6-98AD-00B9-DD92-C5DD034DD321}"/>
              </a:ext>
            </a:extLst>
          </p:cNvPr>
          <p:cNvSpPr/>
          <p:nvPr/>
        </p:nvSpPr>
        <p:spPr>
          <a:xfrm>
            <a:off x="594360" y="1600200"/>
            <a:ext cx="1874520" cy="777240"/>
          </a:xfrm>
          <a:prstGeom prst="roundRect">
            <a:avLst>
              <a:gd name="adj" fmla="val 14118"/>
            </a:avLst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C568D97-4611-8685-CBE3-7FD9A5401D9C}"/>
              </a:ext>
            </a:extLst>
          </p:cNvPr>
          <p:cNvSpPr/>
          <p:nvPr/>
        </p:nvSpPr>
        <p:spPr>
          <a:xfrm>
            <a:off x="731520" y="1728216"/>
            <a:ext cx="16002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1. Entorno</a:t>
            </a:r>
            <a:endParaRPr lang="en-US" sz="125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292DA8BF-7927-52B4-2097-DCFDF811DCA7}"/>
              </a:ext>
            </a:extLst>
          </p:cNvPr>
          <p:cNvSpPr/>
          <p:nvPr/>
        </p:nvSpPr>
        <p:spPr>
          <a:xfrm>
            <a:off x="2834640" y="1600200"/>
            <a:ext cx="1874520" cy="777240"/>
          </a:xfrm>
          <a:prstGeom prst="roundRect">
            <a:avLst>
              <a:gd name="adj" fmla="val 14118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D4A38343-55C8-67C0-2670-E4C23CB2933E}"/>
              </a:ext>
            </a:extLst>
          </p:cNvPr>
          <p:cNvSpPr/>
          <p:nvPr/>
        </p:nvSpPr>
        <p:spPr>
          <a:xfrm>
            <a:off x="2971800" y="1728216"/>
            <a:ext cx="16002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C4E80"/>
                </a:solidFill>
              </a:rPr>
              <a:t>2. Sintaxis</a:t>
            </a:r>
            <a:endParaRPr lang="en-US" sz="125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37756D6C-C555-7131-7DFB-71AEC3B150AE}"/>
              </a:ext>
            </a:extLst>
          </p:cNvPr>
          <p:cNvSpPr/>
          <p:nvPr/>
        </p:nvSpPr>
        <p:spPr>
          <a:xfrm>
            <a:off x="5074920" y="1600200"/>
            <a:ext cx="1874520" cy="777240"/>
          </a:xfrm>
          <a:prstGeom prst="roundRect">
            <a:avLst>
              <a:gd name="adj" fmla="val 14118"/>
            </a:avLst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F9A0D040-5E0B-4426-726F-19E1D42C0054}"/>
              </a:ext>
            </a:extLst>
          </p:cNvPr>
          <p:cNvSpPr/>
          <p:nvPr/>
        </p:nvSpPr>
        <p:spPr>
          <a:xfrm>
            <a:off x="5212080" y="1728216"/>
            <a:ext cx="16002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3. Datos</a:t>
            </a:r>
            <a:endParaRPr lang="en-US" sz="125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9A1361D2-9382-B5C2-1A55-C4281457EB56}"/>
              </a:ext>
            </a:extLst>
          </p:cNvPr>
          <p:cNvSpPr/>
          <p:nvPr/>
        </p:nvSpPr>
        <p:spPr>
          <a:xfrm>
            <a:off x="7315200" y="1600200"/>
            <a:ext cx="1874520" cy="777240"/>
          </a:xfrm>
          <a:prstGeom prst="roundRect">
            <a:avLst>
              <a:gd name="adj" fmla="val 14118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A04B796E-885F-5A90-BB19-31EC09FA99B0}"/>
              </a:ext>
            </a:extLst>
          </p:cNvPr>
          <p:cNvSpPr/>
          <p:nvPr/>
        </p:nvSpPr>
        <p:spPr>
          <a:xfrm>
            <a:off x="7452360" y="1728216"/>
            <a:ext cx="16002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C4E80"/>
                </a:solidFill>
              </a:rPr>
              <a:t>4. Flujo</a:t>
            </a:r>
            <a:endParaRPr lang="en-US" sz="125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98A989C5-6FB2-CA61-1027-659EEECF0FE9}"/>
              </a:ext>
            </a:extLst>
          </p:cNvPr>
          <p:cNvSpPr/>
          <p:nvPr/>
        </p:nvSpPr>
        <p:spPr>
          <a:xfrm>
            <a:off x="9555480" y="1600200"/>
            <a:ext cx="1874520" cy="777240"/>
          </a:xfrm>
          <a:prstGeom prst="roundRect">
            <a:avLst>
              <a:gd name="adj" fmla="val 14118"/>
            </a:avLst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8E89D494-7075-453C-34B5-F160C02E1CA4}"/>
              </a:ext>
            </a:extLst>
          </p:cNvPr>
          <p:cNvSpPr/>
          <p:nvPr/>
        </p:nvSpPr>
        <p:spPr>
          <a:xfrm>
            <a:off x="9692640" y="1728216"/>
            <a:ext cx="16002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5. Funciones</a:t>
            </a:r>
            <a:endParaRPr lang="en-US" sz="125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411EDDA0-9F63-F4A1-E452-2F2A79969BA6}"/>
              </a:ext>
            </a:extLst>
          </p:cNvPr>
          <p:cNvSpPr/>
          <p:nvPr/>
        </p:nvSpPr>
        <p:spPr>
          <a:xfrm>
            <a:off x="594360" y="3474720"/>
            <a:ext cx="1874520" cy="777240"/>
          </a:xfrm>
          <a:prstGeom prst="roundRect">
            <a:avLst>
              <a:gd name="adj" fmla="val 14118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AF0507BD-2D6E-C307-83F0-DE86C70B3B1D}"/>
              </a:ext>
            </a:extLst>
          </p:cNvPr>
          <p:cNvSpPr/>
          <p:nvPr/>
        </p:nvSpPr>
        <p:spPr>
          <a:xfrm>
            <a:off x="731520" y="3602736"/>
            <a:ext cx="16002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C4E80"/>
                </a:solidFill>
              </a:rPr>
              <a:t>6. POO</a:t>
            </a:r>
            <a:endParaRPr lang="en-US" sz="125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2C058B46-F2D1-EAB8-3042-EFC3050AF255}"/>
              </a:ext>
            </a:extLst>
          </p:cNvPr>
          <p:cNvSpPr/>
          <p:nvPr/>
        </p:nvSpPr>
        <p:spPr>
          <a:xfrm>
            <a:off x="2834640" y="3474720"/>
            <a:ext cx="1874520" cy="777240"/>
          </a:xfrm>
          <a:prstGeom prst="roundRect">
            <a:avLst>
              <a:gd name="adj" fmla="val 14118"/>
            </a:avLst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E73EA50E-8B72-63D2-1100-E03E9B578473}"/>
              </a:ext>
            </a:extLst>
          </p:cNvPr>
          <p:cNvSpPr/>
          <p:nvPr/>
        </p:nvSpPr>
        <p:spPr>
          <a:xfrm>
            <a:off x="2971800" y="3602736"/>
            <a:ext cx="16002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7. Archivos</a:t>
            </a:r>
            <a:endParaRPr lang="en-US" sz="1250" dirty="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C77AABED-366C-457A-A797-110F91C205FF}"/>
              </a:ext>
            </a:extLst>
          </p:cNvPr>
          <p:cNvSpPr/>
          <p:nvPr/>
        </p:nvSpPr>
        <p:spPr>
          <a:xfrm>
            <a:off x="5074920" y="3474720"/>
            <a:ext cx="1874520" cy="777240"/>
          </a:xfrm>
          <a:prstGeom prst="roundRect">
            <a:avLst>
              <a:gd name="adj" fmla="val 14118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499CFB02-AFA9-19F7-DB2F-275EB0B9C2EE}"/>
              </a:ext>
            </a:extLst>
          </p:cNvPr>
          <p:cNvSpPr/>
          <p:nvPr/>
        </p:nvSpPr>
        <p:spPr>
          <a:xfrm>
            <a:off x="5212080" y="3602736"/>
            <a:ext cx="16002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C4E80"/>
                </a:solidFill>
              </a:rPr>
              <a:t>8. SQL</a:t>
            </a:r>
            <a:endParaRPr lang="en-US" sz="1250" dirty="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5C5EDE37-18F2-500E-3EFD-DF8021F66ACA}"/>
              </a:ext>
            </a:extLst>
          </p:cNvPr>
          <p:cNvSpPr/>
          <p:nvPr/>
        </p:nvSpPr>
        <p:spPr>
          <a:xfrm>
            <a:off x="7315200" y="3474720"/>
            <a:ext cx="1874520" cy="777240"/>
          </a:xfrm>
          <a:prstGeom prst="roundRect">
            <a:avLst>
              <a:gd name="adj" fmla="val 14118"/>
            </a:avLst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3897FCC0-3F93-340F-29DF-C36CCF36AEE4}"/>
              </a:ext>
            </a:extLst>
          </p:cNvPr>
          <p:cNvSpPr/>
          <p:nvPr/>
        </p:nvSpPr>
        <p:spPr>
          <a:xfrm>
            <a:off x="7452360" y="3602736"/>
            <a:ext cx="16002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9. MongoDB</a:t>
            </a:r>
            <a:endParaRPr lang="en-US" sz="1250" dirty="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AB13D3A9-95DF-9982-BB9F-19A162F70FB0}"/>
              </a:ext>
            </a:extLst>
          </p:cNvPr>
          <p:cNvSpPr/>
          <p:nvPr/>
        </p:nvSpPr>
        <p:spPr>
          <a:xfrm>
            <a:off x="9555480" y="3474720"/>
            <a:ext cx="1874520" cy="777240"/>
          </a:xfrm>
          <a:prstGeom prst="roundRect">
            <a:avLst>
              <a:gd name="adj" fmla="val 14118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CEE276F0-05D6-4BF6-B301-B9E1704AD51D}"/>
              </a:ext>
            </a:extLst>
          </p:cNvPr>
          <p:cNvSpPr/>
          <p:nvPr/>
        </p:nvSpPr>
        <p:spPr>
          <a:xfrm>
            <a:off x="9692640" y="3602736"/>
            <a:ext cx="16002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C4E80"/>
                </a:solidFill>
              </a:rPr>
              <a:t>10. Web/API</a:t>
            </a:r>
            <a:endParaRPr lang="en-US" sz="125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3832A9CB-B193-1E16-D948-C152A017E15F}"/>
              </a:ext>
            </a:extLst>
          </p:cNvPr>
          <p:cNvSpPr/>
          <p:nvPr/>
        </p:nvSpPr>
        <p:spPr>
          <a:xfrm>
            <a:off x="914400" y="5532120"/>
            <a:ext cx="1042416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C4E80"/>
                </a:solidFill>
              </a:rPr>
              <a:t>Objetivo</a:t>
            </a:r>
            <a:r>
              <a:rPr lang="en-US" sz="1800" b="1" dirty="0">
                <a:solidFill>
                  <a:srgbClr val="1C4E80"/>
                </a:solidFill>
              </a:rPr>
              <a:t>: cada tema nuevo agrega una pieza al Asistente Académico Docente.</a:t>
            </a:r>
            <a:endParaRPr lang="en-US" sz="1800" dirty="0"/>
          </a:p>
        </p:txBody>
      </p:sp>
      <p:cxnSp>
        <p:nvCxnSpPr>
          <p:cNvPr id="30" name="Conector recto de flecha 29">
            <a:extLst>
              <a:ext uri="{FF2B5EF4-FFF2-40B4-BE49-F238E27FC236}">
                <a16:creationId xmlns:a16="http://schemas.microsoft.com/office/drawing/2014/main" id="{1F0E12E4-D7BB-A759-C1CE-34518CF57CF3}"/>
              </a:ext>
            </a:extLst>
          </p:cNvPr>
          <p:cNvCxnSpPr/>
          <p:nvPr/>
        </p:nvCxnSpPr>
        <p:spPr>
          <a:xfrm>
            <a:off x="1128046" y="2666288"/>
            <a:ext cx="811850" cy="0"/>
          </a:xfrm>
          <a:prstGeom prst="straightConnector1">
            <a:avLst/>
          </a:prstGeom>
          <a:ln w="76200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de flecha 30">
            <a:extLst>
              <a:ext uri="{FF2B5EF4-FFF2-40B4-BE49-F238E27FC236}">
                <a16:creationId xmlns:a16="http://schemas.microsoft.com/office/drawing/2014/main" id="{10D04426-1612-E51E-735F-59ABA032254D}"/>
              </a:ext>
            </a:extLst>
          </p:cNvPr>
          <p:cNvCxnSpPr/>
          <p:nvPr/>
        </p:nvCxnSpPr>
        <p:spPr>
          <a:xfrm>
            <a:off x="3562172" y="2666288"/>
            <a:ext cx="811850" cy="0"/>
          </a:xfrm>
          <a:prstGeom prst="straightConnector1">
            <a:avLst/>
          </a:prstGeom>
          <a:ln w="76200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7A9D3BE1-D14E-82E4-AC6A-BE6AF12E2D25}"/>
              </a:ext>
            </a:extLst>
          </p:cNvPr>
          <p:cNvCxnSpPr/>
          <p:nvPr/>
        </p:nvCxnSpPr>
        <p:spPr>
          <a:xfrm>
            <a:off x="5690075" y="2666288"/>
            <a:ext cx="811850" cy="0"/>
          </a:xfrm>
          <a:prstGeom prst="straightConnector1">
            <a:avLst/>
          </a:prstGeom>
          <a:ln w="76200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D28A20F2-261C-7048-71DB-A7D97EE524B8}"/>
              </a:ext>
            </a:extLst>
          </p:cNvPr>
          <p:cNvCxnSpPr/>
          <p:nvPr/>
        </p:nvCxnSpPr>
        <p:spPr>
          <a:xfrm>
            <a:off x="7956135" y="2649197"/>
            <a:ext cx="811850" cy="0"/>
          </a:xfrm>
          <a:prstGeom prst="straightConnector1">
            <a:avLst/>
          </a:prstGeom>
          <a:ln w="76200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cto de flecha 33">
            <a:extLst>
              <a:ext uri="{FF2B5EF4-FFF2-40B4-BE49-F238E27FC236}">
                <a16:creationId xmlns:a16="http://schemas.microsoft.com/office/drawing/2014/main" id="{A86C8A84-B3F2-8016-893B-038E34046B05}"/>
              </a:ext>
            </a:extLst>
          </p:cNvPr>
          <p:cNvCxnSpPr/>
          <p:nvPr/>
        </p:nvCxnSpPr>
        <p:spPr>
          <a:xfrm>
            <a:off x="10135312" y="2649197"/>
            <a:ext cx="811850" cy="0"/>
          </a:xfrm>
          <a:prstGeom prst="straightConnector1">
            <a:avLst/>
          </a:prstGeom>
          <a:ln w="76200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de flecha 34">
            <a:extLst>
              <a:ext uri="{FF2B5EF4-FFF2-40B4-BE49-F238E27FC236}">
                <a16:creationId xmlns:a16="http://schemas.microsoft.com/office/drawing/2014/main" id="{A757EC99-FD8F-4678-8350-20DEC3BC0083}"/>
              </a:ext>
            </a:extLst>
          </p:cNvPr>
          <p:cNvCxnSpPr/>
          <p:nvPr/>
        </p:nvCxnSpPr>
        <p:spPr>
          <a:xfrm>
            <a:off x="1128046" y="4469451"/>
            <a:ext cx="811850" cy="0"/>
          </a:xfrm>
          <a:prstGeom prst="straightConnector1">
            <a:avLst/>
          </a:prstGeom>
          <a:ln w="76200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de flecha 35">
            <a:extLst>
              <a:ext uri="{FF2B5EF4-FFF2-40B4-BE49-F238E27FC236}">
                <a16:creationId xmlns:a16="http://schemas.microsoft.com/office/drawing/2014/main" id="{5D928FD2-1BD8-13CC-6E18-A166526FEF03}"/>
              </a:ext>
            </a:extLst>
          </p:cNvPr>
          <p:cNvCxnSpPr/>
          <p:nvPr/>
        </p:nvCxnSpPr>
        <p:spPr>
          <a:xfrm>
            <a:off x="3367044" y="4469451"/>
            <a:ext cx="811850" cy="0"/>
          </a:xfrm>
          <a:prstGeom prst="straightConnector1">
            <a:avLst/>
          </a:prstGeom>
          <a:ln w="76200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cto de flecha 36">
            <a:extLst>
              <a:ext uri="{FF2B5EF4-FFF2-40B4-BE49-F238E27FC236}">
                <a16:creationId xmlns:a16="http://schemas.microsoft.com/office/drawing/2014/main" id="{AE4F7861-6CD2-C0C7-F676-2B2178E25A13}"/>
              </a:ext>
            </a:extLst>
          </p:cNvPr>
          <p:cNvCxnSpPr/>
          <p:nvPr/>
        </p:nvCxnSpPr>
        <p:spPr>
          <a:xfrm>
            <a:off x="5690075" y="4469451"/>
            <a:ext cx="811850" cy="0"/>
          </a:xfrm>
          <a:prstGeom prst="straightConnector1">
            <a:avLst/>
          </a:prstGeom>
          <a:ln w="76200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cto de flecha 37">
            <a:extLst>
              <a:ext uri="{FF2B5EF4-FFF2-40B4-BE49-F238E27FC236}">
                <a16:creationId xmlns:a16="http://schemas.microsoft.com/office/drawing/2014/main" id="{EE97B7BF-7F75-110B-B1A9-EDF8B111E6A7}"/>
              </a:ext>
            </a:extLst>
          </p:cNvPr>
          <p:cNvCxnSpPr/>
          <p:nvPr/>
        </p:nvCxnSpPr>
        <p:spPr>
          <a:xfrm>
            <a:off x="7956135" y="4443814"/>
            <a:ext cx="811850" cy="0"/>
          </a:xfrm>
          <a:prstGeom prst="straightConnector1">
            <a:avLst/>
          </a:prstGeom>
          <a:ln w="76200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cto de flecha 38">
            <a:extLst>
              <a:ext uri="{FF2B5EF4-FFF2-40B4-BE49-F238E27FC236}">
                <a16:creationId xmlns:a16="http://schemas.microsoft.com/office/drawing/2014/main" id="{91B2E85A-D3F0-656A-F221-745B4A2791B1}"/>
              </a:ext>
            </a:extLst>
          </p:cNvPr>
          <p:cNvCxnSpPr/>
          <p:nvPr/>
        </p:nvCxnSpPr>
        <p:spPr>
          <a:xfrm>
            <a:off x="10135312" y="4469451"/>
            <a:ext cx="811850" cy="0"/>
          </a:xfrm>
          <a:prstGeom prst="straightConnector1">
            <a:avLst/>
          </a:prstGeom>
          <a:ln w="76200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" name="Imagen 39">
            <a:extLst>
              <a:ext uri="{FF2B5EF4-FFF2-40B4-BE49-F238E27FC236}">
                <a16:creationId xmlns:a16="http://schemas.microsoft.com/office/drawing/2014/main" id="{F9602F07-0B5A-4E1D-E2BB-9A64EB9EAD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0684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750"/>
          </a:p>
        </p:txBody>
      </p:sp>
      <p:sp>
        <p:nvSpPr>
          <p:cNvPr id="6" name="Text 4"/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Herramientas</a:t>
            </a:r>
            <a:endParaRPr lang="en-US" sz="750"/>
          </a:p>
        </p:txBody>
      </p:sp>
      <p:sp>
        <p:nvSpPr>
          <p:cNvPr id="7" name="Text 5"/>
          <p:cNvSpPr/>
          <p:nvPr/>
        </p:nvSpPr>
        <p:spPr>
          <a:xfrm>
            <a:off x="502920" y="502920"/>
            <a:ext cx="110642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Herramientas del curso</a:t>
            </a:r>
            <a:endParaRPr lang="en-US" sz="2800"/>
          </a:p>
        </p:txBody>
      </p:sp>
      <p:sp>
        <p:nvSpPr>
          <p:cNvPr id="8" name="Text 6"/>
          <p:cNvSpPr/>
          <p:nvPr/>
        </p:nvSpPr>
        <p:spPr>
          <a:xfrm>
            <a:off x="777240" y="1325880"/>
            <a:ext cx="10515600" cy="4800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ea typeface="Aptos" pitchFamily="34" charset="-122"/>
                <a:cs typeface="Calibri" panose="020F0502020204030204" pitchFamily="34" charset="0"/>
              </a:rPr>
              <a:t>Python</a:t>
            </a:r>
            <a:r>
              <a:rPr lang="en-US" sz="2000" dirty="0">
                <a:solidFill>
                  <a:srgbClr val="0F172A"/>
                </a:solidFill>
                <a:latin typeface="Calibri" panose="020F0502020204030204" pitchFamily="34" charset="0"/>
                <a:ea typeface="Aptos" pitchFamily="34" charset="-122"/>
                <a:cs typeface="Calibri" panose="020F0502020204030204" pitchFamily="34" charset="0"/>
              </a:rPr>
              <a:t> como lenguaje principal.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ea typeface="Aptos" pitchFamily="34" charset="-122"/>
                <a:cs typeface="Calibri" panose="020F0502020204030204" pitchFamily="34" charset="0"/>
              </a:rPr>
              <a:t>VS Code </a:t>
            </a:r>
            <a:r>
              <a:rPr lang="en-US" sz="2000" dirty="0">
                <a:solidFill>
                  <a:srgbClr val="0F172A"/>
                </a:solidFill>
                <a:latin typeface="Calibri" panose="020F0502020204030204" pitchFamily="34" charset="0"/>
                <a:ea typeface="Aptos" pitchFamily="34" charset="-122"/>
                <a:cs typeface="Calibri" panose="020F0502020204030204" pitchFamily="34" charset="0"/>
              </a:rPr>
              <a:t>como editor.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ea typeface="Aptos" pitchFamily="34" charset="-122"/>
                <a:cs typeface="Calibri" panose="020F0502020204030204" pitchFamily="34" charset="0"/>
              </a:rPr>
              <a:t>Terminal</a:t>
            </a:r>
            <a:r>
              <a:rPr lang="en-US" sz="2000" b="1" dirty="0">
                <a:solidFill>
                  <a:schemeClr val="accent1"/>
                </a:solidFill>
                <a:latin typeface="Calibri" panose="020F0502020204030204" pitchFamily="34" charset="0"/>
                <a:ea typeface="Aptos" pitchFamily="34" charset="-122"/>
                <a:cs typeface="Calibri" panose="020F0502020204030204" pitchFamily="34" charset="0"/>
              </a:rPr>
              <a:t> </a:t>
            </a:r>
            <a:r>
              <a:rPr lang="en-US" sz="2000" dirty="0">
                <a:solidFill>
                  <a:srgbClr val="0F172A"/>
                </a:solidFill>
                <a:latin typeface="Calibri" panose="020F0502020204030204" pitchFamily="34" charset="0"/>
                <a:ea typeface="Aptos" pitchFamily="34" charset="-122"/>
                <a:cs typeface="Calibri" panose="020F0502020204030204" pitchFamily="34" charset="0"/>
              </a:rPr>
              <a:t>para ejecutar comandos.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ea typeface="Aptos" pitchFamily="34" charset="-122"/>
                <a:cs typeface="Calibri" panose="020F0502020204030204" pitchFamily="34" charset="0"/>
              </a:rPr>
              <a:t>Git </a:t>
            </a:r>
            <a:r>
              <a:rPr lang="en-US" sz="2000" dirty="0">
                <a:solidFill>
                  <a:srgbClr val="0F172A"/>
                </a:solidFill>
                <a:latin typeface="Calibri" panose="020F0502020204030204" pitchFamily="34" charset="0"/>
                <a:ea typeface="Aptos" pitchFamily="34" charset="-122"/>
                <a:cs typeface="Calibri" panose="020F0502020204030204" pitchFamily="34" charset="0"/>
              </a:rPr>
              <a:t>para registrar avances.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ea typeface="Aptos" pitchFamily="34" charset="-122"/>
                <a:cs typeface="Calibri" panose="020F0502020204030204" pitchFamily="34" charset="0"/>
              </a:rPr>
              <a:t>CSV y JSON </a:t>
            </a:r>
            <a:r>
              <a:rPr lang="en-US" sz="2000" dirty="0">
                <a:solidFill>
                  <a:srgbClr val="0F172A"/>
                </a:solidFill>
                <a:latin typeface="Calibri" panose="020F0502020204030204" pitchFamily="34" charset="0"/>
                <a:ea typeface="Aptos" pitchFamily="34" charset="-122"/>
                <a:cs typeface="Calibri" panose="020F0502020204030204" pitchFamily="34" charset="0"/>
              </a:rPr>
              <a:t>para datos.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ea typeface="Aptos" pitchFamily="34" charset="-122"/>
                <a:cs typeface="Calibri" panose="020F0502020204030204" pitchFamily="34" charset="0"/>
              </a:rPr>
              <a:t>SQLite</a:t>
            </a:r>
            <a:r>
              <a:rPr lang="en-US" sz="2000" dirty="0">
                <a:solidFill>
                  <a:srgbClr val="0F172A"/>
                </a:solidFill>
                <a:latin typeface="Calibri" panose="020F0502020204030204" pitchFamily="34" charset="0"/>
                <a:ea typeface="Aptos" pitchFamily="34" charset="-122"/>
                <a:cs typeface="Calibri" panose="020F0502020204030204" pitchFamily="34" charset="0"/>
              </a:rPr>
              <a:t>, </a:t>
            </a: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ea typeface="Aptos" pitchFamily="34" charset="-122"/>
                <a:cs typeface="Calibri" panose="020F0502020204030204" pitchFamily="34" charset="0"/>
              </a:rPr>
              <a:t>PostgreSQL</a:t>
            </a:r>
            <a:r>
              <a:rPr lang="en-US" sz="2000" dirty="0">
                <a:solidFill>
                  <a:srgbClr val="0F172A"/>
                </a:solidFill>
                <a:latin typeface="Calibri" panose="020F0502020204030204" pitchFamily="34" charset="0"/>
                <a:ea typeface="Aptos" pitchFamily="34" charset="-122"/>
                <a:cs typeface="Calibri" panose="020F0502020204030204" pitchFamily="34" charset="0"/>
              </a:rPr>
              <a:t>, </a:t>
            </a: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ea typeface="Aptos" pitchFamily="34" charset="-122"/>
                <a:cs typeface="Calibri" panose="020F0502020204030204" pitchFamily="34" charset="0"/>
              </a:rPr>
              <a:t>MySQL</a:t>
            </a:r>
            <a:r>
              <a:rPr lang="en-US" sz="2000" dirty="0">
                <a:solidFill>
                  <a:srgbClr val="0F172A"/>
                </a:solidFill>
                <a:latin typeface="Calibri" panose="020F0502020204030204" pitchFamily="34" charset="0"/>
                <a:ea typeface="Aptos" pitchFamily="34" charset="-122"/>
                <a:cs typeface="Calibri" panose="020F0502020204030204" pitchFamily="34" charset="0"/>
              </a:rPr>
              <a:t> </a:t>
            </a: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ea typeface="Aptos" pitchFamily="34" charset="-122"/>
                <a:cs typeface="Calibri" panose="020F0502020204030204" pitchFamily="34" charset="0"/>
              </a:rPr>
              <a:t>y</a:t>
            </a:r>
            <a:r>
              <a:rPr lang="en-US" sz="2000" dirty="0">
                <a:solidFill>
                  <a:srgbClr val="0F172A"/>
                </a:solidFill>
                <a:latin typeface="Calibri" panose="020F0502020204030204" pitchFamily="34" charset="0"/>
                <a:ea typeface="Aptos" pitchFamily="34" charset="-122"/>
                <a:cs typeface="Calibri" panose="020F0502020204030204" pitchFamily="34" charset="0"/>
              </a:rPr>
              <a:t> </a:t>
            </a: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ea typeface="Aptos" pitchFamily="34" charset="-122"/>
                <a:cs typeface="Calibri" panose="020F0502020204030204" pitchFamily="34" charset="0"/>
              </a:rPr>
              <a:t>MongoDB</a:t>
            </a:r>
            <a:r>
              <a:rPr lang="en-US" sz="2000" dirty="0">
                <a:solidFill>
                  <a:srgbClr val="0F172A"/>
                </a:solidFill>
                <a:latin typeface="Calibri" panose="020F0502020204030204" pitchFamily="34" charset="0"/>
                <a:ea typeface="Aptos" pitchFamily="34" charset="-122"/>
                <a:cs typeface="Calibri" panose="020F0502020204030204" pitchFamily="34" charset="0"/>
              </a:rPr>
              <a:t> para bases de datos.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ea typeface="Aptos" pitchFamily="34" charset="-122"/>
                <a:cs typeface="Calibri" panose="020F0502020204030204" pitchFamily="34" charset="0"/>
              </a:rPr>
              <a:t>Django y FastAPI </a:t>
            </a:r>
            <a:r>
              <a:rPr lang="en-US" sz="2000" dirty="0">
                <a:solidFill>
                  <a:srgbClr val="0F172A"/>
                </a:solidFill>
                <a:latin typeface="Calibri" panose="020F0502020204030204" pitchFamily="34" charset="0"/>
                <a:ea typeface="Aptos" pitchFamily="34" charset="-122"/>
                <a:cs typeface="Calibri" panose="020F0502020204030204" pitchFamily="34" charset="0"/>
              </a:rPr>
              <a:t>como rutas web.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CF7F6676-18EE-3141-E373-C2B6B133FA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49B95598-FF85-B0E1-0222-E0F2B03F0AE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60269"/>
          <a:stretch>
            <a:fillRect/>
          </a:stretch>
        </p:blipFill>
        <p:spPr>
          <a:xfrm>
            <a:off x="4811132" y="920331"/>
            <a:ext cx="1409688" cy="186272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753742BB-D6F0-B0B3-6B2C-6957C5B8E2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6275" y="338328"/>
            <a:ext cx="4606466" cy="306213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2EE45C4D-12BF-7458-7B2E-97E26D44435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27727" y="2956104"/>
            <a:ext cx="1409688" cy="1409688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5EF91032-F9C0-E3D1-1BDC-2C240E68E75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2485" y="3528476"/>
            <a:ext cx="3931920" cy="294893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2F548CA1-72E9-29E1-0F9D-16175DC98A0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22705" y="5018440"/>
            <a:ext cx="2829419" cy="159255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750"/>
          </a:p>
        </p:txBody>
      </p:sp>
      <p:sp>
        <p:nvSpPr>
          <p:cNvPr id="6" name="Text 4"/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Proyecto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502920"/>
            <a:ext cx="110642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Proyecto integrador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77240" y="1325880"/>
            <a:ext cx="11220796" cy="4800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Nombre: </a:t>
            </a:r>
            <a:endParaRPr lang="en-US" sz="2000" dirty="0"/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Objetivo: </a:t>
            </a:r>
            <a:endParaRPr lang="en-US" sz="2000" dirty="0"/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000" b="1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Aplicación</a:t>
            </a:r>
            <a:r>
              <a:rPr lang="en-US" sz="20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Permite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practicar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variables,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funciones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archivos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bases de datos y API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básica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participante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podrá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adaptarlo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a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asignatura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y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necesidades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docentes.</a:t>
            </a:r>
            <a:endParaRPr lang="en-US" sz="2000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0646F090-2BC3-0904-E0B8-2179854F5A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750"/>
          </a:p>
        </p:txBody>
      </p:sp>
      <p:sp>
        <p:nvSpPr>
          <p:cNvPr id="6" name="Text 4"/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Evaluación</a:t>
            </a:r>
            <a:endParaRPr lang="en-US" sz="750"/>
          </a:p>
        </p:txBody>
      </p:sp>
      <p:sp>
        <p:nvSpPr>
          <p:cNvPr id="7" name="Text 5"/>
          <p:cNvSpPr/>
          <p:nvPr/>
        </p:nvSpPr>
        <p:spPr>
          <a:xfrm>
            <a:off x="502920" y="502920"/>
            <a:ext cx="110642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Evidencias recomendadas</a:t>
            </a:r>
            <a:endParaRPr lang="en-US" sz="2800"/>
          </a:p>
        </p:txBody>
      </p:sp>
      <p:sp>
        <p:nvSpPr>
          <p:cNvPr id="8" name="Text 6"/>
          <p:cNvSpPr/>
          <p:nvPr/>
        </p:nvSpPr>
        <p:spPr>
          <a:xfrm>
            <a:off x="777240" y="1325880"/>
            <a:ext cx="10515600" cy="4800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Archivos de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código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por día.</a:t>
            </a:r>
            <a:endParaRPr lang="en-US" sz="2000" dirty="0"/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Capturas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de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ejecución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README con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explicación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breve.</a:t>
            </a:r>
            <a:endParaRPr lang="en-US" sz="2000" dirty="0"/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Reporte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generado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Versión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final del proyecto.</a:t>
            </a:r>
            <a:endParaRPr lang="en-US" sz="2000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CC18307D-EED6-AFD7-8D5A-2192370B8A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750"/>
          </a:p>
        </p:txBody>
      </p:sp>
      <p:sp>
        <p:nvSpPr>
          <p:cNvPr id="6" name="Text 4"/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Evaluación</a:t>
            </a:r>
            <a:endParaRPr lang="en-US" sz="750"/>
          </a:p>
        </p:txBody>
      </p:sp>
      <p:sp>
        <p:nvSpPr>
          <p:cNvPr id="7" name="Text 5"/>
          <p:cNvSpPr/>
          <p:nvPr/>
        </p:nvSpPr>
        <p:spPr>
          <a:xfrm>
            <a:off x="502920" y="502920"/>
            <a:ext cx="110642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Evaluación sugerida</a:t>
            </a:r>
            <a:endParaRPr lang="en-US" sz="2800"/>
          </a:p>
        </p:txBody>
      </p:sp>
      <p:sp>
        <p:nvSpPr>
          <p:cNvPr id="8" name="Text 6"/>
          <p:cNvSpPr/>
          <p:nvPr/>
        </p:nvSpPr>
        <p:spPr>
          <a:xfrm>
            <a:off x="777240" y="1325880"/>
            <a:ext cx="10515600" cy="4800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Participación y asistencia.</a:t>
            </a:r>
            <a:endParaRPr lang="en-US" sz="2000" dirty="0"/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Prácticas diarias.</a:t>
            </a:r>
            <a:endParaRPr lang="en-US" sz="2000" dirty="0"/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Portafolio organizado.</a:t>
            </a:r>
            <a:endParaRPr lang="en-US" sz="2000" dirty="0"/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Proyecto integrador.</a:t>
            </a:r>
            <a:endParaRPr lang="en-US" sz="2000" dirty="0"/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Presentación final de resultados.</a:t>
            </a:r>
            <a:endParaRPr lang="en-US" sz="2000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C5179CAD-AFBE-246E-8F71-49FD32EA2B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5166360"/>
            <a:ext cx="12191695" cy="169164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94360" y="64008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FFD4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58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1078992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Día 1: Introducción, entorno de desarrollo y primer programa.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3063240"/>
            <a:ext cx="987552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Ejecutar Python, usar VS Code y crear la base del proyecto.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5715000"/>
            <a:ext cx="7772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4E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Curso de Programación con Python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1201400" y="62910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1C4E80"/>
                </a:solidFill>
              </a:rPr>
              <a:t>14</a:t>
            </a:r>
            <a:endParaRPr lang="en-US" sz="800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98A17858-FFFC-D71F-350D-E624B7C0D2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9667" y="-84568"/>
            <a:ext cx="4662472" cy="131835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</a:t>
            </a:r>
            <a:endParaRPr lang="en-US" sz="750"/>
          </a:p>
        </p:txBody>
      </p:sp>
      <p:sp>
        <p:nvSpPr>
          <p:cNvPr id="6" name="Text 4"/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1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502920"/>
            <a:ext cx="110642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¿Qué es programar?</a:t>
            </a:r>
            <a:endParaRPr lang="en-US" sz="280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11DC2DC5-D81A-DE21-B7E3-900A6F51B5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3052" y="1097281"/>
            <a:ext cx="9186883" cy="5167622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11245EB9-E833-13C9-F916-139AAC448D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750"/>
          </a:p>
        </p:txBody>
      </p:sp>
      <p:sp>
        <p:nvSpPr>
          <p:cNvPr id="6" name="Text 4"/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1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502920"/>
            <a:ext cx="110642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Entrada, proceso y salida</a:t>
            </a:r>
            <a:endParaRPr lang="en-US" sz="2800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282BD457-511F-2D01-33E3-B5F7BE4163E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4328" b="5672"/>
          <a:stretch>
            <a:fillRect/>
          </a:stretch>
        </p:blipFill>
        <p:spPr>
          <a:xfrm>
            <a:off x="1524000" y="982638"/>
            <a:ext cx="9144000" cy="5486401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5028F21E-F66E-9931-4053-6EE330876E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</a:t>
            </a:r>
            <a:endParaRPr lang="en-US" sz="750"/>
          </a:p>
        </p:txBody>
      </p:sp>
      <p:sp>
        <p:nvSpPr>
          <p:cNvPr id="6" name="Text 4"/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1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502920"/>
            <a:ext cx="110642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¿Qué es Python?</a:t>
            </a:r>
            <a:endParaRPr lang="en-US" sz="280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95DD42DF-8C22-6637-4089-9E2EEBC9E3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65E4103F-C5D7-0DBF-8837-FA15D5DA57A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3185" t="16000" r="23084" b="15423"/>
          <a:stretch>
            <a:fillRect/>
          </a:stretch>
        </p:blipFill>
        <p:spPr>
          <a:xfrm>
            <a:off x="3023030" y="680135"/>
            <a:ext cx="6148266" cy="588525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</a:t>
            </a:r>
            <a:endParaRPr lang="en-US" sz="750"/>
          </a:p>
        </p:txBody>
      </p:sp>
      <p:sp>
        <p:nvSpPr>
          <p:cNvPr id="6" name="Text 4"/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1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457200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 err="1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Instalación</a:t>
            </a:r>
            <a:r>
              <a:rPr lang="en-US" sz="2600" b="1" dirty="0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de Python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85800" y="1097280"/>
            <a:ext cx="107899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Sitio web </a:t>
            </a:r>
            <a:r>
              <a:rPr lang="en-US" sz="1600" dirty="0" err="1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oficial</a:t>
            </a:r>
            <a:r>
              <a:rPr lang="en-US" sz="16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1645920"/>
            <a:ext cx="10927080" cy="4434840"/>
          </a:xfrm>
          <a:prstGeom prst="roundRect">
            <a:avLst>
              <a:gd name="adj" fmla="val 1649"/>
            </a:avLst>
          </a:prstGeom>
          <a:solidFill>
            <a:srgbClr val="F8FAFC"/>
          </a:solidFill>
          <a:ln w="1397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868680" y="1810512"/>
            <a:ext cx="10469880" cy="4105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20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https://www.python.org/downloads/</a:t>
            </a:r>
            <a:endParaRPr lang="en-US" sz="2000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D3EC5179-FD73-09BA-E90C-227B9CABD8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14012D-078A-D87D-8F83-5FEF556C6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2F24C64-7DCC-CA29-F75E-ED39DC7B101E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6C6661F-A591-BD23-B890-1DF45152684D}"/>
              </a:ext>
            </a:extLst>
          </p:cNvPr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8183B1E-B3D1-8436-75C9-B4E1F6D434B5}"/>
              </a:ext>
            </a:extLst>
          </p:cNvPr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9187DFD-C47E-6D16-D3BD-FB36817B1BA3}"/>
              </a:ext>
            </a:extLst>
          </p:cNvPr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</a:t>
            </a:r>
            <a:endParaRPr lang="en-US" sz="75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BCE1822-FA66-4BBA-9007-9F5258224850}"/>
              </a:ext>
            </a:extLst>
          </p:cNvPr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1</a:t>
            </a:r>
            <a:endParaRPr lang="en-US" sz="7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411BD72-8B74-1621-3C1A-43BD861C2334}"/>
              </a:ext>
            </a:extLst>
          </p:cNvPr>
          <p:cNvSpPr/>
          <p:nvPr/>
        </p:nvSpPr>
        <p:spPr>
          <a:xfrm>
            <a:off x="502920" y="457200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600" b="1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Verificar instalación de Python</a:t>
            </a:r>
            <a:endParaRPr lang="en-US" sz="26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BBEE65AC-1212-D1D3-7F01-FB1295B7902C}"/>
              </a:ext>
            </a:extLst>
          </p:cNvPr>
          <p:cNvSpPr/>
          <p:nvPr/>
        </p:nvSpPr>
        <p:spPr>
          <a:xfrm>
            <a:off x="685800" y="1097280"/>
            <a:ext cx="107899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Comandos </a:t>
            </a:r>
            <a:r>
              <a:rPr lang="en-US" sz="1600" dirty="0" err="1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mínimos</a:t>
            </a:r>
            <a:r>
              <a:rPr lang="en-US" sz="16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para </a:t>
            </a:r>
            <a:r>
              <a:rPr lang="en-US" sz="1600" dirty="0" err="1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comprobar</a:t>
            </a:r>
            <a:r>
              <a:rPr lang="en-US" sz="16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el entorno.</a:t>
            </a:r>
            <a:endParaRPr lang="en-US" sz="16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51347A31-490F-4EA6-824B-6975CB38D436}"/>
              </a:ext>
            </a:extLst>
          </p:cNvPr>
          <p:cNvSpPr/>
          <p:nvPr/>
        </p:nvSpPr>
        <p:spPr>
          <a:xfrm>
            <a:off x="640080" y="1645920"/>
            <a:ext cx="10927080" cy="4434840"/>
          </a:xfrm>
          <a:prstGeom prst="roundRect">
            <a:avLst>
              <a:gd name="adj" fmla="val 1649"/>
            </a:avLst>
          </a:prstGeom>
          <a:solidFill>
            <a:srgbClr val="F8FAFC"/>
          </a:solidFill>
          <a:ln w="1397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BAD800CB-7F1D-AE48-9CD2-D886F66BC7E7}"/>
              </a:ext>
            </a:extLst>
          </p:cNvPr>
          <p:cNvSpPr/>
          <p:nvPr/>
        </p:nvSpPr>
        <p:spPr>
          <a:xfrm>
            <a:off x="868680" y="1810512"/>
            <a:ext cx="10469880" cy="4105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--version</a:t>
            </a:r>
          </a:p>
          <a:p>
            <a:pPr marL="0" indent="0">
              <a:buNone/>
            </a:pPr>
            <a:endParaRPr lang="en-US" sz="2000" dirty="0">
              <a:solidFill>
                <a:srgbClr val="0F172A"/>
              </a:solidFill>
              <a:latin typeface="Courier New" pitchFamily="34" charset="0"/>
              <a:cs typeface="Courier New" pitchFamily="34" charset="-120"/>
            </a:endParaRP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--version</a:t>
            </a:r>
          </a:p>
          <a:p>
            <a:pPr marL="0" indent="0">
              <a:buNone/>
            </a:pPr>
            <a:endParaRPr lang="en-US" sz="2000" dirty="0">
              <a:solidFill>
                <a:srgbClr val="0F172A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8A57D255-9119-E5A3-CFCC-C0FA6032E7E5}"/>
              </a:ext>
            </a:extLst>
          </p:cNvPr>
          <p:cNvSpPr/>
          <p:nvPr/>
        </p:nvSpPr>
        <p:spPr>
          <a:xfrm>
            <a:off x="3429000" y="1721255"/>
            <a:ext cx="3657600" cy="89174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b="1" dirty="0"/>
              <a:t>Versión de Python instalada</a:t>
            </a: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8857BDD4-E93C-3DD5-67FC-0B048FF41AE1}"/>
              </a:ext>
            </a:extLst>
          </p:cNvPr>
          <p:cNvSpPr/>
          <p:nvPr/>
        </p:nvSpPr>
        <p:spPr>
          <a:xfrm>
            <a:off x="4427561" y="2799792"/>
            <a:ext cx="3657600" cy="891745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b="1" dirty="0">
                <a:solidFill>
                  <a:schemeClr val="tx1"/>
                </a:solidFill>
              </a:rPr>
              <a:t>Versión de pip instalada</a:t>
            </a: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7BEA868D-67F7-108A-90A1-5B346BF492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17123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7D744A-4755-78B2-7648-C6349AB432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7AE6C24-7AE9-0903-2DE6-741AADB6E9FE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FAC6852-6A3F-6255-F585-6D2A00AA1C7C}"/>
              </a:ext>
            </a:extLst>
          </p:cNvPr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D557B6D-04BE-F7C0-9C33-7F5963AA78D7}"/>
              </a:ext>
            </a:extLst>
          </p:cNvPr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669D9FF-647B-891B-640E-90E2E2A4B813}"/>
              </a:ext>
            </a:extLst>
          </p:cNvPr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</a:t>
            </a:r>
            <a:endParaRPr lang="en-US" sz="75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033D24C-A3D3-926F-155C-AF0146A1BD43}"/>
              </a:ext>
            </a:extLst>
          </p:cNvPr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1</a:t>
            </a:r>
            <a:endParaRPr lang="en-US" sz="7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212BCE5-E1F9-BF24-E661-1A141EC2F06A}"/>
              </a:ext>
            </a:extLst>
          </p:cNvPr>
          <p:cNvSpPr/>
          <p:nvPr/>
        </p:nvSpPr>
        <p:spPr>
          <a:xfrm>
            <a:off x="502920" y="457200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</a:t>
            </a:r>
            <a:r>
              <a:rPr lang="en-US" sz="2600" b="1" dirty="0" err="1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</a:t>
            </a:r>
            <a:r>
              <a:rPr lang="en-US" sz="2600" b="1" dirty="0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es pip?</a:t>
            </a:r>
            <a:endParaRPr lang="en-US" sz="2600" dirty="0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A1A56BCF-045D-76EA-5EBF-87C4B102DF9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940" b="13433"/>
          <a:stretch>
            <a:fillRect/>
          </a:stretch>
        </p:blipFill>
        <p:spPr>
          <a:xfrm>
            <a:off x="1332931" y="960120"/>
            <a:ext cx="9144000" cy="5117910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FBFB90D5-5981-DFC2-0B69-C265E206E0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87282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A63CFC-45D4-6024-233E-3DD1E0C4D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9F26F73-6F44-9E22-A151-89B13D3BD7EE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8069D64-94B5-784B-000F-3C3054356310}"/>
              </a:ext>
            </a:extLst>
          </p:cNvPr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DE0620E-96D4-ABD3-94CD-EFF5175BBF46}"/>
              </a:ext>
            </a:extLst>
          </p:cNvPr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038AB1C-DCB9-3E80-E0E7-D4283F4EAC9E}"/>
              </a:ext>
            </a:extLst>
          </p:cNvPr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</a:t>
            </a:r>
            <a:endParaRPr lang="en-US" sz="75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BE64BC2-AB9E-B9C6-E216-BA492BE08B01}"/>
              </a:ext>
            </a:extLst>
          </p:cNvPr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1</a:t>
            </a:r>
            <a:endParaRPr lang="en-US" sz="7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23E073B-F417-AD34-DC88-B949446E0826}"/>
              </a:ext>
            </a:extLst>
          </p:cNvPr>
          <p:cNvSpPr/>
          <p:nvPr/>
        </p:nvSpPr>
        <p:spPr>
          <a:xfrm>
            <a:off x="502920" y="502920"/>
            <a:ext cx="110642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1C4E80"/>
                </a:solidFill>
                <a:latin typeface="Aptos Display" pitchFamily="34" charset="0"/>
              </a:rPr>
              <a:t>Estructura</a:t>
            </a:r>
            <a:r>
              <a:rPr lang="en-US" sz="2800" b="1" dirty="0">
                <a:solidFill>
                  <a:srgbClr val="1C4E80"/>
                </a:solidFill>
                <a:latin typeface="Aptos Display" pitchFamily="34" charset="0"/>
              </a:rPr>
              <a:t> del archive README.md</a:t>
            </a:r>
            <a:endParaRPr lang="en-US" sz="28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03819F98-15FE-7A3F-80D8-3F7DAB6C3E7C}"/>
              </a:ext>
            </a:extLst>
          </p:cNvPr>
          <p:cNvSpPr/>
          <p:nvPr/>
        </p:nvSpPr>
        <p:spPr>
          <a:xfrm>
            <a:off x="777240" y="1325880"/>
            <a:ext cx="10515600" cy="4800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342900" indent="-342900">
              <a:lnSpc>
                <a:spcPct val="170000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Nombre y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descripción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del proyecto</a:t>
            </a:r>
            <a:endParaRPr lang="en-US" sz="2000" dirty="0"/>
          </a:p>
          <a:p>
            <a:pPr marL="342900" indent="-342900">
              <a:lnSpc>
                <a:spcPct val="170000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Objetivo o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problema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resuelve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  <a:p>
            <a:pPr marL="342900" indent="-342900">
              <a:lnSpc>
                <a:spcPct val="170000"/>
              </a:lnSpc>
              <a:buFont typeface="Wingdings" panose="05000000000000000000" pitchFamily="2" charset="2"/>
              <a:buChar char="q"/>
            </a:pP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Tecnologías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utilizadas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  <a:p>
            <a:pPr marL="342900" indent="-342900">
              <a:lnSpc>
                <a:spcPct val="170000"/>
              </a:lnSpc>
              <a:buFont typeface="Wingdings" panose="05000000000000000000" pitchFamily="2" charset="2"/>
              <a:buChar char="q"/>
            </a:pP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Requisitos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previos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</a:p>
          <a:p>
            <a:pPr marL="342900" indent="-342900">
              <a:lnSpc>
                <a:spcPct val="170000"/>
              </a:lnSpc>
              <a:buFont typeface="Wingdings" panose="05000000000000000000" pitchFamily="2" charset="2"/>
              <a:buChar char="q"/>
            </a:pPr>
            <a:r>
              <a:rPr lang="en-US" sz="2000" dirty="0" err="1">
                <a:solidFill>
                  <a:srgbClr val="0F172A"/>
                </a:solidFill>
                <a:latin typeface="Aptos" pitchFamily="34" charset="0"/>
              </a:rPr>
              <a:t>Instrucciones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</a:rPr>
              <a:t> de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</a:rPr>
              <a:t>instalación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</a:rPr>
              <a:t>.</a:t>
            </a:r>
          </a:p>
          <a:p>
            <a:pPr marL="342900" indent="-342900">
              <a:lnSpc>
                <a:spcPct val="170000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</a:rPr>
              <a:t>Forma de ejecutar el proyecto.</a:t>
            </a:r>
          </a:p>
          <a:p>
            <a:pPr marL="342900" indent="-342900">
              <a:lnSpc>
                <a:spcPct val="170000"/>
              </a:lnSpc>
              <a:buFont typeface="Wingdings" panose="05000000000000000000" pitchFamily="2" charset="2"/>
              <a:buChar char="q"/>
            </a:pPr>
            <a:r>
              <a:rPr lang="en-US" sz="2000" dirty="0" err="1">
                <a:solidFill>
                  <a:srgbClr val="0F172A"/>
                </a:solidFill>
                <a:latin typeface="Aptos" pitchFamily="34" charset="0"/>
              </a:rPr>
              <a:t>Estructura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</a:rPr>
              <a:t> de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</a:rPr>
              <a:t>carpetas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</a:rPr>
              <a:t>.</a:t>
            </a:r>
          </a:p>
          <a:p>
            <a:pPr marL="342900" indent="-342900">
              <a:lnSpc>
                <a:spcPct val="170000"/>
              </a:lnSpc>
              <a:buFont typeface="Wingdings" panose="05000000000000000000" pitchFamily="2" charset="2"/>
              <a:buChar char="q"/>
            </a:pPr>
            <a:r>
              <a:rPr lang="en-US" sz="2000" dirty="0" err="1">
                <a:solidFill>
                  <a:srgbClr val="0F172A"/>
                </a:solidFill>
                <a:latin typeface="Aptos" pitchFamily="34" charset="0"/>
              </a:rPr>
              <a:t>Ejemplos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</a:rPr>
              <a:t> de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</a:rPr>
              <a:t>uso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</a:rPr>
              <a:t>.</a:t>
            </a:r>
          </a:p>
          <a:p>
            <a:pPr marL="342900" indent="-342900">
              <a:lnSpc>
                <a:spcPct val="170000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</a:rPr>
              <a:t>Autor o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</a:rPr>
              <a:t>colaboradores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</a:rPr>
              <a:t>.</a:t>
            </a:r>
            <a:endParaRPr lang="en-US" sz="2000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0153717C-C117-95F2-1BB9-10975BE8E9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71952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</a:t>
            </a:r>
            <a:endParaRPr lang="en-US" sz="750"/>
          </a:p>
        </p:txBody>
      </p:sp>
      <p:sp>
        <p:nvSpPr>
          <p:cNvPr id="6" name="Text 4"/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1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457200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Primer programa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85800" y="1097280"/>
            <a:ext cx="107899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Archivo: hola.py</a:t>
            </a:r>
            <a:endParaRPr lang="en-US" sz="1600"/>
          </a:p>
        </p:txBody>
      </p:sp>
      <p:sp>
        <p:nvSpPr>
          <p:cNvPr id="9" name="Shape 7"/>
          <p:cNvSpPr/>
          <p:nvPr/>
        </p:nvSpPr>
        <p:spPr>
          <a:xfrm>
            <a:off x="640080" y="1645920"/>
            <a:ext cx="10927080" cy="4434840"/>
          </a:xfrm>
          <a:prstGeom prst="roundRect">
            <a:avLst>
              <a:gd name="adj" fmla="val 1649"/>
            </a:avLst>
          </a:prstGeom>
          <a:solidFill>
            <a:srgbClr val="F8FAFC"/>
          </a:solidFill>
          <a:ln w="1397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868680" y="1810512"/>
            <a:ext cx="10469880" cy="4105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2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print("Hola, bienvenidos al curso de Python")</a:t>
            </a:r>
            <a:endParaRPr lang="en-US" sz="220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D028F392-AEEB-0C29-DD82-9A28979BE1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</a:t>
            </a:r>
            <a:endParaRPr lang="en-US" sz="750"/>
          </a:p>
        </p:txBody>
      </p:sp>
      <p:sp>
        <p:nvSpPr>
          <p:cNvPr id="6" name="Text 4"/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1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457200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Ejecutar un script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85800" y="1097280"/>
            <a:ext cx="107899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Desde la terminal ubicada en la carpeta del archivo.</a:t>
            </a:r>
            <a:endParaRPr lang="en-US" sz="1600"/>
          </a:p>
        </p:txBody>
      </p:sp>
      <p:sp>
        <p:nvSpPr>
          <p:cNvPr id="9" name="Shape 7"/>
          <p:cNvSpPr/>
          <p:nvPr/>
        </p:nvSpPr>
        <p:spPr>
          <a:xfrm>
            <a:off x="640080" y="1645920"/>
            <a:ext cx="10927080" cy="4434840"/>
          </a:xfrm>
          <a:prstGeom prst="roundRect">
            <a:avLst>
              <a:gd name="adj" fmla="val 1649"/>
            </a:avLst>
          </a:prstGeom>
          <a:solidFill>
            <a:srgbClr val="F8FAFC"/>
          </a:solidFill>
          <a:ln w="1397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868680" y="1810512"/>
            <a:ext cx="10469880" cy="4105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0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hola.py</a:t>
            </a:r>
            <a:endParaRPr lang="en-US" sz="2000"/>
          </a:p>
          <a:p>
            <a:pPr marL="0" indent="0">
              <a:buNone/>
            </a:pPr>
            <a:endParaRPr lang="en-US" sz="2000"/>
          </a:p>
          <a:p>
            <a:pPr marL="0" indent="0">
              <a:buNone/>
            </a:pPr>
            <a:r>
              <a:rPr lang="en-US" sz="20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Resultado esperado:</a:t>
            </a:r>
            <a:endParaRPr lang="en-US" sz="2000"/>
          </a:p>
          <a:p>
            <a:pPr marL="0" indent="0">
              <a:buNone/>
            </a:pPr>
            <a:r>
              <a:rPr lang="en-US" sz="20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Hola, bienvenidos al curso de Python</a:t>
            </a:r>
            <a:endParaRPr lang="en-US" sz="200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ECAC7A80-41B9-43DA-92DC-7A68596EBE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</a:t>
            </a:r>
            <a:endParaRPr lang="en-US" sz="750"/>
          </a:p>
        </p:txBody>
      </p:sp>
      <p:sp>
        <p:nvSpPr>
          <p:cNvPr id="6" name="Text 4"/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1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457200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600" b="1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Primer error controlado</a:t>
            </a:r>
            <a:endParaRPr lang="en-US" sz="2600"/>
          </a:p>
        </p:txBody>
      </p:sp>
      <p:sp>
        <p:nvSpPr>
          <p:cNvPr id="8" name="Text 6"/>
          <p:cNvSpPr/>
          <p:nvPr/>
        </p:nvSpPr>
        <p:spPr>
          <a:xfrm>
            <a:off x="685800" y="1097280"/>
            <a:ext cx="107899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error ayuda a aprender a leer el código.</a:t>
            </a:r>
            <a:endParaRPr lang="en-US" sz="1600"/>
          </a:p>
        </p:txBody>
      </p:sp>
      <p:sp>
        <p:nvSpPr>
          <p:cNvPr id="9" name="Shape 7"/>
          <p:cNvSpPr/>
          <p:nvPr/>
        </p:nvSpPr>
        <p:spPr>
          <a:xfrm>
            <a:off x="640080" y="1645920"/>
            <a:ext cx="10927080" cy="4434840"/>
          </a:xfrm>
          <a:prstGeom prst="roundRect">
            <a:avLst>
              <a:gd name="adj" fmla="val 1649"/>
            </a:avLst>
          </a:prstGeom>
          <a:solidFill>
            <a:srgbClr val="F8FAFC"/>
          </a:solidFill>
          <a:ln w="1397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868680" y="1810512"/>
            <a:ext cx="10469880" cy="4105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8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print("Hola curso de Python"</a:t>
            </a:r>
            <a:endParaRPr lang="en-US" sz="1800"/>
          </a:p>
          <a:p>
            <a:pPr marL="0" indent="0">
              <a:buNone/>
            </a:pPr>
            <a:endParaRPr lang="en-US" sz="1800"/>
          </a:p>
          <a:p>
            <a:pPr marL="0" indent="0">
              <a:buNone/>
            </a:pPr>
            <a:r>
              <a:rPr lang="en-US" sz="18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Error esperado:</a:t>
            </a:r>
            <a:endParaRPr lang="en-US" sz="1800"/>
          </a:p>
          <a:p>
            <a:pPr marL="0" indent="0">
              <a:buNone/>
            </a:pPr>
            <a:r>
              <a:rPr lang="en-US" sz="18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SyntaxError: falta cerrar el paréntesis</a:t>
            </a:r>
            <a:endParaRPr lang="en-US" sz="180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600CBE61-BE32-62C7-471C-60F423F241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</a:t>
            </a:r>
            <a:endParaRPr lang="en-US" sz="750"/>
          </a:p>
        </p:txBody>
      </p:sp>
      <p:sp>
        <p:nvSpPr>
          <p:cNvPr id="6" name="Text 4"/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1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457200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Inicio del proyecto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85800" y="1097280"/>
            <a:ext cx="107899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Archivo: main.py</a:t>
            </a:r>
            <a:endParaRPr lang="en-US" sz="1600"/>
          </a:p>
        </p:txBody>
      </p:sp>
      <p:sp>
        <p:nvSpPr>
          <p:cNvPr id="9" name="Shape 7"/>
          <p:cNvSpPr/>
          <p:nvPr/>
        </p:nvSpPr>
        <p:spPr>
          <a:xfrm>
            <a:off x="640080" y="1645920"/>
            <a:ext cx="10927080" cy="4434840"/>
          </a:xfrm>
          <a:prstGeom prst="roundRect">
            <a:avLst>
              <a:gd name="adj" fmla="val 1649"/>
            </a:avLst>
          </a:prstGeom>
          <a:solidFill>
            <a:srgbClr val="F8FAFC"/>
          </a:solidFill>
          <a:ln w="1397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868680" y="1810512"/>
            <a:ext cx="10469880" cy="4105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print("ASISTENTE ACADÉMICO DOCENTE")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</a:t>
            </a:r>
            <a:r>
              <a:rPr lang="en-US" sz="14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input("Nombre del </a:t>
            </a:r>
            <a:r>
              <a:rPr lang="en-US" sz="140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estudiante</a:t>
            </a:r>
            <a:r>
              <a:rPr lang="en-US" sz="14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")</a:t>
            </a:r>
            <a:endParaRPr lang="en-US" sz="1400" dirty="0"/>
          </a:p>
          <a:p>
            <a:pPr marL="0" indent="0">
              <a:buNone/>
            </a:pPr>
            <a:r>
              <a:rPr lang="en-US" sz="140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carrera</a:t>
            </a:r>
            <a:r>
              <a:rPr lang="en-US" sz="14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input("Carrera: ")</a:t>
            </a:r>
            <a:endParaRPr lang="en-US" sz="1400" dirty="0"/>
          </a:p>
          <a:p>
            <a:pPr marL="0" indent="0">
              <a:buNone/>
            </a:pPr>
            <a:r>
              <a:rPr lang="en-US" sz="140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asignatura</a:t>
            </a:r>
            <a:r>
              <a:rPr lang="en-US" sz="14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input("</a:t>
            </a:r>
            <a:r>
              <a:rPr lang="en-US" sz="140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Asignatura</a:t>
            </a:r>
            <a:r>
              <a:rPr lang="en-US" sz="14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")</a:t>
            </a:r>
            <a:endParaRPr lang="en-US" sz="1400" dirty="0"/>
          </a:p>
          <a:p>
            <a:pPr marL="0" indent="0">
              <a:buNone/>
            </a:pPr>
            <a:r>
              <a:rPr lang="en-US" sz="140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docente</a:t>
            </a:r>
            <a:r>
              <a:rPr lang="en-US" sz="14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input("Docente: ")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print("--- FICHA ACADÉMICA ---")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</a:t>
            </a:r>
            <a:r>
              <a:rPr lang="en-US" sz="140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f"Estudiante</a:t>
            </a:r>
            <a:r>
              <a:rPr lang="en-US" sz="14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</a:t>
            </a:r>
            <a:r>
              <a:rPr lang="en-US" sz="140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</a:t>
            </a:r>
            <a:r>
              <a:rPr lang="en-US" sz="14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}")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</a:t>
            </a:r>
            <a:r>
              <a:rPr lang="en-US" sz="140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f"Carrera</a:t>
            </a:r>
            <a:r>
              <a:rPr lang="en-US" sz="14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</a:t>
            </a:r>
            <a:r>
              <a:rPr lang="en-US" sz="140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carrera</a:t>
            </a:r>
            <a:r>
              <a:rPr lang="en-US" sz="14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}")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</a:t>
            </a:r>
            <a:r>
              <a:rPr lang="en-US" sz="140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f"Asignatura</a:t>
            </a:r>
            <a:r>
              <a:rPr lang="en-US" sz="14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</a:t>
            </a:r>
            <a:r>
              <a:rPr lang="en-US" sz="140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asignatura</a:t>
            </a:r>
            <a:r>
              <a:rPr lang="en-US" sz="14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}")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</a:t>
            </a:r>
            <a:r>
              <a:rPr lang="en-US" sz="140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f"Docente</a:t>
            </a:r>
            <a:r>
              <a:rPr lang="en-US" sz="14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</a:t>
            </a:r>
            <a:r>
              <a:rPr lang="en-US" sz="140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docente</a:t>
            </a:r>
            <a:r>
              <a:rPr lang="en-US" sz="14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}")</a:t>
            </a:r>
            <a:endParaRPr lang="en-US" sz="1400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741A1A56-8973-D3D7-BAAF-3F40F848FF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5166360"/>
            <a:ext cx="12191695" cy="169164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94360" y="64008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>
                <a:solidFill>
                  <a:srgbClr val="FFD4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580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1078992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Día 2: </a:t>
            </a:r>
            <a:r>
              <a:rPr lang="en-US" sz="4000" b="1" dirty="0" err="1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Fundamentos</a:t>
            </a: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de Python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3063240"/>
            <a:ext cx="987552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20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Usar variables, operadores, entrada/salida y cadenas.</a:t>
            </a:r>
            <a:endParaRPr lang="en-US" sz="2200"/>
          </a:p>
        </p:txBody>
      </p:sp>
      <p:sp>
        <p:nvSpPr>
          <p:cNvPr id="7" name="Text 5"/>
          <p:cNvSpPr/>
          <p:nvPr/>
        </p:nvSpPr>
        <p:spPr>
          <a:xfrm>
            <a:off x="685800" y="5715000"/>
            <a:ext cx="7772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4E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Curso de Programación con Python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1201400" y="62910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1C4E80"/>
                </a:solidFill>
              </a:rPr>
              <a:t>28</a:t>
            </a:r>
            <a:endParaRPr lang="en-US" sz="80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D5713ED1-7D6A-289F-6C81-1F1183FD10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</a:t>
            </a:r>
            <a:endParaRPr lang="en-US" sz="750"/>
          </a:p>
        </p:txBody>
      </p:sp>
      <p:sp>
        <p:nvSpPr>
          <p:cNvPr id="6" name="Text 4"/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2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502920"/>
            <a:ext cx="110642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Día 2 | Temas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77240" y="1325880"/>
            <a:ext cx="10515600" cy="4800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Identación y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comentarios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Variables y nombres.</a:t>
            </a:r>
            <a:endParaRPr lang="en-US" sz="2000" dirty="0"/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Tipos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básicos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Operadores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input, print y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conversión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f-strings.</a:t>
            </a:r>
            <a:endParaRPr lang="en-US" sz="2000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0027B610-73AE-338C-D82C-6D91E19B32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33</a:t>
            </a:r>
            <a:endParaRPr lang="en-US" sz="750"/>
          </a:p>
        </p:txBody>
      </p:sp>
      <p:sp>
        <p:nvSpPr>
          <p:cNvPr id="6" name="Text 4"/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2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502920"/>
            <a:ext cx="110642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Identación en Python</a:t>
            </a:r>
            <a:endParaRPr lang="en-US" sz="2800"/>
          </a:p>
        </p:txBody>
      </p:sp>
      <p:sp>
        <p:nvSpPr>
          <p:cNvPr id="8" name="Text 6"/>
          <p:cNvSpPr/>
          <p:nvPr/>
        </p:nvSpPr>
        <p:spPr>
          <a:xfrm>
            <a:off x="777240" y="1325880"/>
            <a:ext cx="10515600" cy="4800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sangría define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de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código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es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decoración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visual.</a:t>
            </a:r>
            <a:endParaRPr lang="en-US" sz="2000" dirty="0"/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puede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pertenecer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a if, for, while, def o class.</a:t>
            </a:r>
            <a:endParaRPr lang="en-US" sz="2000" dirty="0"/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Mezclar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espacios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y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tabulaciones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causa errores.</a:t>
            </a:r>
            <a:endParaRPr lang="en-US" sz="2000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0D5463C7-0B67-46DC-115C-D8F1AC4F66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34</a:t>
            </a:r>
            <a:endParaRPr lang="en-US" sz="750"/>
          </a:p>
        </p:txBody>
      </p:sp>
      <p:sp>
        <p:nvSpPr>
          <p:cNvPr id="6" name="Text 4"/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2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457200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600" b="1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Ejemplo de identación</a:t>
            </a:r>
            <a:endParaRPr lang="en-US" sz="2600"/>
          </a:p>
        </p:txBody>
      </p:sp>
      <p:sp>
        <p:nvSpPr>
          <p:cNvPr id="8" name="Text 6"/>
          <p:cNvSpPr/>
          <p:nvPr/>
        </p:nvSpPr>
        <p:spPr>
          <a:xfrm>
            <a:off x="685800" y="1097280"/>
            <a:ext cx="107899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segundo print pertenece al bloque if.</a:t>
            </a:r>
            <a:endParaRPr lang="en-US" sz="1600"/>
          </a:p>
        </p:txBody>
      </p:sp>
      <p:sp>
        <p:nvSpPr>
          <p:cNvPr id="9" name="Shape 7"/>
          <p:cNvSpPr/>
          <p:nvPr/>
        </p:nvSpPr>
        <p:spPr>
          <a:xfrm>
            <a:off x="640080" y="1645920"/>
            <a:ext cx="10927080" cy="4434840"/>
          </a:xfrm>
          <a:prstGeom prst="roundRect">
            <a:avLst>
              <a:gd name="adj" fmla="val 1649"/>
            </a:avLst>
          </a:prstGeom>
          <a:solidFill>
            <a:srgbClr val="F8FAFC"/>
          </a:solidFill>
          <a:ln w="1397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868680" y="1810512"/>
            <a:ext cx="10469880" cy="4105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80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edad</a:t>
            </a:r>
            <a:r>
              <a:rPr lang="en-US" sz="18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20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</a:t>
            </a:r>
            <a:r>
              <a:rPr lang="en-US" sz="180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edad</a:t>
            </a:r>
            <a:r>
              <a:rPr lang="en-US" sz="18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&gt;= 18: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print("Mayor de </a:t>
            </a:r>
            <a:r>
              <a:rPr lang="en-US" sz="180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edad</a:t>
            </a:r>
            <a:r>
              <a:rPr lang="en-US" sz="18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")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</a:t>
            </a:r>
            <a:r>
              <a:rPr lang="en-US" sz="180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Puede</a:t>
            </a:r>
            <a:r>
              <a:rPr lang="en-US" sz="18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80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registrarse</a:t>
            </a:r>
            <a:r>
              <a:rPr lang="en-US" sz="18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")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print("Menor de </a:t>
            </a:r>
            <a:r>
              <a:rPr lang="en-US" sz="180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edad</a:t>
            </a:r>
            <a:r>
              <a:rPr lang="en-US" sz="18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")</a:t>
            </a:r>
            <a:endParaRPr lang="en-US" sz="1800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3D7867BD-3DD1-A6FE-1FA6-9D91E0E543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</a:t>
            </a:r>
            <a:endParaRPr lang="en-US" sz="750"/>
          </a:p>
        </p:txBody>
      </p:sp>
      <p:sp>
        <p:nvSpPr>
          <p:cNvPr id="6" name="Text 4"/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2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502920"/>
            <a:ext cx="110642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Variables</a:t>
            </a:r>
            <a:endParaRPr lang="en-US" sz="2800"/>
          </a:p>
        </p:txBody>
      </p:sp>
      <p:graphicFrame>
        <p:nvGraphicFramePr>
          <p:cNvPr id="10" name="Diagrama 9">
            <a:extLst>
              <a:ext uri="{FF2B5EF4-FFF2-40B4-BE49-F238E27FC236}">
                <a16:creationId xmlns:a16="http://schemas.microsoft.com/office/drawing/2014/main" id="{1913CEB3-8DBA-51DA-F994-FD0C80ABD5C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49712476"/>
              </p:ext>
            </p:extLst>
          </p:nvPr>
        </p:nvGraphicFramePr>
        <p:xfrm>
          <a:off x="777240" y="1325880"/>
          <a:ext cx="10515600" cy="4800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9" name="Imagen 8">
            <a:extLst>
              <a:ext uri="{FF2B5EF4-FFF2-40B4-BE49-F238E27FC236}">
                <a16:creationId xmlns:a16="http://schemas.microsoft.com/office/drawing/2014/main" id="{31A069F6-4B3F-3F8E-F7D6-E9E77D400F9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34D82E-75E1-CCBD-58FD-E009F8D8E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9D82263-996A-D6BB-BD8A-9049D5BD2CD1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453C1FB-D416-E64B-C0A2-1E1864142AA7}"/>
              </a:ext>
            </a:extLst>
          </p:cNvPr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F6168CB-1009-A637-61B3-0379D831E0F3}"/>
              </a:ext>
            </a:extLst>
          </p:cNvPr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62ADFD7-5EED-795A-DE75-A7BCF7EE50D0}"/>
              </a:ext>
            </a:extLst>
          </p:cNvPr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</a:t>
            </a:r>
            <a:endParaRPr lang="en-US" sz="75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09FBFCE-866F-70AF-28E2-1C9CA6CF27B3}"/>
              </a:ext>
            </a:extLst>
          </p:cNvPr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2</a:t>
            </a:r>
            <a:endParaRPr lang="en-US" sz="7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E042E23-E3E6-38DB-F998-3EF14F3DB658}"/>
              </a:ext>
            </a:extLst>
          </p:cNvPr>
          <p:cNvSpPr/>
          <p:nvPr/>
        </p:nvSpPr>
        <p:spPr>
          <a:xfrm>
            <a:off x="502920" y="502920"/>
            <a:ext cx="110642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Asignación</a:t>
            </a:r>
            <a:r>
              <a:rPr lang="en-US" sz="2800" b="1" dirty="0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e </a:t>
            </a:r>
            <a:r>
              <a:rPr lang="en-US" sz="2800" b="1" dirty="0" err="1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inmutabilidad</a:t>
            </a:r>
            <a:endParaRPr lang="en-US" sz="2800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77F92BFB-62E6-E1BC-9185-0839BA05C8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5552" y="1097280"/>
            <a:ext cx="7108832" cy="5331624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520EF33E-ADBF-2B5B-A5A5-ECD1DE8CEA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81076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2F4DDB-318F-8A1A-203B-5ED79AE9F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6E0A521-9129-A671-62C1-D95BB7279C6C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7812091-DD23-34CA-3427-7E6AC10FC806}"/>
              </a:ext>
            </a:extLst>
          </p:cNvPr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6B81613-61DA-94E1-0CDC-F5F33303B639}"/>
              </a:ext>
            </a:extLst>
          </p:cNvPr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64CD6EC-C5D1-EF35-85F8-8880CF05D199}"/>
              </a:ext>
            </a:extLst>
          </p:cNvPr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</a:t>
            </a:r>
            <a:endParaRPr lang="en-US" sz="75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CA20309-1B56-2116-53A7-09EC794CA2B3}"/>
              </a:ext>
            </a:extLst>
          </p:cNvPr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2</a:t>
            </a:r>
            <a:endParaRPr lang="en-US" sz="7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35A5FB7-FA41-C5C1-E1FF-1FB8E77B4619}"/>
              </a:ext>
            </a:extLst>
          </p:cNvPr>
          <p:cNvSpPr/>
          <p:nvPr/>
        </p:nvSpPr>
        <p:spPr>
          <a:xfrm>
            <a:off x="502920" y="502920"/>
            <a:ext cx="110642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Formas de escribir variables, nombres de Funciones y constantes</a:t>
            </a:r>
            <a:endParaRPr lang="en-US" sz="2800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C4C61953-F66F-46CA-065E-D8105AE57B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8955" y="1183340"/>
            <a:ext cx="7176068" cy="5382051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EA657565-1D3B-F31B-D910-2F6F1715E5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11908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36</a:t>
            </a:r>
            <a:endParaRPr lang="en-US" sz="750"/>
          </a:p>
        </p:txBody>
      </p:sp>
      <p:sp>
        <p:nvSpPr>
          <p:cNvPr id="6" name="Text 4"/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2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502920"/>
            <a:ext cx="110642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Tipos básicos</a:t>
            </a:r>
            <a:endParaRPr lang="en-US" sz="2800"/>
          </a:p>
        </p:txBody>
      </p:sp>
      <p:graphicFrame>
        <p:nvGraphicFramePr>
          <p:cNvPr id="10" name="Diagrama 9">
            <a:extLst>
              <a:ext uri="{FF2B5EF4-FFF2-40B4-BE49-F238E27FC236}">
                <a16:creationId xmlns:a16="http://schemas.microsoft.com/office/drawing/2014/main" id="{FBA16A2A-E178-12C8-3B42-D3F46972C27F}"/>
              </a:ext>
            </a:extLst>
          </p:cNvPr>
          <p:cNvGraphicFramePr/>
          <p:nvPr/>
        </p:nvGraphicFramePr>
        <p:xfrm>
          <a:off x="777240" y="1325880"/>
          <a:ext cx="10515600" cy="4800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1" name="Imagen 10">
            <a:extLst>
              <a:ext uri="{FF2B5EF4-FFF2-40B4-BE49-F238E27FC236}">
                <a16:creationId xmlns:a16="http://schemas.microsoft.com/office/drawing/2014/main" id="{148F974C-940E-03B4-D171-4F81F7F1238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37</a:t>
            </a:r>
            <a:endParaRPr lang="en-US" sz="750"/>
          </a:p>
        </p:txBody>
      </p:sp>
      <p:sp>
        <p:nvSpPr>
          <p:cNvPr id="6" name="Text 4"/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2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502920"/>
            <a:ext cx="110642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Operadores principales</a:t>
            </a:r>
            <a:endParaRPr lang="en-US" sz="2800"/>
          </a:p>
        </p:txBody>
      </p:sp>
      <p:graphicFrame>
        <p:nvGraphicFramePr>
          <p:cNvPr id="9" name="Diagrama 8">
            <a:extLst>
              <a:ext uri="{FF2B5EF4-FFF2-40B4-BE49-F238E27FC236}">
                <a16:creationId xmlns:a16="http://schemas.microsoft.com/office/drawing/2014/main" id="{1DD4147D-48A6-6920-0CED-1D8B2144421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60961813"/>
              </p:ext>
            </p:extLst>
          </p:nvPr>
        </p:nvGraphicFramePr>
        <p:xfrm>
          <a:off x="777240" y="1325880"/>
          <a:ext cx="10515600" cy="4800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0" name="Imagen 9">
            <a:extLst>
              <a:ext uri="{FF2B5EF4-FFF2-40B4-BE49-F238E27FC236}">
                <a16:creationId xmlns:a16="http://schemas.microsoft.com/office/drawing/2014/main" id="{D40C0C0F-A2F0-F6C5-98FE-75EF76FA623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38</a:t>
            </a:r>
            <a:endParaRPr lang="en-US" sz="750"/>
          </a:p>
        </p:txBody>
      </p:sp>
      <p:sp>
        <p:nvSpPr>
          <p:cNvPr id="6" name="Text 4"/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2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457200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600" b="1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Entrada, salida y conversión</a:t>
            </a:r>
            <a:endParaRPr lang="en-US" sz="2600"/>
          </a:p>
        </p:txBody>
      </p:sp>
      <p:sp>
        <p:nvSpPr>
          <p:cNvPr id="8" name="Text 6"/>
          <p:cNvSpPr/>
          <p:nvPr/>
        </p:nvSpPr>
        <p:spPr>
          <a:xfrm>
            <a:off x="685800" y="1097280"/>
            <a:ext cx="107899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</a:t>
            </a:r>
            <a:r>
              <a:rPr lang="en-US" sz="1600" dirty="0" err="1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siempre</a:t>
            </a:r>
            <a:r>
              <a:rPr lang="en-US" sz="16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600" dirty="0" err="1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devuelve</a:t>
            </a:r>
            <a:r>
              <a:rPr lang="en-US" sz="16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texto.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1645920"/>
            <a:ext cx="10927080" cy="4434840"/>
          </a:xfrm>
          <a:prstGeom prst="roundRect">
            <a:avLst>
              <a:gd name="adj" fmla="val 1649"/>
            </a:avLst>
          </a:prstGeom>
          <a:solidFill>
            <a:srgbClr val="F8FAFC"/>
          </a:solidFill>
          <a:ln w="1397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868680" y="1810512"/>
            <a:ext cx="10469880" cy="4105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8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 = input("Nombre: ")</a:t>
            </a:r>
            <a:endParaRPr lang="en-US" sz="1800"/>
          </a:p>
          <a:p>
            <a:pPr marL="0" indent="0">
              <a:buNone/>
            </a:pPr>
            <a:r>
              <a:rPr lang="en-US" sz="18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edad = int(input("Edad: "))</a:t>
            </a:r>
            <a:endParaRPr lang="en-US" sz="1800"/>
          </a:p>
          <a:p>
            <a:pPr marL="0" indent="0">
              <a:buNone/>
            </a:pPr>
            <a:r>
              <a:rPr lang="en-US" sz="18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promedio = float(input("Promedio: "))</a:t>
            </a:r>
            <a:endParaRPr lang="en-US" sz="1800"/>
          </a:p>
          <a:p>
            <a:pPr marL="0" indent="0">
              <a:buNone/>
            </a:pPr>
            <a:endParaRPr lang="en-US" sz="1800"/>
          </a:p>
          <a:p>
            <a:pPr marL="0" indent="0">
              <a:buNone/>
            </a:pPr>
            <a:r>
              <a:rPr lang="en-US" sz="18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print(f"{nombre} tiene {edad} años")</a:t>
            </a:r>
            <a:endParaRPr lang="en-US" sz="1800"/>
          </a:p>
          <a:p>
            <a:pPr marL="0" indent="0">
              <a:buNone/>
            </a:pPr>
            <a:r>
              <a:rPr lang="en-US" sz="18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print(f"Promedio: {promedio:.2f}")</a:t>
            </a:r>
            <a:endParaRPr lang="en-US" sz="180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61BB3037-E680-93C5-58EA-1BC02C09F2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</a:t>
            </a:r>
            <a:endParaRPr lang="en-US" sz="750"/>
          </a:p>
        </p:txBody>
      </p:sp>
      <p:sp>
        <p:nvSpPr>
          <p:cNvPr id="6" name="Text 4"/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2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457200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600" b="1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Cálculo de promedio</a:t>
            </a:r>
            <a:endParaRPr lang="en-US" sz="2600"/>
          </a:p>
        </p:txBody>
      </p:sp>
      <p:sp>
        <p:nvSpPr>
          <p:cNvPr id="8" name="Text 6"/>
          <p:cNvSpPr/>
          <p:nvPr/>
        </p:nvSpPr>
        <p:spPr>
          <a:xfrm>
            <a:off x="685800" y="1097280"/>
            <a:ext cx="107899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Primer </a:t>
            </a:r>
            <a:r>
              <a:rPr lang="en-US" sz="1600" dirty="0" err="1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cálculo</a:t>
            </a:r>
            <a:r>
              <a:rPr lang="en-US" sz="16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600" dirty="0" err="1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aplicado</a:t>
            </a:r>
            <a:r>
              <a:rPr lang="en-US" sz="16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al proyecto.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1645920"/>
            <a:ext cx="10927080" cy="4434840"/>
          </a:xfrm>
          <a:prstGeom prst="roundRect">
            <a:avLst>
              <a:gd name="adj" fmla="val 1649"/>
            </a:avLst>
          </a:prstGeom>
          <a:solidFill>
            <a:srgbClr val="F8FAFC"/>
          </a:solidFill>
          <a:ln w="1397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868680" y="1810512"/>
            <a:ext cx="10469880" cy="4105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8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nota1 = float(input("Nota 1: "))</a:t>
            </a:r>
            <a:endParaRPr lang="en-US" sz="1800"/>
          </a:p>
          <a:p>
            <a:pPr marL="0" indent="0">
              <a:buNone/>
            </a:pPr>
            <a:r>
              <a:rPr lang="en-US" sz="18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nota2 = float(input("Nota 2: "))</a:t>
            </a:r>
            <a:endParaRPr lang="en-US" sz="1800"/>
          </a:p>
          <a:p>
            <a:pPr marL="0" indent="0">
              <a:buNone/>
            </a:pPr>
            <a:r>
              <a:rPr lang="en-US" sz="18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nota3 = float(input("Nota 3: "))</a:t>
            </a:r>
            <a:endParaRPr lang="en-US" sz="1800"/>
          </a:p>
          <a:p>
            <a:pPr marL="0" indent="0">
              <a:buNone/>
            </a:pPr>
            <a:endParaRPr lang="en-US" sz="1800"/>
          </a:p>
          <a:p>
            <a:pPr marL="0" indent="0">
              <a:buNone/>
            </a:pPr>
            <a:r>
              <a:rPr lang="en-US" sz="18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promedio = (nota1 + nota2 + nota3) / 3</a:t>
            </a:r>
            <a:endParaRPr lang="en-US" sz="1800"/>
          </a:p>
          <a:p>
            <a:pPr marL="0" indent="0">
              <a:buNone/>
            </a:pPr>
            <a:endParaRPr lang="en-US" sz="1800"/>
          </a:p>
          <a:p>
            <a:pPr marL="0" indent="0">
              <a:buNone/>
            </a:pPr>
            <a:r>
              <a:rPr lang="en-US" sz="18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print(f"Promedio: {promedio:.2f}")</a:t>
            </a:r>
            <a:endParaRPr lang="en-US" sz="180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C0D40AF4-099F-4717-513A-719AE8ED97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</a:t>
            </a:r>
            <a:endParaRPr lang="en-US" sz="750"/>
          </a:p>
        </p:txBody>
      </p:sp>
      <p:sp>
        <p:nvSpPr>
          <p:cNvPr id="6" name="Text 4"/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2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457200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600" b="1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Clasificación académica</a:t>
            </a:r>
            <a:endParaRPr lang="en-US" sz="2600"/>
          </a:p>
        </p:txBody>
      </p:sp>
      <p:sp>
        <p:nvSpPr>
          <p:cNvPr id="8" name="Text 6"/>
          <p:cNvSpPr/>
          <p:nvPr/>
        </p:nvSpPr>
        <p:spPr>
          <a:xfrm>
            <a:off x="685800" y="1097280"/>
            <a:ext cx="107899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Condición simple para estado del estudiante.</a:t>
            </a:r>
            <a:endParaRPr lang="en-US" sz="1600"/>
          </a:p>
        </p:txBody>
      </p:sp>
      <p:sp>
        <p:nvSpPr>
          <p:cNvPr id="9" name="Shape 7"/>
          <p:cNvSpPr/>
          <p:nvPr/>
        </p:nvSpPr>
        <p:spPr>
          <a:xfrm>
            <a:off x="640080" y="1645920"/>
            <a:ext cx="10927080" cy="4434840"/>
          </a:xfrm>
          <a:prstGeom prst="roundRect">
            <a:avLst>
              <a:gd name="adj" fmla="val 1649"/>
            </a:avLst>
          </a:prstGeom>
          <a:solidFill>
            <a:srgbClr val="F8FAFC"/>
          </a:solidFill>
          <a:ln w="1397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868680" y="1810512"/>
            <a:ext cx="10469880" cy="4105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8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promedio &gt;= 7:</a:t>
            </a:r>
            <a:endParaRPr lang="en-US" sz="1800"/>
          </a:p>
          <a:p>
            <a:pPr marL="0" indent="0">
              <a:buNone/>
            </a:pPr>
            <a:r>
              <a:rPr lang="en-US" sz="18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estado = "Aprobado"</a:t>
            </a:r>
            <a:endParaRPr lang="en-US" sz="1800"/>
          </a:p>
          <a:p>
            <a:pPr marL="0" indent="0">
              <a:buNone/>
            </a:pPr>
            <a:r>
              <a:rPr lang="en-US" sz="18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 promedio &gt;= 5:</a:t>
            </a:r>
            <a:endParaRPr lang="en-US" sz="1800"/>
          </a:p>
          <a:p>
            <a:pPr marL="0" indent="0">
              <a:buNone/>
            </a:pPr>
            <a:r>
              <a:rPr lang="en-US" sz="18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estado = "Recuperación"</a:t>
            </a:r>
            <a:endParaRPr lang="en-US" sz="1800"/>
          </a:p>
          <a:p>
            <a:pPr marL="0" indent="0">
              <a:buNone/>
            </a:pPr>
            <a:r>
              <a:rPr lang="en-US" sz="18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1800"/>
          </a:p>
          <a:p>
            <a:pPr marL="0" indent="0">
              <a:buNone/>
            </a:pPr>
            <a:r>
              <a:rPr lang="en-US" sz="18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estado = "Reprobado"</a:t>
            </a:r>
            <a:endParaRPr lang="en-US" sz="1800"/>
          </a:p>
          <a:p>
            <a:pPr marL="0" indent="0">
              <a:buNone/>
            </a:pPr>
            <a:endParaRPr lang="en-US" sz="1800"/>
          </a:p>
          <a:p>
            <a:pPr marL="0" indent="0">
              <a:buNone/>
            </a:pPr>
            <a:r>
              <a:rPr lang="en-US" sz="18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print(f"Estado: {estado}")</a:t>
            </a:r>
            <a:endParaRPr lang="en-US" sz="180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99235F58-67E5-9854-AE8C-28A8FF0315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41</a:t>
            </a:r>
            <a:endParaRPr lang="en-US" sz="750"/>
          </a:p>
        </p:txBody>
      </p:sp>
      <p:sp>
        <p:nvSpPr>
          <p:cNvPr id="6" name="Text 4"/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2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502920"/>
            <a:ext cx="110642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Errores </a:t>
            </a:r>
            <a:r>
              <a:rPr lang="en-US" sz="2800" b="1" dirty="0" err="1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frecuentes</a:t>
            </a:r>
            <a:r>
              <a:rPr lang="en-US" sz="2800" b="1" dirty="0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del día 2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77240" y="1325880"/>
            <a:ext cx="10515600" cy="4800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Sumar texto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lugar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de números.  </a:t>
            </a:r>
            <a:endParaRPr lang="en-US" sz="2000" dirty="0"/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Escribir coma decimal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vez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de punto decimal.</a:t>
            </a:r>
            <a:endParaRPr lang="en-US" sz="2000" dirty="0"/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Olvidar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convertir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input a float o int.</a:t>
            </a:r>
            <a:endParaRPr lang="en-US" sz="2000" dirty="0"/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Confundir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= con ==.</a:t>
            </a:r>
            <a:endParaRPr lang="en-US" sz="2000" dirty="0"/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Olvidar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dos puntos al final de if.</a:t>
            </a:r>
            <a:endParaRPr lang="en-US" sz="2000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453A83E4-A284-9729-9CDD-33EAAF7D82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42</a:t>
            </a:r>
            <a:endParaRPr lang="en-US" sz="750"/>
          </a:p>
        </p:txBody>
      </p:sp>
      <p:sp>
        <p:nvSpPr>
          <p:cNvPr id="6" name="Text 4"/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2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502920"/>
            <a:ext cx="110642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Cierre de la sesión 2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77240" y="1325880"/>
            <a:ext cx="10515600" cy="4800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puede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calcular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promedios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estudiante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tiene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un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estado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académico.</a:t>
            </a:r>
            <a:endParaRPr lang="en-US" sz="2000" dirty="0"/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resultados se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muestran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con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formato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empieza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a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hablar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de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validación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7EF0708F-4E79-1DDF-B474-B289AB1306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5166360"/>
            <a:ext cx="12191695" cy="169164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94360" y="64008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>
                <a:solidFill>
                  <a:srgbClr val="FFD4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580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1078992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Sesión 3: </a:t>
            </a:r>
            <a:r>
              <a:rPr lang="en-US" sz="4000" b="1" dirty="0" err="1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Tipos</a:t>
            </a: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y </a:t>
            </a:r>
            <a:r>
              <a:rPr lang="en-US" sz="4000" b="1" dirty="0" err="1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estructuras</a:t>
            </a: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de datos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3063240"/>
            <a:ext cx="987552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200" dirty="0" err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Organizar</a:t>
            </a:r>
            <a:r>
              <a:rPr lang="en-US" sz="2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200" dirty="0" err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varios</a:t>
            </a:r>
            <a:r>
              <a:rPr lang="en-US" sz="2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datos </a:t>
            </a:r>
            <a:r>
              <a:rPr lang="en-US" sz="2200" dirty="0" err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usando</a:t>
            </a:r>
            <a:r>
              <a:rPr lang="en-US" sz="2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200" dirty="0" err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listas</a:t>
            </a:r>
            <a:r>
              <a:rPr lang="en-US" sz="2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</a:t>
            </a:r>
            <a:r>
              <a:rPr lang="en-US" sz="2200" dirty="0" err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tuplas</a:t>
            </a:r>
            <a:r>
              <a:rPr lang="en-US" sz="2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</a:t>
            </a:r>
            <a:r>
              <a:rPr lang="en-US" sz="2200" dirty="0" err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diccionarios</a:t>
            </a:r>
            <a:r>
              <a:rPr lang="en-US" sz="2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y conjuntos.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5715000"/>
            <a:ext cx="7772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4E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Curso de Programación con Python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1201400" y="62910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1C4E80"/>
                </a:solidFill>
              </a:rPr>
              <a:t>43</a:t>
            </a:r>
            <a:endParaRPr lang="en-US" sz="80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6278528C-2FA5-CDE8-69A1-4F1A3B31C7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44</a:t>
            </a:r>
            <a:endParaRPr lang="en-US" sz="750"/>
          </a:p>
        </p:txBody>
      </p:sp>
      <p:sp>
        <p:nvSpPr>
          <p:cNvPr id="6" name="Text 4"/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3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502920"/>
            <a:ext cx="110642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Sesión 3 | Objetivo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77240" y="1325880"/>
            <a:ext cx="10515600" cy="4800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Organizar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varios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datos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usando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listas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tuplas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diccionarios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y conjuntos.</a:t>
            </a:r>
            <a:endParaRPr lang="en-US" sz="2000" dirty="0"/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Conectar el concepto con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tareas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docentes reales.</a:t>
            </a:r>
            <a:endParaRPr lang="en-US" sz="2000" dirty="0"/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Construir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una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parte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del proyecto integrador.</a:t>
            </a:r>
            <a:endParaRPr lang="en-US" sz="2000" dirty="0"/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Cerrar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con una evidencia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ejecutable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24A47848-FBF9-7BB4-5A0B-4B745C3B82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45</a:t>
            </a:r>
            <a:endParaRPr lang="en-US" sz="750"/>
          </a:p>
        </p:txBody>
      </p:sp>
      <p:sp>
        <p:nvSpPr>
          <p:cNvPr id="6" name="Text 4"/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3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502920"/>
            <a:ext cx="110642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Sesión 3 | Agenda de </a:t>
            </a:r>
            <a:r>
              <a:rPr lang="en-US" sz="2800" b="1" dirty="0" err="1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trabajo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77240" y="1325880"/>
            <a:ext cx="10515600" cy="4800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Listas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Tuplas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range.</a:t>
            </a:r>
            <a:endParaRPr lang="en-US" sz="2000" dirty="0"/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Diccionarios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Conjuntos.</a:t>
            </a:r>
            <a:endParaRPr lang="en-US" sz="2000" dirty="0"/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Recorridos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con for.</a:t>
            </a:r>
            <a:endParaRPr lang="en-US" sz="2000" dirty="0"/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Comprensiones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simples.</a:t>
            </a:r>
            <a:endParaRPr lang="en-US" sz="2000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037E445D-E04A-F92D-A661-8732A8C582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46</a:t>
            </a:r>
            <a:endParaRPr lang="en-US" sz="750"/>
          </a:p>
        </p:txBody>
      </p:sp>
      <p:sp>
        <p:nvSpPr>
          <p:cNvPr id="6" name="Text 4"/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3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502920"/>
            <a:ext cx="110642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Sesión 3 | Avance del proyecto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77240" y="1325880"/>
            <a:ext cx="10515600" cy="4069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Registrar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varios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estudiantes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Guardar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cada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estudiante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como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diccionario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Crear una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lista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de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estudiantes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Calcular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promedio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general del curso.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777240" y="5806440"/>
            <a:ext cx="10515600" cy="411480"/>
          </a:xfrm>
          <a:prstGeom prst="rect">
            <a:avLst/>
          </a:prstGeom>
          <a:solidFill>
            <a:srgbClr val="F3F6FA"/>
          </a:solidFill>
          <a:ln w="1651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960120" y="5879592"/>
            <a:ext cx="10149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4E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Proyecto: Asistente Académico Docente con Python</a:t>
            </a:r>
            <a:endParaRPr lang="en-US" sz="1200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0D689309-EB41-937B-5568-BA65816C2F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47</a:t>
            </a:r>
            <a:endParaRPr lang="en-US" sz="750"/>
          </a:p>
        </p:txBody>
      </p:sp>
      <p:sp>
        <p:nvSpPr>
          <p:cNvPr id="6" name="Text 4"/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3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502920"/>
            <a:ext cx="110642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Sesión 3 | Práctica guiada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77240" y="1325880"/>
            <a:ext cx="10515600" cy="4800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Crear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lista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de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estudiantes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Filtrar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estudiantes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con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promedio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menor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a 7.</a:t>
            </a:r>
            <a:endParaRPr lang="en-US" sz="2000" dirty="0"/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Contar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aprobados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y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reprobados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Buscar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estudiante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por cédula.</a:t>
            </a:r>
            <a:endParaRPr lang="en-US" sz="2000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A1E0D1EE-F8A1-0B62-1594-9F15A9D8B1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48</a:t>
            </a:r>
            <a:endParaRPr lang="en-US" sz="750"/>
          </a:p>
        </p:txBody>
      </p:sp>
      <p:sp>
        <p:nvSpPr>
          <p:cNvPr id="6" name="Text 4"/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3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502920"/>
            <a:ext cx="110642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¿Por </a:t>
            </a:r>
            <a:r>
              <a:rPr lang="en-US" sz="2800" b="1" dirty="0" err="1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</a:t>
            </a:r>
            <a:r>
              <a:rPr lang="en-US" sz="2800" b="1" dirty="0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usar </a:t>
            </a:r>
            <a:r>
              <a:rPr lang="en-US" sz="2800" b="1" dirty="0" err="1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estructuras</a:t>
            </a:r>
            <a:r>
              <a:rPr lang="en-US" sz="2800" b="1" dirty="0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de datos?</a:t>
            </a:r>
            <a:endParaRPr lang="en-US" sz="2800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09FEA313-7112-F541-E9F0-0C5CA5DD5FB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871" t="4800" r="11613" b="7334"/>
          <a:stretch>
            <a:fillRect/>
          </a:stretch>
        </p:blipFill>
        <p:spPr>
          <a:xfrm>
            <a:off x="1969476" y="1304426"/>
            <a:ext cx="6400801" cy="5050653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884746C4-1903-5078-5337-C747E26DCD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49</a:t>
            </a:r>
            <a:endParaRPr lang="en-US" sz="750"/>
          </a:p>
        </p:txBody>
      </p:sp>
      <p:sp>
        <p:nvSpPr>
          <p:cNvPr id="6" name="Text 4"/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3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502920"/>
            <a:ext cx="110642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Resumen</a:t>
            </a:r>
            <a:r>
              <a:rPr lang="en-US" sz="2800" b="1" dirty="0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de </a:t>
            </a:r>
            <a:r>
              <a:rPr lang="en-US" sz="2800" b="1" dirty="0" err="1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estructuras</a:t>
            </a:r>
            <a:r>
              <a:rPr lang="en-US" sz="2800" b="1" dirty="0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de datos</a:t>
            </a:r>
            <a:endParaRPr lang="en-US" sz="2800" dirty="0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E5AC6B5A-58AA-A16D-9A6A-675A6CC2836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734" b="4266"/>
          <a:stretch>
            <a:fillRect/>
          </a:stretch>
        </p:blipFill>
        <p:spPr>
          <a:xfrm>
            <a:off x="1865644" y="1016089"/>
            <a:ext cx="7911402" cy="5458867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13A05142-F5A3-598F-E3FF-BD5157F58A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A23F21-E9B1-AD0B-25C0-C442D225B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546F26C-2202-E6BE-9F9E-799393AE3D63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0777776-B566-1DA8-8047-14B04C41B682}"/>
              </a:ext>
            </a:extLst>
          </p:cNvPr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AF557D5-9913-334D-DBAC-07033CBC2A19}"/>
              </a:ext>
            </a:extLst>
          </p:cNvPr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617E48D-4635-2ED2-96CD-56832210710D}"/>
              </a:ext>
            </a:extLst>
          </p:cNvPr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49</a:t>
            </a:r>
            <a:endParaRPr lang="en-US" sz="75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04659AD-9078-3B9E-B511-536103BC7FE1}"/>
              </a:ext>
            </a:extLst>
          </p:cNvPr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3</a:t>
            </a:r>
            <a:endParaRPr lang="en-US" sz="7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AD86412-69B1-1346-57E6-9843D1C93179}"/>
              </a:ext>
            </a:extLst>
          </p:cNvPr>
          <p:cNvSpPr/>
          <p:nvPr/>
        </p:nvSpPr>
        <p:spPr>
          <a:xfrm>
            <a:off x="502920" y="502920"/>
            <a:ext cx="110642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Resumen</a:t>
            </a:r>
            <a:r>
              <a:rPr lang="en-US" sz="2800" b="1" dirty="0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de </a:t>
            </a:r>
            <a:r>
              <a:rPr lang="en-US" sz="2800" b="1" dirty="0" err="1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estructuras</a:t>
            </a:r>
            <a:r>
              <a:rPr lang="en-US" sz="2800" b="1" dirty="0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de datos</a:t>
            </a:r>
            <a:endParaRPr lang="en-US" sz="2800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56E46190-0785-E3C0-3D20-53B81A96B1F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691" t="3022" r="16481" b="2907"/>
          <a:stretch>
            <a:fillRect/>
          </a:stretch>
        </p:blipFill>
        <p:spPr>
          <a:xfrm>
            <a:off x="502920" y="1097280"/>
            <a:ext cx="4542526" cy="4943789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92D0F706-67CD-6BE3-AF42-19A18D1D80F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8479" t="3497" r="17429" b="3497"/>
          <a:stretch>
            <a:fillRect/>
          </a:stretch>
        </p:blipFill>
        <p:spPr>
          <a:xfrm>
            <a:off x="5757702" y="1097279"/>
            <a:ext cx="4542526" cy="4943790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5248610E-683F-E845-3C59-35B1ABEF70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207901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</a:t>
            </a:r>
            <a:endParaRPr lang="en-US" sz="750"/>
          </a:p>
        </p:txBody>
      </p:sp>
      <p:sp>
        <p:nvSpPr>
          <p:cNvPr id="6" name="Text 4"/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3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457200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600" b="1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Listas</a:t>
            </a:r>
            <a:endParaRPr lang="en-US" sz="2600"/>
          </a:p>
        </p:txBody>
      </p:sp>
      <p:sp>
        <p:nvSpPr>
          <p:cNvPr id="8" name="Text 6"/>
          <p:cNvSpPr/>
          <p:nvPr/>
        </p:nvSpPr>
        <p:spPr>
          <a:xfrm>
            <a:off x="685800" y="1097280"/>
            <a:ext cx="107899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 err="1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Útiles</a:t>
            </a:r>
            <a:r>
              <a:rPr lang="en-US" sz="16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para </a:t>
            </a:r>
            <a:r>
              <a:rPr lang="en-US" sz="1600" dirty="0" err="1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notas</a:t>
            </a:r>
            <a:r>
              <a:rPr lang="en-US" sz="16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nombres o </a:t>
            </a:r>
            <a:r>
              <a:rPr lang="en-US" sz="1600" dirty="0" err="1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registros</a:t>
            </a:r>
            <a:r>
              <a:rPr lang="en-US" sz="16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1645920"/>
            <a:ext cx="10927080" cy="4434840"/>
          </a:xfrm>
          <a:prstGeom prst="roundRect">
            <a:avLst>
              <a:gd name="adj" fmla="val 1649"/>
            </a:avLst>
          </a:prstGeom>
          <a:solidFill>
            <a:srgbClr val="F8FAFC"/>
          </a:solidFill>
          <a:ln w="1397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868680" y="1810512"/>
            <a:ext cx="10469880" cy="4105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8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notas = [8.5, 9.0, 7.2]</a:t>
            </a:r>
            <a:endParaRPr lang="en-US" sz="1800"/>
          </a:p>
          <a:p>
            <a:pPr marL="0" indent="0">
              <a:buNone/>
            </a:pPr>
            <a:r>
              <a:rPr lang="en-US" sz="18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notas.append(10.0)</a:t>
            </a:r>
            <a:endParaRPr lang="en-US" sz="1800"/>
          </a:p>
          <a:p>
            <a:pPr marL="0" indent="0">
              <a:buNone/>
            </a:pPr>
            <a:r>
              <a:rPr lang="en-US" sz="18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notas[1] = 9.5</a:t>
            </a:r>
            <a:endParaRPr lang="en-US" sz="1800"/>
          </a:p>
          <a:p>
            <a:pPr marL="0" indent="0">
              <a:buNone/>
            </a:pPr>
            <a:endParaRPr lang="en-US" sz="1800"/>
          </a:p>
          <a:p>
            <a:pPr marL="0" indent="0">
              <a:buNone/>
            </a:pPr>
            <a:r>
              <a:rPr lang="en-US" sz="18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promedio = sum(notas) / len(notas)</a:t>
            </a:r>
            <a:endParaRPr lang="en-US" sz="1800"/>
          </a:p>
          <a:p>
            <a:pPr marL="0" indent="0">
              <a:buNone/>
            </a:pPr>
            <a:r>
              <a:rPr lang="en-US" sz="18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print(notas)</a:t>
            </a:r>
            <a:endParaRPr lang="en-US" sz="1800"/>
          </a:p>
          <a:p>
            <a:pPr marL="0" indent="0">
              <a:buNone/>
            </a:pPr>
            <a:r>
              <a:rPr lang="en-US" sz="18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print(f"Promedio: {promedio:.2f}")</a:t>
            </a:r>
            <a:endParaRPr lang="en-US" sz="180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127C8DFB-F1B1-131C-9E97-ACE9824943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51</a:t>
            </a:r>
            <a:endParaRPr lang="en-US" sz="750"/>
          </a:p>
        </p:txBody>
      </p:sp>
      <p:sp>
        <p:nvSpPr>
          <p:cNvPr id="6" name="Text 4"/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3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457200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600" b="1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Recorrido con enumerate</a:t>
            </a:r>
            <a:endParaRPr lang="en-US" sz="2600"/>
          </a:p>
        </p:txBody>
      </p:sp>
      <p:sp>
        <p:nvSpPr>
          <p:cNvPr id="8" name="Text 6"/>
          <p:cNvSpPr/>
          <p:nvPr/>
        </p:nvSpPr>
        <p:spPr>
          <a:xfrm>
            <a:off x="685800" y="1097280"/>
            <a:ext cx="107899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Permite mostrar índice y valor.</a:t>
            </a:r>
            <a:endParaRPr lang="en-US" sz="1600"/>
          </a:p>
        </p:txBody>
      </p:sp>
      <p:sp>
        <p:nvSpPr>
          <p:cNvPr id="9" name="Shape 7"/>
          <p:cNvSpPr/>
          <p:nvPr/>
        </p:nvSpPr>
        <p:spPr>
          <a:xfrm>
            <a:off x="640080" y="1645920"/>
            <a:ext cx="10927080" cy="4434840"/>
          </a:xfrm>
          <a:prstGeom prst="roundRect">
            <a:avLst>
              <a:gd name="adj" fmla="val 1649"/>
            </a:avLst>
          </a:prstGeom>
          <a:solidFill>
            <a:srgbClr val="F8FAFC"/>
          </a:solidFill>
          <a:ln w="1397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868680" y="1810512"/>
            <a:ext cx="10469880" cy="4105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0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notas = [8.5, 9.0, 7.2]</a:t>
            </a:r>
            <a:endParaRPr lang="en-US" sz="2000"/>
          </a:p>
          <a:p>
            <a:pPr marL="0" indent="0">
              <a:buNone/>
            </a:pPr>
            <a:endParaRPr lang="en-US" sz="2000"/>
          </a:p>
          <a:p>
            <a:pPr marL="0" indent="0">
              <a:buNone/>
            </a:pPr>
            <a:r>
              <a:rPr lang="en-US" sz="20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i, nota in enumerate(notas, start=1):</a:t>
            </a:r>
            <a:endParaRPr lang="en-US" sz="2000"/>
          </a:p>
          <a:p>
            <a:pPr marL="0" indent="0">
              <a:buNone/>
            </a:pPr>
            <a:r>
              <a:rPr lang="en-US" sz="20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print(f"Nota {i}: {nota}")</a:t>
            </a:r>
            <a:endParaRPr lang="en-US" sz="200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18E713E3-719C-1724-2D13-722DE21683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52</a:t>
            </a:r>
            <a:endParaRPr lang="en-US" sz="750"/>
          </a:p>
        </p:txBody>
      </p:sp>
      <p:sp>
        <p:nvSpPr>
          <p:cNvPr id="6" name="Text 4"/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3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457200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600" b="1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Diccionarios</a:t>
            </a:r>
            <a:endParaRPr lang="en-US" sz="2600"/>
          </a:p>
        </p:txBody>
      </p:sp>
      <p:sp>
        <p:nvSpPr>
          <p:cNvPr id="8" name="Text 6"/>
          <p:cNvSpPr/>
          <p:nvPr/>
        </p:nvSpPr>
        <p:spPr>
          <a:xfrm>
            <a:off x="685800" y="1097280"/>
            <a:ext cx="107899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Útiles para representar un estudiante.</a:t>
            </a:r>
            <a:endParaRPr lang="en-US" sz="1600"/>
          </a:p>
        </p:txBody>
      </p:sp>
      <p:sp>
        <p:nvSpPr>
          <p:cNvPr id="9" name="Shape 7"/>
          <p:cNvSpPr/>
          <p:nvPr/>
        </p:nvSpPr>
        <p:spPr>
          <a:xfrm>
            <a:off x="640080" y="1645920"/>
            <a:ext cx="10927080" cy="4434840"/>
          </a:xfrm>
          <a:prstGeom prst="roundRect">
            <a:avLst>
              <a:gd name="adj" fmla="val 1649"/>
            </a:avLst>
          </a:prstGeom>
          <a:solidFill>
            <a:srgbClr val="F8FAFC"/>
          </a:solidFill>
          <a:ln w="1397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868680" y="1810512"/>
            <a:ext cx="10469880" cy="4105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estudiante = {</a:t>
            </a:r>
            <a:endParaRPr lang="en-US" sz="1400"/>
          </a:p>
          <a:p>
            <a:pPr marL="0" indent="0">
              <a:buNone/>
            </a:pPr>
            <a:r>
              <a:rPr lang="en-US" sz="14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"cedula": "0102030405",</a:t>
            </a:r>
            <a:endParaRPr lang="en-US" sz="1400"/>
          </a:p>
          <a:p>
            <a:pPr marL="0" indent="0">
              <a:buNone/>
            </a:pPr>
            <a:r>
              <a:rPr lang="en-US" sz="14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"nombre": "Ana Pérez",</a:t>
            </a:r>
            <a:endParaRPr lang="en-US" sz="1400"/>
          </a:p>
          <a:p>
            <a:pPr marL="0" indent="0">
              <a:buNone/>
            </a:pPr>
            <a:r>
              <a:rPr lang="en-US" sz="14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"carrera": "Zootecnia",</a:t>
            </a:r>
            <a:endParaRPr lang="en-US" sz="1400"/>
          </a:p>
          <a:p>
            <a:pPr marL="0" indent="0">
              <a:buNone/>
            </a:pPr>
            <a:r>
              <a:rPr lang="en-US" sz="14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"notas": [8.5, 9.0, 9.2]</a:t>
            </a:r>
            <a:endParaRPr lang="en-US" sz="1400"/>
          </a:p>
          <a:p>
            <a:pPr marL="0" indent="0">
              <a:buNone/>
            </a:pPr>
            <a:r>
              <a:rPr lang="en-US" sz="14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/>
          </a:p>
          <a:p>
            <a:pPr marL="0" indent="0">
              <a:buNone/>
            </a:pPr>
            <a:endParaRPr lang="en-US" sz="1400"/>
          </a:p>
          <a:p>
            <a:pPr marL="0" indent="0">
              <a:buNone/>
            </a:pPr>
            <a:r>
              <a:rPr lang="en-US" sz="14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estudiante["promedio"] = sum(estudiante["notas"]) / len(estudiante["notas"])</a:t>
            </a:r>
            <a:endParaRPr lang="en-US" sz="1400"/>
          </a:p>
          <a:p>
            <a:pPr marL="0" indent="0">
              <a:buNone/>
            </a:pPr>
            <a:r>
              <a:rPr lang="en-US" sz="14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print(estudiante["nombre"])</a:t>
            </a:r>
            <a:endParaRPr lang="en-US" sz="1400"/>
          </a:p>
          <a:p>
            <a:pPr marL="0" indent="0">
              <a:buNone/>
            </a:pPr>
            <a:r>
              <a:rPr lang="en-US" sz="14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print(estudiante["promedio"])</a:t>
            </a:r>
            <a:endParaRPr lang="en-US" sz="140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35690D48-5F1B-3017-A686-3D821EDADF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53</a:t>
            </a:r>
            <a:endParaRPr lang="en-US" sz="750"/>
          </a:p>
        </p:txBody>
      </p:sp>
      <p:sp>
        <p:nvSpPr>
          <p:cNvPr id="6" name="Text 4"/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3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457200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600" b="1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Lista de diccionarios</a:t>
            </a:r>
            <a:endParaRPr lang="en-US" sz="2600"/>
          </a:p>
        </p:txBody>
      </p:sp>
      <p:sp>
        <p:nvSpPr>
          <p:cNvPr id="8" name="Text 6"/>
          <p:cNvSpPr/>
          <p:nvPr/>
        </p:nvSpPr>
        <p:spPr>
          <a:xfrm>
            <a:off x="685800" y="1097280"/>
            <a:ext cx="107899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Primer </a:t>
            </a:r>
            <a:r>
              <a:rPr lang="en-US" sz="1600" dirty="0" err="1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modelo</a:t>
            </a:r>
            <a:r>
              <a:rPr lang="en-US" sz="16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de datos del proyecto.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1645920"/>
            <a:ext cx="10927080" cy="4434840"/>
          </a:xfrm>
          <a:prstGeom prst="roundRect">
            <a:avLst>
              <a:gd name="adj" fmla="val 1649"/>
            </a:avLst>
          </a:prstGeom>
          <a:solidFill>
            <a:srgbClr val="F8FAFC"/>
          </a:solidFill>
          <a:ln w="1397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868680" y="1810512"/>
            <a:ext cx="10469880" cy="4105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7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estudiantes = [</a:t>
            </a:r>
            <a:endParaRPr lang="en-US" sz="1700"/>
          </a:p>
          <a:p>
            <a:pPr marL="0" indent="0">
              <a:buNone/>
            </a:pPr>
            <a:r>
              <a:rPr lang="en-US" sz="17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{"nombre": "Ana", "promedio": 8.5},</a:t>
            </a:r>
            <a:endParaRPr lang="en-US" sz="1700"/>
          </a:p>
          <a:p>
            <a:pPr marL="0" indent="0">
              <a:buNone/>
            </a:pPr>
            <a:r>
              <a:rPr lang="en-US" sz="17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{"nombre": "Luis", "promedio": 6.2},</a:t>
            </a:r>
            <a:endParaRPr lang="en-US" sz="1700"/>
          </a:p>
          <a:p>
            <a:pPr marL="0" indent="0">
              <a:buNone/>
            </a:pPr>
            <a:r>
              <a:rPr lang="en-US" sz="17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{"nombre": "María", "promedio": 9.1}</a:t>
            </a:r>
            <a:endParaRPr lang="en-US" sz="1700"/>
          </a:p>
          <a:p>
            <a:pPr marL="0" indent="0">
              <a:buNone/>
            </a:pPr>
            <a:r>
              <a:rPr lang="en-US" sz="17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700"/>
          </a:p>
          <a:p>
            <a:pPr marL="0" indent="0">
              <a:buNone/>
            </a:pPr>
            <a:endParaRPr lang="en-US" sz="1700"/>
          </a:p>
          <a:p>
            <a:pPr marL="0" indent="0">
              <a:buNone/>
            </a:pPr>
            <a:r>
              <a:rPr lang="en-US" sz="17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est in estudiantes:</a:t>
            </a:r>
            <a:endParaRPr lang="en-US" sz="1700"/>
          </a:p>
          <a:p>
            <a:pPr marL="0" indent="0">
              <a:buNone/>
            </a:pPr>
            <a:r>
              <a:rPr lang="en-US" sz="17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print(est["nombre"], est["promedio"])</a:t>
            </a:r>
            <a:endParaRPr lang="en-US" sz="170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866F602D-3BDC-528C-E8C3-C977FEEF12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54</a:t>
            </a:r>
            <a:endParaRPr lang="en-US" sz="750"/>
          </a:p>
        </p:txBody>
      </p:sp>
      <p:sp>
        <p:nvSpPr>
          <p:cNvPr id="6" name="Text 4"/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3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457200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600" b="1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Filtrar estudiantes en riesgo</a:t>
            </a:r>
            <a:endParaRPr lang="en-US" sz="2600"/>
          </a:p>
        </p:txBody>
      </p:sp>
      <p:sp>
        <p:nvSpPr>
          <p:cNvPr id="8" name="Text 6"/>
          <p:cNvSpPr/>
          <p:nvPr/>
        </p:nvSpPr>
        <p:spPr>
          <a:xfrm>
            <a:off x="685800" y="1097280"/>
            <a:ext cx="107899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Uso de for + if.</a:t>
            </a:r>
            <a:endParaRPr lang="en-US" sz="1600"/>
          </a:p>
        </p:txBody>
      </p:sp>
      <p:sp>
        <p:nvSpPr>
          <p:cNvPr id="9" name="Shape 7"/>
          <p:cNvSpPr/>
          <p:nvPr/>
        </p:nvSpPr>
        <p:spPr>
          <a:xfrm>
            <a:off x="640080" y="1645920"/>
            <a:ext cx="10927080" cy="4434840"/>
          </a:xfrm>
          <a:prstGeom prst="roundRect">
            <a:avLst>
              <a:gd name="adj" fmla="val 1649"/>
            </a:avLst>
          </a:prstGeom>
          <a:solidFill>
            <a:srgbClr val="F8FAFC"/>
          </a:solidFill>
          <a:ln w="1397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868680" y="1810512"/>
            <a:ext cx="10469880" cy="4105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estudiantes_riesgo = []</a:t>
            </a:r>
            <a:endParaRPr lang="en-US" sz="1600"/>
          </a:p>
          <a:p>
            <a:pPr marL="0" indent="0">
              <a:buNone/>
            </a:pP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est in estudiantes: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est["promedio"] &lt; 7: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estudiantes_riesgo.append(est)</a:t>
            </a:r>
            <a:endParaRPr lang="en-US" sz="1600"/>
          </a:p>
          <a:p>
            <a:pPr marL="0" indent="0">
              <a:buNone/>
            </a:pP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print("Estudiantes en riesgo:")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est in estudiantes_riesgo: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print(est["nombre"])</a:t>
            </a:r>
            <a:endParaRPr lang="en-US" sz="160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28BF75F2-7430-0297-1284-795B40D3BC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55</a:t>
            </a:r>
            <a:endParaRPr lang="en-US" sz="750"/>
          </a:p>
        </p:txBody>
      </p:sp>
      <p:sp>
        <p:nvSpPr>
          <p:cNvPr id="6" name="Text 4"/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3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457200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600" b="1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Conjuntos</a:t>
            </a:r>
            <a:endParaRPr lang="en-US" sz="2600"/>
          </a:p>
        </p:txBody>
      </p:sp>
      <p:sp>
        <p:nvSpPr>
          <p:cNvPr id="8" name="Text 6"/>
          <p:cNvSpPr/>
          <p:nvPr/>
        </p:nvSpPr>
        <p:spPr>
          <a:xfrm>
            <a:off x="685800" y="1097280"/>
            <a:ext cx="107899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Útiles para valores únicos.</a:t>
            </a:r>
            <a:endParaRPr lang="en-US" sz="1600"/>
          </a:p>
        </p:txBody>
      </p:sp>
      <p:sp>
        <p:nvSpPr>
          <p:cNvPr id="9" name="Shape 7"/>
          <p:cNvSpPr/>
          <p:nvPr/>
        </p:nvSpPr>
        <p:spPr>
          <a:xfrm>
            <a:off x="640080" y="1645920"/>
            <a:ext cx="10927080" cy="4434840"/>
          </a:xfrm>
          <a:prstGeom prst="roundRect">
            <a:avLst>
              <a:gd name="adj" fmla="val 1649"/>
            </a:avLst>
          </a:prstGeom>
          <a:solidFill>
            <a:srgbClr val="F8FAFC"/>
          </a:solidFill>
          <a:ln w="1397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868680" y="1810512"/>
            <a:ext cx="10469880" cy="4105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7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paralelo_a = {"Ana", "Luis", "Marta", "Pedro"}</a:t>
            </a:r>
            <a:endParaRPr lang="en-US" sz="1700"/>
          </a:p>
          <a:p>
            <a:pPr marL="0" indent="0">
              <a:buNone/>
            </a:pPr>
            <a:r>
              <a:rPr lang="en-US" sz="17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paralelo_b = {"Marta", "Juan", "Pedro", "Carla"}</a:t>
            </a:r>
            <a:endParaRPr lang="en-US" sz="1700"/>
          </a:p>
          <a:p>
            <a:pPr marL="0" indent="0">
              <a:buNone/>
            </a:pPr>
            <a:endParaRPr lang="en-US" sz="1700"/>
          </a:p>
          <a:p>
            <a:pPr marL="0" indent="0">
              <a:buNone/>
            </a:pPr>
            <a:r>
              <a:rPr lang="en-US" sz="17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print("En ambos:", paralelo_a &amp; paralelo_b)</a:t>
            </a:r>
            <a:endParaRPr lang="en-US" sz="1700"/>
          </a:p>
          <a:p>
            <a:pPr marL="0" indent="0">
              <a:buNone/>
            </a:pPr>
            <a:r>
              <a:rPr lang="en-US" sz="17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print("En A o B:", paralelo_a | paralelo_b)</a:t>
            </a:r>
            <a:endParaRPr lang="en-US" sz="1700"/>
          </a:p>
          <a:p>
            <a:pPr marL="0" indent="0">
              <a:buNone/>
            </a:pPr>
            <a:r>
              <a:rPr lang="en-US" sz="17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print("Solo en A:", paralelo_a - paralelo_b)</a:t>
            </a:r>
            <a:endParaRPr lang="en-US" sz="170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4412DAD0-4231-C3BD-2B6C-02B379DC68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56</a:t>
            </a:r>
            <a:endParaRPr lang="en-US" sz="750"/>
          </a:p>
        </p:txBody>
      </p:sp>
      <p:sp>
        <p:nvSpPr>
          <p:cNvPr id="6" name="Text 4"/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3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457200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600" b="1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Comprensiones</a:t>
            </a:r>
            <a:endParaRPr lang="en-US" sz="2600"/>
          </a:p>
        </p:txBody>
      </p:sp>
      <p:sp>
        <p:nvSpPr>
          <p:cNvPr id="8" name="Text 6"/>
          <p:cNvSpPr/>
          <p:nvPr/>
        </p:nvSpPr>
        <p:spPr>
          <a:xfrm>
            <a:off x="685800" y="1097280"/>
            <a:ext cx="107899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forma compacta de crear </a:t>
            </a:r>
            <a:r>
              <a:rPr lang="en-US" sz="1600" dirty="0" err="1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listas</a:t>
            </a:r>
            <a:r>
              <a:rPr lang="en-US" sz="16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600" dirty="0" err="1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filtradas</a:t>
            </a:r>
            <a:r>
              <a:rPr lang="en-US" sz="16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1645920"/>
            <a:ext cx="10927080" cy="4434840"/>
          </a:xfrm>
          <a:prstGeom prst="roundRect">
            <a:avLst>
              <a:gd name="adj" fmla="val 1649"/>
            </a:avLst>
          </a:prstGeom>
          <a:solidFill>
            <a:srgbClr val="F8FAFC"/>
          </a:solidFill>
          <a:ln w="1397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868680" y="1810512"/>
            <a:ext cx="10469880" cy="4105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8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notas = [5.5, 7.1, 8.0, 6.9, 9.2]</a:t>
            </a:r>
            <a:endParaRPr lang="en-US" sz="1800"/>
          </a:p>
          <a:p>
            <a:pPr marL="0" indent="0">
              <a:buNone/>
            </a:pPr>
            <a:endParaRPr lang="en-US" sz="1800"/>
          </a:p>
          <a:p>
            <a:pPr marL="0" indent="0">
              <a:buNone/>
            </a:pPr>
            <a:r>
              <a:rPr lang="en-US" sz="18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aprobadas = [n for n in notas if n &gt;= 7]</a:t>
            </a:r>
            <a:endParaRPr lang="en-US" sz="1800"/>
          </a:p>
          <a:p>
            <a:pPr marL="0" indent="0">
              <a:buNone/>
            </a:pPr>
            <a:r>
              <a:rPr lang="en-US" sz="18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curva = [min(n + 0.5, 10) for n in notas]</a:t>
            </a:r>
            <a:endParaRPr lang="en-US" sz="1800"/>
          </a:p>
          <a:p>
            <a:pPr marL="0" indent="0">
              <a:buNone/>
            </a:pPr>
            <a:endParaRPr lang="en-US" sz="1800"/>
          </a:p>
          <a:p>
            <a:pPr marL="0" indent="0">
              <a:buNone/>
            </a:pPr>
            <a:r>
              <a:rPr lang="en-US" sz="18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print(aprobadas)</a:t>
            </a:r>
            <a:endParaRPr lang="en-US" sz="1800"/>
          </a:p>
          <a:p>
            <a:pPr marL="0" indent="0">
              <a:buNone/>
            </a:pPr>
            <a:r>
              <a:rPr lang="en-US" sz="18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print(curva)</a:t>
            </a:r>
            <a:endParaRPr lang="en-US" sz="180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00EA550A-BAE0-17E4-CB3F-103CD613D2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57</a:t>
            </a:r>
            <a:endParaRPr lang="en-US" sz="750"/>
          </a:p>
        </p:txBody>
      </p:sp>
      <p:sp>
        <p:nvSpPr>
          <p:cNvPr id="6" name="Text 4"/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3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502920"/>
            <a:ext cx="110642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Errores </a:t>
            </a:r>
            <a:r>
              <a:rPr lang="en-US" sz="2800" b="1" dirty="0" err="1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frecuentes</a:t>
            </a:r>
            <a:r>
              <a:rPr lang="en-US" sz="2800" b="1" dirty="0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del día 3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77240" y="1325880"/>
            <a:ext cx="10515600" cy="4800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IndexError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posición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inexistente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una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lista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KeyError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clave mal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escrita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un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diccionario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Confundir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lista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de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diccionarios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con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diccionario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de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listas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Modificar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una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tupla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pensando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es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lista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Olvidar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set no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conserva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orden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garantizado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65F965F3-9DC0-BFFD-3F58-69F9DC15B0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58</a:t>
            </a:r>
            <a:endParaRPr lang="en-US" sz="750"/>
          </a:p>
        </p:txBody>
      </p:sp>
      <p:sp>
        <p:nvSpPr>
          <p:cNvPr id="6" name="Text 4"/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3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502920"/>
            <a:ext cx="110642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Cierre de la sesión 3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77240" y="1325880"/>
            <a:ext cx="10515600" cy="4800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maneja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varios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estudiantes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datos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están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estructurados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puede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recorrer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filtrar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y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resumir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información.</a:t>
            </a:r>
            <a:endParaRPr lang="en-US" sz="2000" dirty="0"/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proyecto se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parece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más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a una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libreta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académica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1AE28976-4BF0-F450-03D6-796C8FDB4F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5166360"/>
            <a:ext cx="12191695" cy="169164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94360" y="64008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>
                <a:solidFill>
                  <a:srgbClr val="FFD4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580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1078992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Sesión 4: Control de </a:t>
            </a:r>
            <a:r>
              <a:rPr lang="en-US" sz="4000" b="1" dirty="0" err="1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flujo</a:t>
            </a: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y </a:t>
            </a:r>
            <a:r>
              <a:rPr lang="en-US" sz="4000" b="1" dirty="0" err="1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menú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3063240"/>
            <a:ext cx="987552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20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Construir programas con decisiones, ciclos y validaciones.</a:t>
            </a:r>
            <a:endParaRPr lang="en-US" sz="2200"/>
          </a:p>
        </p:txBody>
      </p:sp>
      <p:sp>
        <p:nvSpPr>
          <p:cNvPr id="7" name="Text 5"/>
          <p:cNvSpPr/>
          <p:nvPr/>
        </p:nvSpPr>
        <p:spPr>
          <a:xfrm>
            <a:off x="685800" y="5715000"/>
            <a:ext cx="7772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4E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Curso de Programación con Python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1201400" y="62910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1C4E80"/>
                </a:solidFill>
              </a:rPr>
              <a:t>59</a:t>
            </a:r>
            <a:endParaRPr lang="en-US" sz="80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4CA7CF2A-1B0B-0F0D-F1E5-1355EC58D5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65</a:t>
            </a:r>
            <a:endParaRPr lang="en-US" sz="750"/>
          </a:p>
        </p:txBody>
      </p:sp>
      <p:sp>
        <p:nvSpPr>
          <p:cNvPr id="6" name="Text 4"/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4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457200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600" b="1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Condicionales</a:t>
            </a:r>
            <a:endParaRPr lang="en-US" sz="2600"/>
          </a:p>
        </p:txBody>
      </p:sp>
      <p:sp>
        <p:nvSpPr>
          <p:cNvPr id="8" name="Text 6"/>
          <p:cNvSpPr/>
          <p:nvPr/>
        </p:nvSpPr>
        <p:spPr>
          <a:xfrm>
            <a:off x="685800" y="1097280"/>
            <a:ext cx="107899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 err="1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Clasificación</a:t>
            </a:r>
            <a:r>
              <a:rPr lang="en-US" sz="16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por </a:t>
            </a:r>
            <a:r>
              <a:rPr lang="en-US" sz="1600" dirty="0" err="1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rango</a:t>
            </a:r>
            <a:r>
              <a:rPr lang="en-US" sz="16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1645920"/>
            <a:ext cx="10927080" cy="4434840"/>
          </a:xfrm>
          <a:prstGeom prst="roundRect">
            <a:avLst>
              <a:gd name="adj" fmla="val 1649"/>
            </a:avLst>
          </a:prstGeom>
          <a:solidFill>
            <a:srgbClr val="F8FAFC"/>
          </a:solidFill>
          <a:ln w="1397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868680" y="1810512"/>
            <a:ext cx="10469880" cy="4105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promedio = float(input("Promedio: "))</a:t>
            </a:r>
            <a:endParaRPr lang="en-US" sz="1600"/>
          </a:p>
          <a:p>
            <a:pPr marL="0" indent="0">
              <a:buNone/>
            </a:pP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promedio &gt;= 9: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categoria = "Excelente"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 promedio &gt;= 7: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categoria = "Aprobado"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 promedio &gt;= 5: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categoria = "Recuperación"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categoria = "Reprobado"</a:t>
            </a:r>
            <a:endParaRPr lang="en-US" sz="1600"/>
          </a:p>
          <a:p>
            <a:pPr marL="0" indent="0">
              <a:buNone/>
            </a:pP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print(categoria)</a:t>
            </a:r>
            <a:endParaRPr lang="en-US" sz="160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09896EDC-DCDE-E91D-CFA0-5B4A3EBA3B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66</a:t>
            </a:r>
            <a:endParaRPr lang="en-US" sz="750"/>
          </a:p>
        </p:txBody>
      </p:sp>
      <p:sp>
        <p:nvSpPr>
          <p:cNvPr id="6" name="Text 4"/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4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457200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600" b="1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Operadores lógicos</a:t>
            </a:r>
            <a:endParaRPr lang="en-US" sz="2600"/>
          </a:p>
        </p:txBody>
      </p:sp>
      <p:sp>
        <p:nvSpPr>
          <p:cNvPr id="8" name="Text 6"/>
          <p:cNvSpPr/>
          <p:nvPr/>
        </p:nvSpPr>
        <p:spPr>
          <a:xfrm>
            <a:off x="685800" y="1097280"/>
            <a:ext cx="107899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Dos condiciones al mismo tiempo.</a:t>
            </a:r>
            <a:endParaRPr lang="en-US" sz="1600"/>
          </a:p>
        </p:txBody>
      </p:sp>
      <p:sp>
        <p:nvSpPr>
          <p:cNvPr id="9" name="Shape 7"/>
          <p:cNvSpPr/>
          <p:nvPr/>
        </p:nvSpPr>
        <p:spPr>
          <a:xfrm>
            <a:off x="640080" y="1645920"/>
            <a:ext cx="10927080" cy="4434840"/>
          </a:xfrm>
          <a:prstGeom prst="roundRect">
            <a:avLst>
              <a:gd name="adj" fmla="val 1649"/>
            </a:avLst>
          </a:prstGeom>
          <a:solidFill>
            <a:srgbClr val="F8FAFC"/>
          </a:solidFill>
          <a:ln w="1397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868680" y="1810512"/>
            <a:ext cx="10469880" cy="4105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asistencia = 0.82</a:t>
            </a:r>
            <a:endParaRPr lang="en-US" sz="1700" dirty="0"/>
          </a:p>
          <a:p>
            <a:pPr marL="0" indent="0">
              <a:buNone/>
            </a:pPr>
            <a:r>
              <a:rPr lang="en-US" sz="170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promedio</a:t>
            </a:r>
            <a:r>
              <a:rPr lang="en-US" sz="17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7.4</a:t>
            </a:r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aprueba</a:t>
            </a:r>
            <a:r>
              <a:rPr lang="en-US" sz="17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70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promedio</a:t>
            </a:r>
            <a:r>
              <a:rPr lang="en-US" sz="17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&gt;= 7 and asistencia &gt;= 0.75</a:t>
            </a:r>
            <a:endParaRPr lang="en-US" sz="1700" dirty="0"/>
          </a:p>
          <a:p>
            <a:pPr marL="0" indent="0">
              <a:buNone/>
            </a:pPr>
            <a:r>
              <a:rPr lang="en-US" sz="170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puede_recuperar</a:t>
            </a:r>
            <a:r>
              <a:rPr lang="en-US" sz="17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70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promedio</a:t>
            </a:r>
            <a:r>
              <a:rPr lang="en-US" sz="17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&gt;= 5 and not </a:t>
            </a:r>
            <a:r>
              <a:rPr lang="en-US" sz="170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aprueba</a:t>
            </a:r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</a:t>
            </a:r>
            <a:r>
              <a:rPr lang="en-US" sz="170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Aprueba</a:t>
            </a:r>
            <a:r>
              <a:rPr lang="en-US" sz="17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:", </a:t>
            </a:r>
            <a:r>
              <a:rPr lang="en-US" sz="170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aprueba</a:t>
            </a:r>
            <a:r>
              <a:rPr lang="en-US" sz="17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</a:t>
            </a:r>
            <a:r>
              <a:rPr lang="en-US" sz="170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Puede</a:t>
            </a:r>
            <a:r>
              <a:rPr lang="en-US" sz="17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70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recuperar</a:t>
            </a:r>
            <a:r>
              <a:rPr lang="en-US" sz="17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:", </a:t>
            </a:r>
            <a:r>
              <a:rPr lang="en-US" sz="170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puede_recuperar</a:t>
            </a:r>
            <a:r>
              <a:rPr lang="en-US" sz="17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700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C826080C-CFB7-0302-3745-54A5AE669F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67</a:t>
            </a:r>
            <a:endParaRPr lang="en-US" sz="750"/>
          </a:p>
        </p:txBody>
      </p:sp>
      <p:sp>
        <p:nvSpPr>
          <p:cNvPr id="6" name="Text 4"/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4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457200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600" b="1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Bucle for</a:t>
            </a:r>
            <a:endParaRPr lang="en-US" sz="2600"/>
          </a:p>
        </p:txBody>
      </p:sp>
      <p:sp>
        <p:nvSpPr>
          <p:cNvPr id="8" name="Text 6"/>
          <p:cNvSpPr/>
          <p:nvPr/>
        </p:nvSpPr>
        <p:spPr>
          <a:xfrm>
            <a:off x="685800" y="1097280"/>
            <a:ext cx="107899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 err="1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Recorrer</a:t>
            </a:r>
            <a:r>
              <a:rPr lang="en-US" sz="16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una </a:t>
            </a:r>
            <a:r>
              <a:rPr lang="en-US" sz="1600" dirty="0" err="1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lista</a:t>
            </a:r>
            <a:r>
              <a:rPr lang="en-US" sz="16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1645920"/>
            <a:ext cx="10927080" cy="4434840"/>
          </a:xfrm>
          <a:prstGeom prst="roundRect">
            <a:avLst>
              <a:gd name="adj" fmla="val 1649"/>
            </a:avLst>
          </a:prstGeom>
          <a:solidFill>
            <a:srgbClr val="F8FAFC"/>
          </a:solidFill>
          <a:ln w="1397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868680" y="1810512"/>
            <a:ext cx="10469880" cy="4105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8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notas = [8.2, 9.1, 6.5, 7.8]</a:t>
            </a:r>
            <a:endParaRPr lang="en-US" sz="1800"/>
          </a:p>
          <a:p>
            <a:pPr marL="0" indent="0">
              <a:buNone/>
            </a:pPr>
            <a:endParaRPr lang="en-US" sz="1800"/>
          </a:p>
          <a:p>
            <a:pPr marL="0" indent="0">
              <a:buNone/>
            </a:pPr>
            <a:r>
              <a:rPr lang="en-US" sz="18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suma = 0</a:t>
            </a:r>
            <a:endParaRPr lang="en-US" sz="1800"/>
          </a:p>
          <a:p>
            <a:pPr marL="0" indent="0">
              <a:buNone/>
            </a:pPr>
            <a:r>
              <a:rPr lang="en-US" sz="18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nota in notas:</a:t>
            </a:r>
            <a:endParaRPr lang="en-US" sz="1800"/>
          </a:p>
          <a:p>
            <a:pPr marL="0" indent="0">
              <a:buNone/>
            </a:pPr>
            <a:r>
              <a:rPr lang="en-US" sz="18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suma += nota</a:t>
            </a:r>
            <a:endParaRPr lang="en-US" sz="1800"/>
          </a:p>
          <a:p>
            <a:pPr marL="0" indent="0">
              <a:buNone/>
            </a:pPr>
            <a:endParaRPr lang="en-US" sz="1800"/>
          </a:p>
          <a:p>
            <a:pPr marL="0" indent="0">
              <a:buNone/>
            </a:pPr>
            <a:r>
              <a:rPr lang="en-US" sz="18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promedio = suma / len(notas)</a:t>
            </a:r>
            <a:endParaRPr lang="en-US" sz="1800"/>
          </a:p>
          <a:p>
            <a:pPr marL="0" indent="0">
              <a:buNone/>
            </a:pPr>
            <a:r>
              <a:rPr lang="en-US" sz="18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print(f"Promedio: {promedio:.2f}")</a:t>
            </a:r>
            <a:endParaRPr lang="en-US" sz="180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36D45EBD-177A-E690-3927-D808C11F47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68</a:t>
            </a:r>
            <a:endParaRPr lang="en-US" sz="750"/>
          </a:p>
        </p:txBody>
      </p:sp>
      <p:sp>
        <p:nvSpPr>
          <p:cNvPr id="6" name="Text 4"/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4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457200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600" b="1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Bucle while y validación</a:t>
            </a:r>
            <a:endParaRPr lang="en-US" sz="2600"/>
          </a:p>
        </p:txBody>
      </p:sp>
      <p:sp>
        <p:nvSpPr>
          <p:cNvPr id="8" name="Text 6"/>
          <p:cNvSpPr/>
          <p:nvPr/>
        </p:nvSpPr>
        <p:spPr>
          <a:xfrm>
            <a:off x="685800" y="1097280"/>
            <a:ext cx="107899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Repetir hasta recibir un dato válido.</a:t>
            </a:r>
            <a:endParaRPr lang="en-US" sz="1600"/>
          </a:p>
        </p:txBody>
      </p:sp>
      <p:sp>
        <p:nvSpPr>
          <p:cNvPr id="9" name="Shape 7"/>
          <p:cNvSpPr/>
          <p:nvPr/>
        </p:nvSpPr>
        <p:spPr>
          <a:xfrm>
            <a:off x="640080" y="1645920"/>
            <a:ext cx="10927080" cy="4434840"/>
          </a:xfrm>
          <a:prstGeom prst="roundRect">
            <a:avLst>
              <a:gd name="adj" fmla="val 1649"/>
            </a:avLst>
          </a:prstGeom>
          <a:solidFill>
            <a:srgbClr val="F8FAFC"/>
          </a:solidFill>
          <a:ln w="1397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868680" y="1810512"/>
            <a:ext cx="10469880" cy="4105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True: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texto = input("</a:t>
            </a:r>
            <a:r>
              <a:rPr lang="en-US" sz="140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Ingrese</a:t>
            </a:r>
            <a:r>
              <a:rPr lang="en-US" sz="14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una nota entre 0 y 10: ")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try: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nota = float(texto)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0 &lt;= nota &lt;= 10: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break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print("La nota </a:t>
            </a:r>
            <a:r>
              <a:rPr lang="en-US" sz="140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debe</a:t>
            </a:r>
            <a:r>
              <a:rPr lang="en-US" sz="14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estar</a:t>
            </a:r>
            <a:r>
              <a:rPr lang="en-US" sz="14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entre 0 y 10.")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except </a:t>
            </a:r>
            <a:r>
              <a:rPr lang="en-US" sz="140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ValueError</a:t>
            </a:r>
            <a:r>
              <a:rPr lang="en-US" sz="14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print("</a:t>
            </a:r>
            <a:r>
              <a:rPr lang="en-US" sz="140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Ingrese</a:t>
            </a:r>
            <a:r>
              <a:rPr lang="en-US" sz="14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un </a:t>
            </a:r>
            <a:r>
              <a:rPr lang="en-US" sz="140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número</a:t>
            </a:r>
            <a:r>
              <a:rPr lang="en-US" sz="14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válido</a:t>
            </a:r>
            <a:r>
              <a:rPr lang="en-US" sz="14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.")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print("Nota </a:t>
            </a:r>
            <a:r>
              <a:rPr lang="en-US" sz="140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registrada</a:t>
            </a:r>
            <a:r>
              <a:rPr lang="en-US" sz="14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:", nota)</a:t>
            </a:r>
            <a:endParaRPr lang="en-US" sz="1400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A6E34E86-0DCC-89D9-B437-B67E1CAD6E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69</a:t>
            </a:r>
            <a:endParaRPr lang="en-US" sz="750"/>
          </a:p>
        </p:txBody>
      </p:sp>
      <p:sp>
        <p:nvSpPr>
          <p:cNvPr id="6" name="Text 4"/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4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457200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 err="1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Menú</a:t>
            </a:r>
            <a:r>
              <a:rPr lang="en-US" sz="2600" b="1" dirty="0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del proyecto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85800" y="1097280"/>
            <a:ext cx="107899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Primer menú interactivo.</a:t>
            </a:r>
            <a:endParaRPr lang="en-US" sz="1600"/>
          </a:p>
        </p:txBody>
      </p:sp>
      <p:sp>
        <p:nvSpPr>
          <p:cNvPr id="9" name="Shape 7"/>
          <p:cNvSpPr/>
          <p:nvPr/>
        </p:nvSpPr>
        <p:spPr>
          <a:xfrm>
            <a:off x="640080" y="1645920"/>
            <a:ext cx="10927080" cy="4434840"/>
          </a:xfrm>
          <a:prstGeom prst="roundRect">
            <a:avLst>
              <a:gd name="adj" fmla="val 1649"/>
            </a:avLst>
          </a:prstGeom>
          <a:solidFill>
            <a:srgbClr val="F8FAFC"/>
          </a:solidFill>
          <a:ln w="1397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868680" y="1810512"/>
            <a:ext cx="10469880" cy="4105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True: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ASISTENTE ACADÉMICO")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print("1. Registrar </a:t>
            </a:r>
            <a:r>
              <a:rPr lang="en-US" sz="115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estudiante</a:t>
            </a: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print("2. </a:t>
            </a:r>
            <a:r>
              <a:rPr lang="en-US" sz="115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Listar</a:t>
            </a: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estudiantes</a:t>
            </a: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print("3. Ver </a:t>
            </a:r>
            <a:r>
              <a:rPr lang="en-US" sz="115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estudiantes</a:t>
            </a: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riesgo</a:t>
            </a: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print("4. </a:t>
            </a:r>
            <a:r>
              <a:rPr lang="en-US" sz="115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Salir</a:t>
            </a: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")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5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opcion</a:t>
            </a: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input("</a:t>
            </a:r>
            <a:r>
              <a:rPr lang="en-US" sz="115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Seleccione</a:t>
            </a: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una </a:t>
            </a:r>
            <a:r>
              <a:rPr lang="en-US" sz="115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opción</a:t>
            </a: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")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</a:t>
            </a:r>
            <a:r>
              <a:rPr lang="en-US" sz="115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opcion</a:t>
            </a: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== "1":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print("Registrar </a:t>
            </a:r>
            <a:r>
              <a:rPr lang="en-US" sz="115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estudiante</a:t>
            </a: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5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</a:t>
            </a: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opcion</a:t>
            </a: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== "2":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print("</a:t>
            </a:r>
            <a:r>
              <a:rPr lang="en-US" sz="115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Listar</a:t>
            </a: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estudiantes</a:t>
            </a: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5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</a:t>
            </a: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opcion</a:t>
            </a: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== "3":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print("</a:t>
            </a:r>
            <a:r>
              <a:rPr lang="en-US" sz="115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Estudiantes</a:t>
            </a: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riesgo</a:t>
            </a: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5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</a:t>
            </a: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opcion</a:t>
            </a: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== "4":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break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print("Opción no </a:t>
            </a:r>
            <a:r>
              <a:rPr lang="en-US" sz="115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válida</a:t>
            </a: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")</a:t>
            </a:r>
            <a:endParaRPr lang="en-US" sz="1150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14E799FF-9501-7273-2410-668C2ABF38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70</a:t>
            </a:r>
            <a:endParaRPr lang="en-US" sz="750"/>
          </a:p>
        </p:txBody>
      </p:sp>
      <p:sp>
        <p:nvSpPr>
          <p:cNvPr id="6" name="Text 4"/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4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502920"/>
            <a:ext cx="110642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Errores </a:t>
            </a:r>
            <a:r>
              <a:rPr lang="en-US" sz="2800" b="1" dirty="0" err="1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frecuentes</a:t>
            </a:r>
            <a:r>
              <a:rPr lang="en-US" sz="2800" b="1" dirty="0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del día 4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77240" y="1325880"/>
            <a:ext cx="10515600" cy="4800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Crear un while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infinito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sin salida.</a:t>
            </a:r>
            <a:endParaRPr lang="en-US" sz="2000" dirty="0"/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Ordenar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mal las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condiciones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Usar =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lugar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de ==.</a:t>
            </a:r>
            <a:endParaRPr lang="en-US" sz="2000" dirty="0"/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validar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datos antes de calcular.</a:t>
            </a:r>
            <a:endParaRPr lang="en-US" sz="2000" dirty="0"/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Repetir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mucho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código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dentro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del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menú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6105C11E-12F6-47CB-4C41-3B34709B0B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71</a:t>
            </a:r>
            <a:endParaRPr lang="en-US" sz="750"/>
          </a:p>
        </p:txBody>
      </p:sp>
      <p:sp>
        <p:nvSpPr>
          <p:cNvPr id="6" name="Text 4"/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4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502920"/>
            <a:ext cx="110642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Cierre de la sesión 4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77240" y="1325880"/>
            <a:ext cx="10515600" cy="4800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El proyecto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tiene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menú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El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usuario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puede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elegir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acciones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incorporan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validaciones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El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empieza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a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sentirse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como una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aplicación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C5CBE807-9D5E-FA90-28A2-991553C68E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5166360"/>
            <a:ext cx="12191695" cy="169164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94360" y="64008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>
                <a:solidFill>
                  <a:srgbClr val="FFD4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05</a:t>
            </a:r>
            <a:endParaRPr lang="en-US" sz="580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1078992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Sesión 5: Funciones, errores y </a:t>
            </a:r>
            <a:r>
              <a:rPr lang="en-US" sz="4000" b="1" dirty="0" err="1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depuración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3063240"/>
            <a:ext cx="987552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200" dirty="0" err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Organizar</a:t>
            </a:r>
            <a:r>
              <a:rPr lang="en-US" sz="2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el </a:t>
            </a:r>
            <a:r>
              <a:rPr lang="en-US" sz="2200" dirty="0" err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código</a:t>
            </a:r>
            <a:r>
              <a:rPr lang="en-US" sz="2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200" dirty="0" err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</a:t>
            </a:r>
            <a:r>
              <a:rPr lang="en-US" sz="2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200" dirty="0" err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funciones</a:t>
            </a:r>
            <a:r>
              <a:rPr lang="en-US" sz="2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200" dirty="0" err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reutilizables</a:t>
            </a:r>
            <a:r>
              <a:rPr lang="en-US" sz="2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y </a:t>
            </a:r>
            <a:r>
              <a:rPr lang="en-US" sz="2200" dirty="0" err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aprender</a:t>
            </a:r>
            <a:r>
              <a:rPr lang="en-US" sz="2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a </a:t>
            </a:r>
            <a:r>
              <a:rPr lang="en-US" sz="2200" dirty="0" err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corregir</a:t>
            </a:r>
            <a:r>
              <a:rPr lang="en-US" sz="2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200" dirty="0" err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fallos</a:t>
            </a:r>
            <a:r>
              <a:rPr lang="en-US" sz="2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5715000"/>
            <a:ext cx="7772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4E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Curso de Programación con Python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1201400" y="62910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1C4E80"/>
                </a:solidFill>
              </a:rPr>
              <a:t>72</a:t>
            </a:r>
            <a:endParaRPr lang="en-US" sz="80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80A63A3C-C962-9841-604D-AA9A78B6D0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73</a:t>
            </a:r>
            <a:endParaRPr lang="en-US" sz="750"/>
          </a:p>
        </p:txBody>
      </p:sp>
      <p:sp>
        <p:nvSpPr>
          <p:cNvPr id="6" name="Text 4"/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5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502920"/>
            <a:ext cx="110642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Sesión 5 | Objetivo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77240" y="1325880"/>
            <a:ext cx="10515600" cy="4800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Organizar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el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código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funciones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reutilizables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y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aprender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a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corregir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fallos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Conectar el concepto con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tareas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docentes reales.</a:t>
            </a:r>
            <a:endParaRPr lang="en-US" sz="2000" dirty="0"/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Construir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una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parte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del proyecto integrador.</a:t>
            </a:r>
            <a:endParaRPr lang="en-US" sz="2000" dirty="0"/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Cerrar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con una evidencia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ejecutable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47FB6486-C988-FC58-5CAC-89541A7E78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74</a:t>
            </a:r>
            <a:endParaRPr lang="en-US" sz="750"/>
          </a:p>
        </p:txBody>
      </p:sp>
      <p:sp>
        <p:nvSpPr>
          <p:cNvPr id="6" name="Text 4"/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5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502920"/>
            <a:ext cx="110642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Sesión 5 | Agenda de </a:t>
            </a:r>
            <a:r>
              <a:rPr lang="en-US" sz="2800" b="1" dirty="0" err="1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trabajo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77240" y="1325880"/>
            <a:ext cx="10515600" cy="4800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def.</a:t>
            </a:r>
            <a:endParaRPr lang="en-US" sz="2000" dirty="0"/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Parámetros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return.</a:t>
            </a:r>
            <a:endParaRPr lang="en-US" sz="2000" dirty="0"/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Docstrings.</a:t>
            </a:r>
            <a:endParaRPr lang="en-US" sz="2000" dirty="0"/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Alcance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de variables.</a:t>
            </a:r>
            <a:endParaRPr lang="en-US" sz="2000" dirty="0"/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try/except.</a:t>
            </a:r>
            <a:endParaRPr lang="en-US" sz="2000" dirty="0"/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Depuración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VS Code.</a:t>
            </a:r>
            <a:endParaRPr lang="en-US" sz="2000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EECB773D-0385-205D-4405-230DEEE829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75</a:t>
            </a:r>
            <a:endParaRPr lang="en-US" sz="750"/>
          </a:p>
        </p:txBody>
      </p:sp>
      <p:sp>
        <p:nvSpPr>
          <p:cNvPr id="6" name="Text 4"/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5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502920"/>
            <a:ext cx="110642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Sesión 5 | Avance del proyecto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77240" y="1325880"/>
            <a:ext cx="10515600" cy="4069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Separar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el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menú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funciones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Crear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función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calcular_promedio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Crear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función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clasificar_promedio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Crear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función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leer_nota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Mejorar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la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legibilidad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777240" y="5806440"/>
            <a:ext cx="10515600" cy="411480"/>
          </a:xfrm>
          <a:prstGeom prst="rect">
            <a:avLst/>
          </a:prstGeom>
          <a:solidFill>
            <a:srgbClr val="F3F6FA"/>
          </a:solidFill>
          <a:ln w="1651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960120" y="5879592"/>
            <a:ext cx="10149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4E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Proyecto: Asistente Académico Docente con Python</a:t>
            </a:r>
            <a:endParaRPr lang="en-US" sz="1200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1B2BC0AA-007E-BB5D-CD01-F8FD5AAA16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76</a:t>
            </a:r>
            <a:endParaRPr lang="en-US" sz="750"/>
          </a:p>
        </p:txBody>
      </p:sp>
      <p:sp>
        <p:nvSpPr>
          <p:cNvPr id="6" name="Text 4"/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5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502920"/>
            <a:ext cx="110642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Sesión 5 | Práctica guiada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77240" y="1325880"/>
            <a:ext cx="10515600" cy="4800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Refactorizar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el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menú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del día anterior.</a:t>
            </a:r>
            <a:endParaRPr lang="en-US" sz="2000" dirty="0"/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Crear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módulo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de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validaciones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Probar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entradas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incorrectas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Depurar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una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función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paso a paso.</a:t>
            </a:r>
            <a:endParaRPr lang="en-US" sz="2000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B464E284-1EA9-043B-2F83-58CDCC7E7D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77</a:t>
            </a:r>
            <a:endParaRPr lang="en-US" sz="750"/>
          </a:p>
        </p:txBody>
      </p:sp>
      <p:sp>
        <p:nvSpPr>
          <p:cNvPr id="6" name="Text 4"/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5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502920"/>
            <a:ext cx="110642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C4E80"/>
                </a:solidFill>
                <a:latin typeface="Aptos Display" pitchFamily="34" charset="0"/>
              </a:rPr>
              <a:t>Funciones con python</a:t>
            </a:r>
            <a:endParaRPr lang="en-US" sz="2800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9F93BC73-5FCB-9E02-76E0-DC159BC912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61F725A0-D29A-1901-95F6-FB64567050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0" y="705896"/>
            <a:ext cx="8202804" cy="6152103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2D1377-DC68-E29D-757F-710254069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D51D5D1-995D-E5E5-207E-3ED9FA8411DF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4FBF396-8530-74C2-97BF-3AA1AF22A97D}"/>
              </a:ext>
            </a:extLst>
          </p:cNvPr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F8327AE-A043-F09A-7649-BDFC33A4BFAF}"/>
              </a:ext>
            </a:extLst>
          </p:cNvPr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965A3FD-99AF-990C-220F-8CEBB45FE167}"/>
              </a:ext>
            </a:extLst>
          </p:cNvPr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77</a:t>
            </a:r>
            <a:endParaRPr lang="en-US" sz="75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D35EDAA-2E67-14D0-0E96-D47F46DCD353}"/>
              </a:ext>
            </a:extLst>
          </p:cNvPr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5</a:t>
            </a:r>
            <a:endParaRPr lang="en-US" sz="7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8318EC72-7D82-F0F9-DC37-B8F5325AD8A0}"/>
              </a:ext>
            </a:extLst>
          </p:cNvPr>
          <p:cNvSpPr/>
          <p:nvPr/>
        </p:nvSpPr>
        <p:spPr>
          <a:xfrm>
            <a:off x="502920" y="502920"/>
            <a:ext cx="110642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¿Por </a:t>
            </a:r>
            <a:r>
              <a:rPr lang="en-US" sz="2800" b="1" dirty="0" err="1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</a:t>
            </a:r>
            <a:r>
              <a:rPr lang="en-US" sz="2800" b="1" dirty="0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800" b="1" dirty="0" err="1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funciones</a:t>
            </a:r>
            <a:r>
              <a:rPr lang="en-US" sz="2800" b="1" dirty="0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BFADF35-AB43-D842-5A0A-370AAE07437D}"/>
              </a:ext>
            </a:extLst>
          </p:cNvPr>
          <p:cNvSpPr/>
          <p:nvPr/>
        </p:nvSpPr>
        <p:spPr>
          <a:xfrm>
            <a:off x="777240" y="1325880"/>
            <a:ext cx="10515600" cy="4800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Evitan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repetir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código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Permiten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nombrar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una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tarea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Hacen el programa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más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fácil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de leer.</a:t>
            </a:r>
            <a:endParaRPr lang="en-US" sz="2000" dirty="0"/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Facilitan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probar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partes del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Ayudan a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mantener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proyectos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grandes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D7F5424D-DFE2-08FE-83CF-31813BF093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172344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78</a:t>
            </a:r>
            <a:endParaRPr lang="en-US" sz="750"/>
          </a:p>
        </p:txBody>
      </p:sp>
      <p:sp>
        <p:nvSpPr>
          <p:cNvPr id="6" name="Text 4"/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5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457200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 err="1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Anatomía</a:t>
            </a:r>
            <a:r>
              <a:rPr lang="en-US" sz="2600" b="1" dirty="0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de una </a:t>
            </a:r>
            <a:r>
              <a:rPr lang="en-US" sz="2600" b="1" dirty="0" err="1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función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85800" y="1097280"/>
            <a:ext cx="107899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Función con entrada y salida.</a:t>
            </a:r>
            <a:endParaRPr lang="en-US" sz="1600"/>
          </a:p>
        </p:txBody>
      </p:sp>
      <p:sp>
        <p:nvSpPr>
          <p:cNvPr id="9" name="Shape 7"/>
          <p:cNvSpPr/>
          <p:nvPr/>
        </p:nvSpPr>
        <p:spPr>
          <a:xfrm>
            <a:off x="640080" y="1645920"/>
            <a:ext cx="10927080" cy="4434840"/>
          </a:xfrm>
          <a:prstGeom prst="roundRect">
            <a:avLst>
              <a:gd name="adj" fmla="val 1649"/>
            </a:avLst>
          </a:prstGeom>
          <a:solidFill>
            <a:srgbClr val="F8FAFC"/>
          </a:solidFill>
          <a:ln w="1397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868680" y="1810512"/>
            <a:ext cx="10469880" cy="4105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</a:t>
            </a:r>
            <a:r>
              <a:rPr lang="en-US" sz="180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calcular_promedio</a:t>
            </a:r>
            <a:r>
              <a:rPr lang="en-US" sz="18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80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notas</a:t>
            </a:r>
            <a:r>
              <a:rPr lang="en-US" sz="18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</a:t>
            </a:r>
            <a:r>
              <a:rPr lang="en-US" sz="180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Devuelve</a:t>
            </a:r>
            <a:r>
              <a:rPr lang="en-US" sz="18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el </a:t>
            </a:r>
            <a:r>
              <a:rPr lang="en-US" sz="180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promedio</a:t>
            </a:r>
            <a:r>
              <a:rPr lang="en-US" sz="18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de una </a:t>
            </a:r>
            <a:r>
              <a:rPr lang="en-US" sz="180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lista</a:t>
            </a:r>
            <a:r>
              <a:rPr lang="en-US" sz="18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de </a:t>
            </a:r>
            <a:r>
              <a:rPr lang="en-US" sz="180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notas</a:t>
            </a:r>
            <a:r>
              <a:rPr lang="en-US" sz="18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."""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not </a:t>
            </a:r>
            <a:r>
              <a:rPr lang="en-US" sz="180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notas</a:t>
            </a:r>
            <a:r>
              <a:rPr lang="en-US" sz="18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0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sum(</a:t>
            </a:r>
            <a:r>
              <a:rPr lang="en-US" sz="180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notas</a:t>
            </a:r>
            <a:r>
              <a:rPr lang="en-US" sz="18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/ </a:t>
            </a:r>
            <a:r>
              <a:rPr lang="en-US" sz="180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</a:t>
            </a:r>
            <a:r>
              <a:rPr lang="en-US" sz="18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80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notas</a:t>
            </a:r>
            <a:r>
              <a:rPr lang="en-US" sz="18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resultado</a:t>
            </a:r>
            <a:r>
              <a:rPr lang="en-US" sz="18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80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calcular_promedio</a:t>
            </a:r>
            <a:r>
              <a:rPr lang="en-US" sz="18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([8, 9, 7])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</a:t>
            </a:r>
            <a:r>
              <a:rPr lang="en-US" sz="180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resultado</a:t>
            </a:r>
            <a:r>
              <a:rPr lang="en-US" sz="18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800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CF57DB1A-0796-0E42-74AD-3CB53C9701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79</a:t>
            </a:r>
            <a:endParaRPr lang="en-US" sz="750"/>
          </a:p>
        </p:txBody>
      </p:sp>
      <p:sp>
        <p:nvSpPr>
          <p:cNvPr id="6" name="Text 4"/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5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457200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600" b="1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Función para estado académico</a:t>
            </a:r>
            <a:endParaRPr lang="en-US" sz="2600"/>
          </a:p>
        </p:txBody>
      </p:sp>
      <p:sp>
        <p:nvSpPr>
          <p:cNvPr id="8" name="Text 6"/>
          <p:cNvSpPr/>
          <p:nvPr/>
        </p:nvSpPr>
        <p:spPr>
          <a:xfrm>
            <a:off x="685800" y="1097280"/>
            <a:ext cx="107899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Regla central del proyecto.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1645920"/>
            <a:ext cx="10927080" cy="4434840"/>
          </a:xfrm>
          <a:prstGeom prst="roundRect">
            <a:avLst>
              <a:gd name="adj" fmla="val 1649"/>
            </a:avLst>
          </a:prstGeom>
          <a:solidFill>
            <a:srgbClr val="F8FAFC"/>
          </a:solidFill>
          <a:ln w="1397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868680" y="1810512"/>
            <a:ext cx="10469880" cy="4105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7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clasificar_promedio(promedio):</a:t>
            </a:r>
            <a:endParaRPr lang="en-US" sz="1700"/>
          </a:p>
          <a:p>
            <a:pPr marL="0" indent="0">
              <a:buNone/>
            </a:pPr>
            <a:r>
              <a:rPr lang="en-US" sz="17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promedio &gt;= 9:</a:t>
            </a:r>
            <a:endParaRPr lang="en-US" sz="1700"/>
          </a:p>
          <a:p>
            <a:pPr marL="0" indent="0">
              <a:buNone/>
            </a:pPr>
            <a:r>
              <a:rPr lang="en-US" sz="17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"Excelente"</a:t>
            </a:r>
            <a:endParaRPr lang="en-US" sz="1700"/>
          </a:p>
          <a:p>
            <a:pPr marL="0" indent="0">
              <a:buNone/>
            </a:pPr>
            <a:r>
              <a:rPr lang="en-US" sz="17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promedio &gt;= 7:</a:t>
            </a:r>
            <a:endParaRPr lang="en-US" sz="1700"/>
          </a:p>
          <a:p>
            <a:pPr marL="0" indent="0">
              <a:buNone/>
            </a:pPr>
            <a:r>
              <a:rPr lang="en-US" sz="17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"Aprobado"</a:t>
            </a:r>
            <a:endParaRPr lang="en-US" sz="1700"/>
          </a:p>
          <a:p>
            <a:pPr marL="0" indent="0">
              <a:buNone/>
            </a:pPr>
            <a:r>
              <a:rPr lang="en-US" sz="17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promedio &gt;= 5:</a:t>
            </a:r>
            <a:endParaRPr lang="en-US" sz="1700"/>
          </a:p>
          <a:p>
            <a:pPr marL="0" indent="0">
              <a:buNone/>
            </a:pPr>
            <a:r>
              <a:rPr lang="en-US" sz="17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"Recuperación"</a:t>
            </a:r>
            <a:endParaRPr lang="en-US" sz="1700"/>
          </a:p>
          <a:p>
            <a:pPr marL="0" indent="0">
              <a:buNone/>
            </a:pPr>
            <a:r>
              <a:rPr lang="en-US" sz="17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"Reprobado"</a:t>
            </a:r>
            <a:endParaRPr lang="en-US" sz="1700"/>
          </a:p>
          <a:p>
            <a:pPr marL="0" indent="0">
              <a:buNone/>
            </a:pPr>
            <a:endParaRPr lang="en-US" sz="1700"/>
          </a:p>
          <a:p>
            <a:pPr marL="0" indent="0">
              <a:buNone/>
            </a:pPr>
            <a:r>
              <a:rPr lang="en-US" sz="17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print(clasificar_promedio(8.5))</a:t>
            </a:r>
            <a:endParaRPr lang="en-US" sz="170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A956F98F-14F5-096C-93FF-FE9874C61F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80</a:t>
            </a:r>
            <a:endParaRPr lang="en-US" sz="750"/>
          </a:p>
        </p:txBody>
      </p:sp>
      <p:sp>
        <p:nvSpPr>
          <p:cNvPr id="6" name="Text 4"/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5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457200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Valores por </a:t>
            </a:r>
            <a:r>
              <a:rPr lang="en-US" sz="2600" b="1" dirty="0" err="1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defecto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85800" y="1097280"/>
            <a:ext cx="107899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Parámetros flexibles.</a:t>
            </a:r>
            <a:endParaRPr lang="en-US" sz="1600"/>
          </a:p>
        </p:txBody>
      </p:sp>
      <p:sp>
        <p:nvSpPr>
          <p:cNvPr id="9" name="Shape 7"/>
          <p:cNvSpPr/>
          <p:nvPr/>
        </p:nvSpPr>
        <p:spPr>
          <a:xfrm>
            <a:off x="640080" y="1645920"/>
            <a:ext cx="10927080" cy="4434840"/>
          </a:xfrm>
          <a:prstGeom prst="roundRect">
            <a:avLst>
              <a:gd name="adj" fmla="val 1649"/>
            </a:avLst>
          </a:prstGeom>
          <a:solidFill>
            <a:srgbClr val="F8FAFC"/>
          </a:solidFill>
          <a:ln w="1397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868680" y="1810512"/>
            <a:ext cx="10469880" cy="4105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5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calcular_promedio_ponderado(trabajo, practica, examen,</a:t>
            </a:r>
            <a:endParaRPr lang="en-US" sz="1350"/>
          </a:p>
          <a:p>
            <a:pPr marL="0" indent="0">
              <a:buNone/>
            </a:pPr>
            <a:r>
              <a:rPr lang="en-US" sz="135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p_trabajo=0.30, p_practica=0.30, p_examen=0.40):</a:t>
            </a:r>
            <a:endParaRPr lang="en-US" sz="1350"/>
          </a:p>
          <a:p>
            <a:pPr marL="0" indent="0">
              <a:buNone/>
            </a:pPr>
            <a:r>
              <a:rPr lang="en-US" sz="135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trabajo * p_trabajo + practica * p_practica + examen * p_examen</a:t>
            </a:r>
            <a:endParaRPr lang="en-US" sz="1350"/>
          </a:p>
          <a:p>
            <a:pPr marL="0" indent="0">
              <a:buNone/>
            </a:pPr>
            <a:endParaRPr lang="en-US" sz="1350"/>
          </a:p>
          <a:p>
            <a:pPr marL="0" indent="0">
              <a:buNone/>
            </a:pPr>
            <a:r>
              <a:rPr lang="en-US" sz="135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promedio = calcular_promedio_ponderado(8, 9, 7)</a:t>
            </a:r>
            <a:endParaRPr lang="en-US" sz="1350"/>
          </a:p>
          <a:p>
            <a:pPr marL="0" indent="0">
              <a:buNone/>
            </a:pPr>
            <a:r>
              <a:rPr lang="en-US" sz="135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print(f"Promedio: {promedio:.2f}")</a:t>
            </a:r>
            <a:endParaRPr lang="en-US" sz="135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107EDD87-D858-FDA8-87BB-2A6B09AE66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81</a:t>
            </a:r>
            <a:endParaRPr lang="en-US" sz="750"/>
          </a:p>
        </p:txBody>
      </p:sp>
      <p:sp>
        <p:nvSpPr>
          <p:cNvPr id="6" name="Text 4"/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5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457200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 err="1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Manejo</a:t>
            </a:r>
            <a:r>
              <a:rPr lang="en-US" sz="2600" b="1" dirty="0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de errores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85800" y="1097280"/>
            <a:ext cx="107899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 err="1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Evitar</a:t>
            </a:r>
            <a:r>
              <a:rPr lang="en-US" sz="16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600" dirty="0" err="1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</a:t>
            </a:r>
            <a:r>
              <a:rPr lang="en-US" sz="16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el programa se </a:t>
            </a:r>
            <a:r>
              <a:rPr lang="en-US" sz="1600" dirty="0" err="1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rompa</a:t>
            </a:r>
            <a:r>
              <a:rPr lang="en-US" sz="16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1645920"/>
            <a:ext cx="10927080" cy="4434840"/>
          </a:xfrm>
          <a:prstGeom prst="roundRect">
            <a:avLst>
              <a:gd name="adj" fmla="val 1649"/>
            </a:avLst>
          </a:prstGeom>
          <a:solidFill>
            <a:srgbClr val="F8FAFC"/>
          </a:solidFill>
          <a:ln w="1397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868680" y="1810512"/>
            <a:ext cx="10469880" cy="4105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8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leer_float(mensaje):</a:t>
            </a:r>
            <a:endParaRPr lang="en-US" sz="1800"/>
          </a:p>
          <a:p>
            <a:pPr marL="0" indent="0">
              <a:buNone/>
            </a:pPr>
            <a:r>
              <a:rPr lang="en-US" sz="18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True:</a:t>
            </a:r>
            <a:endParaRPr lang="en-US" sz="1800"/>
          </a:p>
          <a:p>
            <a:pPr marL="0" indent="0">
              <a:buNone/>
            </a:pPr>
            <a:r>
              <a:rPr lang="en-US" sz="18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try:</a:t>
            </a:r>
            <a:endParaRPr lang="en-US" sz="1800"/>
          </a:p>
          <a:p>
            <a:pPr marL="0" indent="0">
              <a:buNone/>
            </a:pPr>
            <a:r>
              <a:rPr lang="en-US" sz="18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float(input(mensaje))</a:t>
            </a:r>
            <a:endParaRPr lang="en-US" sz="1800"/>
          </a:p>
          <a:p>
            <a:pPr marL="0" indent="0">
              <a:buNone/>
            </a:pPr>
            <a:r>
              <a:rPr lang="en-US" sz="18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except ValueError:</a:t>
            </a:r>
            <a:endParaRPr lang="en-US" sz="1800"/>
          </a:p>
          <a:p>
            <a:pPr marL="0" indent="0">
              <a:buNone/>
            </a:pPr>
            <a:r>
              <a:rPr lang="en-US" sz="18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print("Ingrese un número válido.")</a:t>
            </a:r>
            <a:endParaRPr lang="en-US" sz="1800"/>
          </a:p>
          <a:p>
            <a:pPr marL="0" indent="0">
              <a:buNone/>
            </a:pPr>
            <a:endParaRPr lang="en-US" sz="1800"/>
          </a:p>
          <a:p>
            <a:pPr marL="0" indent="0">
              <a:buNone/>
            </a:pPr>
            <a:r>
              <a:rPr lang="en-US" sz="18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 = leer_float("Nota: ")</a:t>
            </a:r>
            <a:endParaRPr lang="en-US" sz="1800"/>
          </a:p>
          <a:p>
            <a:pPr marL="0" indent="0">
              <a:buNone/>
            </a:pPr>
            <a:r>
              <a:rPr lang="en-US" sz="18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print(nota)</a:t>
            </a:r>
            <a:endParaRPr lang="en-US" sz="180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973A9F20-9ABD-3310-0BB3-741309FDF6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82</a:t>
            </a:r>
            <a:endParaRPr lang="en-US" sz="750"/>
          </a:p>
        </p:txBody>
      </p:sp>
      <p:sp>
        <p:nvSpPr>
          <p:cNvPr id="6" name="Text 4"/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5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457200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600" b="1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Función para validar nota</a:t>
            </a:r>
            <a:endParaRPr lang="en-US" sz="2600"/>
          </a:p>
        </p:txBody>
      </p:sp>
      <p:sp>
        <p:nvSpPr>
          <p:cNvPr id="8" name="Text 6"/>
          <p:cNvSpPr/>
          <p:nvPr/>
        </p:nvSpPr>
        <p:spPr>
          <a:xfrm>
            <a:off x="685800" y="1097280"/>
            <a:ext cx="107899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Validación reutilizable.</a:t>
            </a:r>
            <a:endParaRPr lang="en-US" sz="1600"/>
          </a:p>
        </p:txBody>
      </p:sp>
      <p:sp>
        <p:nvSpPr>
          <p:cNvPr id="9" name="Shape 7"/>
          <p:cNvSpPr/>
          <p:nvPr/>
        </p:nvSpPr>
        <p:spPr>
          <a:xfrm>
            <a:off x="640080" y="1645920"/>
            <a:ext cx="10927080" cy="4434840"/>
          </a:xfrm>
          <a:prstGeom prst="roundRect">
            <a:avLst>
              <a:gd name="adj" fmla="val 1649"/>
            </a:avLst>
          </a:prstGeom>
          <a:solidFill>
            <a:srgbClr val="F8FAFC"/>
          </a:solidFill>
          <a:ln w="1397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868680" y="1810512"/>
            <a:ext cx="10469880" cy="4105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0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leer_nota(mensaje):</a:t>
            </a:r>
            <a:endParaRPr lang="en-US" sz="2000"/>
          </a:p>
          <a:p>
            <a:pPr marL="0" indent="0">
              <a:buNone/>
            </a:pPr>
            <a:r>
              <a:rPr lang="en-US" sz="20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True:</a:t>
            </a:r>
            <a:endParaRPr lang="en-US" sz="2000"/>
          </a:p>
          <a:p>
            <a:pPr marL="0" indent="0">
              <a:buNone/>
            </a:pPr>
            <a:r>
              <a:rPr lang="en-US" sz="20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nota = leer_float(mensaje)</a:t>
            </a:r>
            <a:endParaRPr lang="en-US" sz="2000"/>
          </a:p>
          <a:p>
            <a:pPr marL="0" indent="0">
              <a:buNone/>
            </a:pPr>
            <a:r>
              <a:rPr lang="en-US" sz="20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0 &lt;= nota &lt;= 10:</a:t>
            </a:r>
            <a:endParaRPr lang="en-US" sz="2000"/>
          </a:p>
          <a:p>
            <a:pPr marL="0" indent="0">
              <a:buNone/>
            </a:pPr>
            <a:r>
              <a:rPr lang="en-US" sz="20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nota</a:t>
            </a:r>
            <a:endParaRPr lang="en-US" sz="2000"/>
          </a:p>
          <a:p>
            <a:pPr marL="0" indent="0">
              <a:buNone/>
            </a:pPr>
            <a:r>
              <a:rPr lang="en-US" sz="20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print("La nota debe estar entre 0 y 10.")</a:t>
            </a:r>
            <a:endParaRPr lang="en-US" sz="200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96CC8D73-858C-F293-0A29-5BF9F5EB9A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83</a:t>
            </a:r>
            <a:endParaRPr lang="en-US" sz="750"/>
          </a:p>
        </p:txBody>
      </p:sp>
      <p:sp>
        <p:nvSpPr>
          <p:cNvPr id="6" name="Text 4"/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5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502920"/>
            <a:ext cx="110642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Depuración en VS Code</a:t>
            </a:r>
            <a:endParaRPr lang="en-US" sz="2800"/>
          </a:p>
        </p:txBody>
      </p:sp>
      <p:sp>
        <p:nvSpPr>
          <p:cNvPr id="8" name="Text 6"/>
          <p:cNvSpPr/>
          <p:nvPr/>
        </p:nvSpPr>
        <p:spPr>
          <a:xfrm>
            <a:off x="777240" y="1325880"/>
            <a:ext cx="10515600" cy="4800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Colocar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un breakpoint.</a:t>
            </a:r>
            <a:endParaRPr lang="en-US" sz="2000" dirty="0"/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Ejecutar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modo Debug.</a:t>
            </a:r>
            <a:endParaRPr lang="en-US" sz="2000" dirty="0"/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Observar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variables.</a:t>
            </a:r>
            <a:endParaRPr lang="en-US" sz="2000" dirty="0"/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Avanzar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línea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por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línea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Revisar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función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se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está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ejecutando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Corregir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con evidencia, no por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intuición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9CA6D068-0E48-C44C-7F6E-64F7E0877D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84</a:t>
            </a:r>
            <a:endParaRPr lang="en-US" sz="750"/>
          </a:p>
        </p:txBody>
      </p:sp>
      <p:sp>
        <p:nvSpPr>
          <p:cNvPr id="6" name="Text 4"/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5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502920"/>
            <a:ext cx="110642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Buenas</a:t>
            </a:r>
            <a:r>
              <a:rPr lang="en-US" sz="2800" b="1" dirty="0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800" b="1" dirty="0" err="1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prácticas</a:t>
            </a:r>
            <a:r>
              <a:rPr lang="en-US" sz="2800" b="1" dirty="0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800" b="1" dirty="0" err="1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iniciales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77240" y="1325880"/>
            <a:ext cx="10515600" cy="4800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Funciones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pequeñas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Nombres claros.</a:t>
            </a:r>
            <a:endParaRPr lang="en-US" sz="2000" dirty="0"/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Evitar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duplicación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Separar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entrada/salida de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cálculos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Usar docstrings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cuando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la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función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sea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importante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Probar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casos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límite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85025CCC-F42C-54D7-C852-4115E539E6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85</a:t>
            </a:r>
            <a:endParaRPr lang="en-US" sz="750"/>
          </a:p>
        </p:txBody>
      </p:sp>
      <p:sp>
        <p:nvSpPr>
          <p:cNvPr id="6" name="Text 4"/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5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502920"/>
            <a:ext cx="110642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Errores </a:t>
            </a:r>
            <a:r>
              <a:rPr lang="en-US" sz="2800" b="1" dirty="0" err="1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frecuentes</a:t>
            </a:r>
            <a:r>
              <a:rPr lang="en-US" sz="2800" b="1" dirty="0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del día 5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77240" y="1325880"/>
            <a:ext cx="10515600" cy="4800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Olvidar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return.</a:t>
            </a:r>
            <a:endParaRPr lang="en-US" sz="2000" dirty="0"/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Usar variables locales fuera de la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función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Crear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funciones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hacen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demasiadas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cosas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Ocultar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errores con except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demasiado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amplio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probar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listas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vacías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o datos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inválidos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056C4BCA-F229-E4CA-FD43-8B94508B5C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86</a:t>
            </a:r>
            <a:endParaRPr lang="en-US" sz="750"/>
          </a:p>
        </p:txBody>
      </p:sp>
      <p:sp>
        <p:nvSpPr>
          <p:cNvPr id="6" name="Text 4"/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5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502920"/>
            <a:ext cx="110642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Cierre de la sesión 5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77240" y="1325880"/>
            <a:ext cx="10515600" cy="4800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proyecto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queda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organizado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funciones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código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es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más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claro.</a:t>
            </a:r>
            <a:endParaRPr lang="en-US" sz="2000" dirty="0"/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mejor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datos.</a:t>
            </a:r>
            <a:endParaRPr lang="en-US" sz="2000" dirty="0"/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grupo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aprende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a leer errores y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depurar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22EAA434-5801-EE6F-BB61-DD72800994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5166360"/>
            <a:ext cx="12191695" cy="169164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94360" y="64008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>
                <a:solidFill>
                  <a:srgbClr val="FFD4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06</a:t>
            </a:r>
            <a:endParaRPr lang="en-US" sz="580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1078992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Sesión 6: Programación </a:t>
            </a:r>
            <a:r>
              <a:rPr lang="en-US" sz="4000" b="1" dirty="0" err="1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orientada</a:t>
            </a: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a </a:t>
            </a:r>
            <a:r>
              <a:rPr lang="en-US" sz="4000" b="1" dirty="0" err="1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objetos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3063240"/>
            <a:ext cx="987552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200" dirty="0" err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Modelar</a:t>
            </a:r>
            <a:r>
              <a:rPr lang="en-US" sz="2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200" dirty="0" err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entidades</a:t>
            </a:r>
            <a:r>
              <a:rPr lang="en-US" sz="2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200" dirty="0" err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académicas</a:t>
            </a:r>
            <a:r>
              <a:rPr lang="en-US" sz="2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200" dirty="0" err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usando</a:t>
            </a:r>
            <a:r>
              <a:rPr lang="en-US" sz="2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200" dirty="0" err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clases</a:t>
            </a:r>
            <a:r>
              <a:rPr lang="en-US" sz="2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</a:t>
            </a:r>
            <a:r>
              <a:rPr lang="en-US" sz="2200" dirty="0" err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objetos</a:t>
            </a:r>
            <a:r>
              <a:rPr lang="en-US" sz="2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</a:t>
            </a:r>
            <a:r>
              <a:rPr lang="en-US" sz="2200" dirty="0" err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atributos</a:t>
            </a:r>
            <a:r>
              <a:rPr lang="en-US" sz="2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y </a:t>
            </a:r>
            <a:r>
              <a:rPr lang="en-US" sz="2200" dirty="0" err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métodos</a:t>
            </a:r>
            <a:r>
              <a:rPr lang="en-US" sz="2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5715000"/>
            <a:ext cx="7772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4E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Curso de Programación con Python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1201400" y="62910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1C4E80"/>
                </a:solidFill>
              </a:rPr>
              <a:t>87</a:t>
            </a:r>
            <a:endParaRPr lang="en-US" sz="80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C7C4B050-C658-1A3A-FECC-1D111A9661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88</a:t>
            </a:r>
            <a:endParaRPr lang="en-US" sz="750"/>
          </a:p>
        </p:txBody>
      </p:sp>
      <p:sp>
        <p:nvSpPr>
          <p:cNvPr id="6" name="Text 4"/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6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502920"/>
            <a:ext cx="110642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Sesión 6 | Objetivo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77240" y="1325880"/>
            <a:ext cx="10515600" cy="4800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Modelar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entidades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académicas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usando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objetos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atributos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y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métodos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Conectar el concepto con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tareas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docentes reales.</a:t>
            </a:r>
            <a:endParaRPr lang="en-US" sz="2000" dirty="0"/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Construir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una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parte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del proyecto integrador.</a:t>
            </a:r>
            <a:endParaRPr lang="en-US" sz="2000" dirty="0"/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Cerrar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con una evidencia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ejecutable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08D38AD9-6BD2-C361-8107-A527CB50A2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89</a:t>
            </a:r>
            <a:endParaRPr lang="en-US" sz="750"/>
          </a:p>
        </p:txBody>
      </p:sp>
      <p:sp>
        <p:nvSpPr>
          <p:cNvPr id="6" name="Text 4"/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6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502920"/>
            <a:ext cx="110642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Sesión 6 | Agenda de </a:t>
            </a:r>
            <a:r>
              <a:rPr lang="en-US" sz="2800" b="1" dirty="0" err="1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trabajo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77240" y="1325880"/>
            <a:ext cx="10515600" cy="4800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y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objetos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Atributos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Métodos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self.</a:t>
            </a:r>
            <a:endParaRPr lang="en-US" sz="2000" dirty="0"/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Herencia.</a:t>
            </a:r>
            <a:endParaRPr lang="en-US" sz="2000" dirty="0"/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Composición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dataclasses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DC7FBED4-609E-42FD-0869-EF78253AC6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90</a:t>
            </a:r>
            <a:endParaRPr lang="en-US" sz="750"/>
          </a:p>
        </p:txBody>
      </p:sp>
      <p:sp>
        <p:nvSpPr>
          <p:cNvPr id="6" name="Text 4"/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6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502920"/>
            <a:ext cx="110642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Sesión 6 | Avance del proyecto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77240" y="1325880"/>
            <a:ext cx="10515600" cy="4069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Crear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Estudiante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Crear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Curso.</a:t>
            </a:r>
            <a:endParaRPr lang="en-US" sz="2000" dirty="0"/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Mover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promedio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y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estado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a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métodos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Guardar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estudiantes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dentro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de un curso.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777240" y="5806440"/>
            <a:ext cx="10515600" cy="411480"/>
          </a:xfrm>
          <a:prstGeom prst="rect">
            <a:avLst/>
          </a:prstGeom>
          <a:solidFill>
            <a:srgbClr val="F3F6FA"/>
          </a:solidFill>
          <a:ln w="1651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960120" y="5879592"/>
            <a:ext cx="10149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4E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Proyecto: Asistente Académico Docente con Python</a:t>
            </a:r>
            <a:endParaRPr lang="en-US" sz="1200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F0F87F2A-CFB9-339D-ACE0-085879ACC9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91</a:t>
            </a:r>
            <a:endParaRPr lang="en-US" sz="750"/>
          </a:p>
        </p:txBody>
      </p:sp>
      <p:sp>
        <p:nvSpPr>
          <p:cNvPr id="6" name="Text 4"/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6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502920"/>
            <a:ext cx="110642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Sesión 6 | Práctica guiada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77240" y="1325880"/>
            <a:ext cx="10515600" cy="4800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Transformar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diccionarios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Crear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método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agregar_nota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Crear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método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resumen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Probar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objetos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con datos reales.</a:t>
            </a:r>
            <a:endParaRPr lang="en-US" sz="2000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9CECB7D1-F2CD-99CB-4EE3-943FB863D3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92</a:t>
            </a:r>
            <a:endParaRPr lang="en-US" sz="750"/>
          </a:p>
        </p:txBody>
      </p:sp>
      <p:sp>
        <p:nvSpPr>
          <p:cNvPr id="6" name="Text 4"/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6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502920"/>
            <a:ext cx="110642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Programación Orientada a Objetos (POO)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77240" y="1325880"/>
            <a:ext cx="10515600" cy="4800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fontScale="85000" lnSpcReduction="20000"/>
          </a:bodyPr>
          <a:lstStyle/>
          <a:p>
            <a:pPr>
              <a:lnSpc>
                <a:spcPct val="170000"/>
              </a:lnSpc>
            </a:pPr>
            <a:r>
              <a:rPr lang="en-US" sz="2000" b="1" dirty="0">
                <a:solidFill>
                  <a:srgbClr val="0070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Objetivo de la unidad:</a:t>
            </a:r>
          </a:p>
          <a:p>
            <a:pPr>
              <a:lnSpc>
                <a:spcPct val="170000"/>
              </a:lnSpc>
            </a:pPr>
            <a:r>
              <a:rPr lang="es-MX" sz="2000" dirty="0"/>
              <a:t>Comprender cómo Python permite modelar elementos del mundo real mediante </a:t>
            </a:r>
            <a:r>
              <a:rPr lang="es-MX" sz="2000" b="1" dirty="0"/>
              <a:t>clases y objetos</a:t>
            </a:r>
            <a:r>
              <a:rPr lang="es-MX" sz="2000" dirty="0"/>
              <a:t>, organizando el código en estructuras más claras, reutilizables y fáciles de mantener.</a:t>
            </a:r>
          </a:p>
          <a:p>
            <a:pPr>
              <a:lnSpc>
                <a:spcPct val="170000"/>
              </a:lnSpc>
            </a:pPr>
            <a:r>
              <a:rPr lang="es-MX" sz="2000" dirty="0"/>
              <a:t>En lugar de trabajar solo con variables sueltas o funciones independientes, la programación orientada a objetos permite representar entidades como:</a:t>
            </a:r>
          </a:p>
          <a:p>
            <a:pPr marL="342900" indent="-342900">
              <a:lnSpc>
                <a:spcPct val="170000"/>
              </a:lnSpc>
              <a:buFont typeface="Wingdings" panose="05000000000000000000" pitchFamily="2" charset="2"/>
              <a:buChar char="q"/>
            </a:pPr>
            <a:r>
              <a:rPr lang="es-MX" sz="2000" dirty="0"/>
              <a:t>Estudiante</a:t>
            </a:r>
          </a:p>
          <a:p>
            <a:pPr marL="342900" indent="-342900">
              <a:lnSpc>
                <a:spcPct val="170000"/>
              </a:lnSpc>
              <a:buFont typeface="Wingdings" panose="05000000000000000000" pitchFamily="2" charset="2"/>
              <a:buChar char="q"/>
            </a:pPr>
            <a:r>
              <a:rPr lang="es-MX" sz="2000" dirty="0"/>
              <a:t>Docente</a:t>
            </a:r>
          </a:p>
          <a:p>
            <a:pPr marL="342900" indent="-342900">
              <a:lnSpc>
                <a:spcPct val="170000"/>
              </a:lnSpc>
              <a:buFont typeface="Wingdings" panose="05000000000000000000" pitchFamily="2" charset="2"/>
              <a:buChar char="q"/>
            </a:pPr>
            <a:r>
              <a:rPr lang="es-MX" sz="2000" dirty="0"/>
              <a:t>Curso</a:t>
            </a:r>
          </a:p>
          <a:p>
            <a:pPr marL="342900" indent="-342900">
              <a:lnSpc>
                <a:spcPct val="170000"/>
              </a:lnSpc>
              <a:buFont typeface="Wingdings" panose="05000000000000000000" pitchFamily="2" charset="2"/>
              <a:buChar char="q"/>
            </a:pPr>
            <a:r>
              <a:rPr lang="es-MX" sz="2000" dirty="0"/>
              <a:t>Materia</a:t>
            </a:r>
          </a:p>
          <a:p>
            <a:pPr marL="342900" indent="-342900">
              <a:lnSpc>
                <a:spcPct val="170000"/>
              </a:lnSpc>
              <a:buFont typeface="Wingdings" panose="05000000000000000000" pitchFamily="2" charset="2"/>
              <a:buChar char="q"/>
            </a:pPr>
            <a:r>
              <a:rPr lang="es-MX" sz="2000" dirty="0"/>
              <a:t>Universidad</a:t>
            </a:r>
          </a:p>
          <a:p>
            <a:pPr marL="342900" indent="-342900">
              <a:lnSpc>
                <a:spcPct val="170000"/>
              </a:lnSpc>
              <a:buFont typeface="Wingdings" panose="05000000000000000000" pitchFamily="2" charset="2"/>
              <a:buChar char="q"/>
            </a:pPr>
            <a:r>
              <a:rPr lang="es-MX" sz="2000" dirty="0"/>
              <a:t>Calificación</a:t>
            </a:r>
          </a:p>
          <a:p>
            <a:pPr marL="342900" indent="-342900">
              <a:lnSpc>
                <a:spcPct val="170000"/>
              </a:lnSpc>
              <a:buFont typeface="Wingdings" panose="05000000000000000000" pitchFamily="2" charset="2"/>
              <a:buChar char="q"/>
            </a:pPr>
            <a:r>
              <a:rPr lang="es-MX" sz="2000" dirty="0"/>
              <a:t>Asistencia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79B945FF-7065-439B-9401-127EE4401E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93</a:t>
            </a:r>
            <a:endParaRPr lang="en-US" sz="750"/>
          </a:p>
        </p:txBody>
      </p:sp>
      <p:sp>
        <p:nvSpPr>
          <p:cNvPr id="6" name="Text 4"/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6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502920"/>
            <a:ext cx="110642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Conceptos de POO</a:t>
            </a:r>
            <a:endParaRPr lang="en-US" sz="2800"/>
          </a:p>
        </p:txBody>
      </p:sp>
      <p:sp>
        <p:nvSpPr>
          <p:cNvPr id="8" name="Text 6"/>
          <p:cNvSpPr/>
          <p:nvPr/>
        </p:nvSpPr>
        <p:spPr>
          <a:xfrm>
            <a:off x="777240" y="1325880"/>
            <a:ext cx="10515600" cy="4800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Clase: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plantilla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Objeto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instancia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concreta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Atributo: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del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objeto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Método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acción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del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objeto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self: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referencia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al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propio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objeto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98381EF6-EF11-82DE-F7FF-070A7F646E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523083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E85F90-105B-2DF0-DDF8-7EB27B618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325DC87-B037-3FC2-0285-AA51BD92D007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A7C9FF9-6B60-6380-ABB5-6144D93360F0}"/>
              </a:ext>
            </a:extLst>
          </p:cNvPr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C0A92DC-0930-BEEE-0A88-0F743CBE327F}"/>
              </a:ext>
            </a:extLst>
          </p:cNvPr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92C5D3B-37A0-B698-8CB7-F1B3C9153FDC}"/>
              </a:ext>
            </a:extLst>
          </p:cNvPr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92</a:t>
            </a:r>
            <a:endParaRPr lang="en-US" sz="75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EB7E204-1B7D-BDCD-BA6B-2A3B405DC5FF}"/>
              </a:ext>
            </a:extLst>
          </p:cNvPr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6</a:t>
            </a:r>
            <a:endParaRPr lang="en-US" sz="7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F5B833F-347E-FF3E-82A0-544DC1A7F660}"/>
              </a:ext>
            </a:extLst>
          </p:cNvPr>
          <p:cNvSpPr/>
          <p:nvPr/>
        </p:nvSpPr>
        <p:spPr>
          <a:xfrm>
            <a:off x="502920" y="502920"/>
            <a:ext cx="110642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Programación Orientada a Objetos (POO)</a:t>
            </a:r>
            <a:endParaRPr lang="en-US" sz="2800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11C4FB59-DB3F-3ECD-3609-5EAA1281AE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6577" y="1140740"/>
            <a:ext cx="9269938" cy="521434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BA7B1314-AD8E-0859-A2DD-3FC78483C1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38197" y="322045"/>
            <a:ext cx="1053803" cy="1053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4195703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ED7AC3-6654-8AFE-9384-0ECE24E15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96D49F4-ED82-E9D6-A294-F50B2CC06C49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19684AB-40F8-B4D7-26A5-81BC6160E337}"/>
              </a:ext>
            </a:extLst>
          </p:cNvPr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3463989-F3B8-87F4-5340-F27E73D7B442}"/>
              </a:ext>
            </a:extLst>
          </p:cNvPr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3154471-8E57-E6A5-B7D0-965E7E821667}"/>
              </a:ext>
            </a:extLst>
          </p:cNvPr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92</a:t>
            </a:r>
            <a:endParaRPr lang="en-US" sz="75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6C22966-C4D9-96BB-FF3C-BFB65943F3EB}"/>
              </a:ext>
            </a:extLst>
          </p:cNvPr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6</a:t>
            </a:r>
            <a:endParaRPr lang="en-US" sz="7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2D2D61C-9E97-D903-12BA-F96FF34B22A3}"/>
              </a:ext>
            </a:extLst>
          </p:cNvPr>
          <p:cNvSpPr/>
          <p:nvPr/>
        </p:nvSpPr>
        <p:spPr>
          <a:xfrm>
            <a:off x="502920" y="502920"/>
            <a:ext cx="110642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Programación Orientada a Objetos (POO)</a:t>
            </a:r>
            <a:endParaRPr lang="en-US" sz="2800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E772B722-8A09-9D5C-F3A4-CA8FCFEF8F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7098" y="1097280"/>
            <a:ext cx="9347199" cy="525780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323DC1E9-A70F-B515-A88E-9A4734CD3B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38197" y="322045"/>
            <a:ext cx="1053803" cy="1053803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860AE0CA-652D-3833-4480-E784411392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38197" y="322045"/>
            <a:ext cx="1053803" cy="1053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233413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77645A-64C0-E405-DDB8-D5E420C97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6BFDE31-9C23-CC7F-A773-AF741B6AA47D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BB8E426-8F34-0E13-F6F3-CA49C743920E}"/>
              </a:ext>
            </a:extLst>
          </p:cNvPr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20C5FCD-F06A-E086-BF20-87D38415699D}"/>
              </a:ext>
            </a:extLst>
          </p:cNvPr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C3DA5C0-0082-86F8-6B19-ACA1E6E6B3D6}"/>
              </a:ext>
            </a:extLst>
          </p:cNvPr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92</a:t>
            </a:r>
            <a:endParaRPr lang="en-US" sz="75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C5F918D-3A31-4C5C-DD3E-60AE9A81511E}"/>
              </a:ext>
            </a:extLst>
          </p:cNvPr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6</a:t>
            </a:r>
            <a:endParaRPr lang="en-US" sz="7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7B3F87B-4670-D01F-4CBA-A17329297DEE}"/>
              </a:ext>
            </a:extLst>
          </p:cNvPr>
          <p:cNvSpPr/>
          <p:nvPr/>
        </p:nvSpPr>
        <p:spPr>
          <a:xfrm>
            <a:off x="502920" y="502920"/>
            <a:ext cx="110642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Programación Orientada a Objetos (POO)</a:t>
            </a:r>
            <a:endParaRPr lang="en-US" sz="2800" dirty="0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3A15FC52-40CD-40A0-0E6B-58C7D9EDE8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4265" y="750626"/>
            <a:ext cx="8143164" cy="6107373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DF021DEA-75C9-B895-4BA7-2C772B648D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272117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BF0D48-14AE-2AC8-73CC-0F456C77F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13625E5-75B9-8061-48A0-DD9A97BE16A1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0EB633B-9C3A-5A1B-AA3A-511AA3798D6F}"/>
              </a:ext>
            </a:extLst>
          </p:cNvPr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5CEBEA5-2F1C-83BB-F169-78A357CF9914}"/>
              </a:ext>
            </a:extLst>
          </p:cNvPr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DA69F15-9730-360D-FDAA-4DB421F59425}"/>
              </a:ext>
            </a:extLst>
          </p:cNvPr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92</a:t>
            </a:r>
            <a:endParaRPr lang="en-US" sz="75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CD4A50C-7F50-974A-552F-22DEC3FBA304}"/>
              </a:ext>
            </a:extLst>
          </p:cNvPr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6</a:t>
            </a:r>
            <a:endParaRPr lang="en-US" sz="7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52BE8E2-AB82-25E7-1F1F-3D11D9A0B27F}"/>
              </a:ext>
            </a:extLst>
          </p:cNvPr>
          <p:cNvSpPr/>
          <p:nvPr/>
        </p:nvSpPr>
        <p:spPr>
          <a:xfrm>
            <a:off x="502920" y="502920"/>
            <a:ext cx="110642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Programación Orientada a Objetos (POO)</a:t>
            </a:r>
            <a:endParaRPr lang="en-US" sz="2800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BA684D2C-39FE-756F-9AC9-D66D6814B30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601" b="2666"/>
          <a:stretch>
            <a:fillRect/>
          </a:stretch>
        </p:blipFill>
        <p:spPr>
          <a:xfrm>
            <a:off x="1972101" y="1066656"/>
            <a:ext cx="8247798" cy="5488910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6F7A2420-887D-58D8-A17A-46C953F5DC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119778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52BC4F-25EC-5F99-2C30-42D5F6330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4C82034-0B1B-BA48-B05C-54B69353B47C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36C6099-B5AA-4663-79E2-E60D09DF0205}"/>
              </a:ext>
            </a:extLst>
          </p:cNvPr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FE9E97B-447C-DDA1-5974-76415F85AA78}"/>
              </a:ext>
            </a:extLst>
          </p:cNvPr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A38D536-717D-2821-4501-22AB9951FDC9}"/>
              </a:ext>
            </a:extLst>
          </p:cNvPr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92</a:t>
            </a:r>
            <a:endParaRPr lang="en-US" sz="75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A891071-FB9F-617C-9BE1-DC5290968F2E}"/>
              </a:ext>
            </a:extLst>
          </p:cNvPr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6</a:t>
            </a:r>
            <a:endParaRPr lang="en-US" sz="7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7348DDB-56EB-F5D4-236D-C21DB0947B75}"/>
              </a:ext>
            </a:extLst>
          </p:cNvPr>
          <p:cNvSpPr/>
          <p:nvPr/>
        </p:nvSpPr>
        <p:spPr>
          <a:xfrm>
            <a:off x="502920" y="502920"/>
            <a:ext cx="110642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Programación Orientada a Objetos (POO)</a:t>
            </a:r>
            <a:endParaRPr lang="en-US" sz="2800" dirty="0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57A20BC5-A73E-6D01-AE08-CF585F51B6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5165" y="1075580"/>
            <a:ext cx="7319749" cy="5489812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7912B6CD-3839-625F-E0BC-749D6CAB8C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763271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73DC31-C7AE-C9BC-49B9-E813A29EB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F64062B-D342-553F-3857-5994F3E749FF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601BA0A-3126-C410-CBD2-52815BD5AE7A}"/>
              </a:ext>
            </a:extLst>
          </p:cNvPr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29EC18F-C69B-694B-68C9-9CF79FE7E356}"/>
              </a:ext>
            </a:extLst>
          </p:cNvPr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93828FB-A9F5-146D-D5DA-8A77D88B7D2F}"/>
              </a:ext>
            </a:extLst>
          </p:cNvPr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92</a:t>
            </a:r>
            <a:endParaRPr lang="en-US" sz="75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20339B3-95AD-F6AE-5B4F-FE8F84EAE10E}"/>
              </a:ext>
            </a:extLst>
          </p:cNvPr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6</a:t>
            </a:r>
            <a:endParaRPr lang="en-US" sz="7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0AB2D87-D3B2-CC2A-8982-4F14DD28E01D}"/>
              </a:ext>
            </a:extLst>
          </p:cNvPr>
          <p:cNvSpPr/>
          <p:nvPr/>
        </p:nvSpPr>
        <p:spPr>
          <a:xfrm>
            <a:off x="502920" y="502920"/>
            <a:ext cx="110642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Programación Orientada a Objetos (POO)</a:t>
            </a:r>
            <a:endParaRPr lang="en-US" sz="2800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C736A08F-1D99-49C6-6E48-088EBE03D0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7068" y="1097280"/>
            <a:ext cx="7237863" cy="5428397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208066C6-20C1-88BF-1266-056A7E60F8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7416030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B0E97D-4DB6-C4CB-082D-81740F103A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6D44EFD-43FD-51B7-EA54-75C04EF9F1CE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610F6F6-F271-4C8C-8ABB-EB62D58F8CCC}"/>
              </a:ext>
            </a:extLst>
          </p:cNvPr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C09C16F-A902-A5F6-BBD7-ADF8337AC005}"/>
              </a:ext>
            </a:extLst>
          </p:cNvPr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92DE5E6-A637-9AA1-C8BB-5051AB7F28AB}"/>
              </a:ext>
            </a:extLst>
          </p:cNvPr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92</a:t>
            </a:r>
            <a:endParaRPr lang="en-US" sz="75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4FE72FB-405A-160D-3423-77D274A84011}"/>
              </a:ext>
            </a:extLst>
          </p:cNvPr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6</a:t>
            </a:r>
            <a:endParaRPr lang="en-US" sz="7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92E45816-006B-B36D-944D-3AB2704A9EF5}"/>
              </a:ext>
            </a:extLst>
          </p:cNvPr>
          <p:cNvSpPr/>
          <p:nvPr/>
        </p:nvSpPr>
        <p:spPr>
          <a:xfrm>
            <a:off x="502920" y="502920"/>
            <a:ext cx="110642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Programación Orientada a Objetos (POO)</a:t>
            </a:r>
            <a:endParaRPr lang="en-US" sz="2800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4258D2EB-BC06-E50B-C0F4-5C082302FC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4903" y="1097280"/>
            <a:ext cx="7701887" cy="5776415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AA22A9D8-3A75-34B8-87BA-51A9365C3E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812381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ED32E0-8E1D-6BE7-1909-7444F1AF2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E33209D-B578-338A-42A0-AF64EB695229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3F16D88-0332-F325-5145-EF18F2F20A57}"/>
              </a:ext>
            </a:extLst>
          </p:cNvPr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6506DA0-2534-D1E3-ABC3-7E9F46832A8C}"/>
              </a:ext>
            </a:extLst>
          </p:cNvPr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DC84652-110C-A21D-FCC9-1F80528A7809}"/>
              </a:ext>
            </a:extLst>
          </p:cNvPr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92</a:t>
            </a:r>
            <a:endParaRPr lang="en-US" sz="75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20675A1-4B66-FC9E-7530-AECEC2E4D5EC}"/>
              </a:ext>
            </a:extLst>
          </p:cNvPr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6</a:t>
            </a:r>
            <a:endParaRPr lang="en-US" sz="7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8A6BFB3C-AD5C-4860-EFEC-2FE094630D59}"/>
              </a:ext>
            </a:extLst>
          </p:cNvPr>
          <p:cNvSpPr/>
          <p:nvPr/>
        </p:nvSpPr>
        <p:spPr>
          <a:xfrm>
            <a:off x="502920" y="502920"/>
            <a:ext cx="110642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Programación Orientada a Objetos (POO)</a:t>
            </a:r>
            <a:endParaRPr lang="en-US" sz="2800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83B918D7-89E9-F0CE-DD6D-B1137B90ED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3404" y="1091821"/>
            <a:ext cx="7183272" cy="5387454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35275FB4-817E-C289-5AB9-0E45E5857A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4502517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38BC05-64B0-E6D4-A348-841E15449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4092F26-B240-D980-057D-761896E297DB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C4788DF-1E4C-03A9-F5B6-40ED068CDB38}"/>
              </a:ext>
            </a:extLst>
          </p:cNvPr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9CC62AE-CDA4-0A5B-AE0C-9CB1F1319011}"/>
              </a:ext>
            </a:extLst>
          </p:cNvPr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BDF087B-DA5A-D436-3C0C-92367370B0BE}"/>
              </a:ext>
            </a:extLst>
          </p:cNvPr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92</a:t>
            </a:r>
            <a:endParaRPr lang="en-US" sz="75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AE97B52-D505-3352-AF77-EE5D6ACC49AF}"/>
              </a:ext>
            </a:extLst>
          </p:cNvPr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6</a:t>
            </a:r>
            <a:endParaRPr lang="en-US" sz="7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C4DCD20-1899-FF1C-636D-7E2E16A64CAF}"/>
              </a:ext>
            </a:extLst>
          </p:cNvPr>
          <p:cNvSpPr/>
          <p:nvPr/>
        </p:nvSpPr>
        <p:spPr>
          <a:xfrm>
            <a:off x="502920" y="502920"/>
            <a:ext cx="110642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Programación Orientada a Objetos (POO)</a:t>
            </a:r>
            <a:endParaRPr lang="en-US" sz="2800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61DAECAD-0208-0365-2AF2-39AC7AAC780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0989"/>
          <a:stretch>
            <a:fillRect/>
          </a:stretch>
        </p:blipFill>
        <p:spPr>
          <a:xfrm>
            <a:off x="1656278" y="1165518"/>
            <a:ext cx="8757523" cy="5189562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74FFAF72-D876-9443-1FB5-E836AD0720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234674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92793F-57C2-C05B-0D6D-604447503A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8AA8280-47A2-B190-D690-5387FAAB1A9D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85352EC-8380-3DA3-20C2-4447A8F15C33}"/>
              </a:ext>
            </a:extLst>
          </p:cNvPr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2E032F5-CD72-E075-111F-7A770B747F92}"/>
              </a:ext>
            </a:extLst>
          </p:cNvPr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6D1A28E-78A6-5CE2-7591-C3D8C61C8BB2}"/>
              </a:ext>
            </a:extLst>
          </p:cNvPr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92</a:t>
            </a:r>
            <a:endParaRPr lang="en-US" sz="75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900BF1E-BBFD-8E67-BDA7-B24B02F57BC3}"/>
              </a:ext>
            </a:extLst>
          </p:cNvPr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6</a:t>
            </a:r>
            <a:endParaRPr lang="en-US" sz="7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9094610B-ADD2-34D4-82B5-CDCDB8A24EC1}"/>
              </a:ext>
            </a:extLst>
          </p:cNvPr>
          <p:cNvSpPr/>
          <p:nvPr/>
        </p:nvSpPr>
        <p:spPr>
          <a:xfrm>
            <a:off x="502920" y="502920"/>
            <a:ext cx="110642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Programación Orientada a Objetos (POO)</a:t>
            </a:r>
            <a:endParaRPr lang="en-US" sz="2800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612232D7-BB17-1822-F2C3-4D4D02F0A65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306" b="6803"/>
          <a:stretch>
            <a:fillRect/>
          </a:stretch>
        </p:blipFill>
        <p:spPr>
          <a:xfrm>
            <a:off x="1093868" y="1271289"/>
            <a:ext cx="10522424" cy="5083791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2DBAEF7F-4D70-8E77-6490-370C884B1B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0760033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49F51B-2052-43A1-897A-3C8056135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08717B8-15D8-FD01-EBA4-ABDF9DBC2176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2DE4A9F-97D3-0419-F2C9-26EA5CEEA505}"/>
              </a:ext>
            </a:extLst>
          </p:cNvPr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620E748-2D07-8F12-56DA-149F120B00F4}"/>
              </a:ext>
            </a:extLst>
          </p:cNvPr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E67A17C-F3BF-F4BA-2FEC-41968ADE95B5}"/>
              </a:ext>
            </a:extLst>
          </p:cNvPr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92</a:t>
            </a:r>
            <a:endParaRPr lang="en-US" sz="75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0E3F1A7-B4B2-F635-D540-369DAB52F037}"/>
              </a:ext>
            </a:extLst>
          </p:cNvPr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6</a:t>
            </a:r>
            <a:endParaRPr lang="en-US" sz="7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A0E26BC-C0FE-A5F4-611A-4EFC10B73E8B}"/>
              </a:ext>
            </a:extLst>
          </p:cNvPr>
          <p:cNvSpPr/>
          <p:nvPr/>
        </p:nvSpPr>
        <p:spPr>
          <a:xfrm>
            <a:off x="502920" y="502920"/>
            <a:ext cx="110642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Programación Orientada a Objetos (POO)</a:t>
            </a:r>
            <a:endParaRPr lang="en-US" sz="2800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8B891E5F-9EA4-2285-AFBE-FC9204827EA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20" b="4233"/>
          <a:stretch>
            <a:fillRect/>
          </a:stretch>
        </p:blipFill>
        <p:spPr>
          <a:xfrm>
            <a:off x="1012056" y="1170539"/>
            <a:ext cx="10167582" cy="5321593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0E4309A5-C55A-B26F-34B1-8C9B4D4C27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6652291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AE8034-8005-14FE-FF08-F8A96ADD1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57D6936-4B36-BA79-F279-700C2771A477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FD6BC93-760B-F888-1815-2254DD3AAE3C}"/>
              </a:ext>
            </a:extLst>
          </p:cNvPr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43083E4-A690-14CF-C26C-93AA782AC125}"/>
              </a:ext>
            </a:extLst>
          </p:cNvPr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D56ECCA-CE48-60BF-CA76-891A8E263B9B}"/>
              </a:ext>
            </a:extLst>
          </p:cNvPr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92</a:t>
            </a:r>
            <a:endParaRPr lang="en-US" sz="75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2F3A258-99B6-5226-5D5B-7D15EAF15D4C}"/>
              </a:ext>
            </a:extLst>
          </p:cNvPr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6</a:t>
            </a:r>
            <a:endParaRPr lang="en-US" sz="7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32077EB-D1BE-10A3-FCF9-6AD79528FC56}"/>
              </a:ext>
            </a:extLst>
          </p:cNvPr>
          <p:cNvSpPr/>
          <p:nvPr/>
        </p:nvSpPr>
        <p:spPr>
          <a:xfrm>
            <a:off x="502920" y="502920"/>
            <a:ext cx="110642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Programación Orientada a Objetos (POO)</a:t>
            </a:r>
            <a:endParaRPr lang="en-US" sz="2800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2A9ADD9A-CB0C-F7B3-94C5-56E3920C40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7816" y="1211648"/>
            <a:ext cx="9314447" cy="5239376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BF623566-DC48-23F3-83E2-9A15DFB6A5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6080148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01DA80-0454-106D-D960-FD82639E4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467E199-38A8-5471-84DB-9C78664B2A7A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F78C71D-E306-93B8-1C1E-F0A51C0ED08F}"/>
              </a:ext>
            </a:extLst>
          </p:cNvPr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8B4370B-C51E-0DB9-8068-B796746B54A0}"/>
              </a:ext>
            </a:extLst>
          </p:cNvPr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B97D197-5B4E-1BBD-F870-C122EAC6D56D}"/>
              </a:ext>
            </a:extLst>
          </p:cNvPr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92</a:t>
            </a:r>
            <a:endParaRPr lang="en-US" sz="75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2E1C286-C9CC-D03A-D82C-10580BF73CB4}"/>
              </a:ext>
            </a:extLst>
          </p:cNvPr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6</a:t>
            </a:r>
            <a:endParaRPr lang="en-US" sz="7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0679199-A60F-1841-1F31-F088638BBCFE}"/>
              </a:ext>
            </a:extLst>
          </p:cNvPr>
          <p:cNvSpPr/>
          <p:nvPr/>
        </p:nvSpPr>
        <p:spPr>
          <a:xfrm>
            <a:off x="502920" y="502920"/>
            <a:ext cx="110642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¿Qué problema resuelve POO?</a:t>
            </a:r>
            <a:endParaRPr lang="en-US" sz="28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83937930-CC5F-CBED-706C-34258345E2E5}"/>
              </a:ext>
            </a:extLst>
          </p:cNvPr>
          <p:cNvSpPr/>
          <p:nvPr/>
        </p:nvSpPr>
        <p:spPr>
          <a:xfrm>
            <a:off x="777240" y="1325880"/>
            <a:ext cx="10515600" cy="4800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Cuando hay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muchos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diccionarios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el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código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se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vuelve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difícil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de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mantener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agrupan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datos y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comportamiento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estudiante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no solo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tiene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datos: también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puede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calcular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promedio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curso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puede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contener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estudiantes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y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generar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resumen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BDD70A0A-F584-716F-9122-5BB4E4ABDC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357100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94</a:t>
            </a:r>
            <a:endParaRPr lang="en-US" sz="750"/>
          </a:p>
        </p:txBody>
      </p:sp>
      <p:sp>
        <p:nvSpPr>
          <p:cNvPr id="6" name="Text 4"/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6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457200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600" b="1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Clase Estudiante</a:t>
            </a:r>
            <a:endParaRPr lang="en-US" sz="2600"/>
          </a:p>
        </p:txBody>
      </p:sp>
      <p:sp>
        <p:nvSpPr>
          <p:cNvPr id="8" name="Text 6"/>
          <p:cNvSpPr/>
          <p:nvPr/>
        </p:nvSpPr>
        <p:spPr>
          <a:xfrm>
            <a:off x="685800" y="1097280"/>
            <a:ext cx="107899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Modelo simple del proyecto.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1645920"/>
            <a:ext cx="10927080" cy="4434840"/>
          </a:xfrm>
          <a:prstGeom prst="roundRect">
            <a:avLst>
              <a:gd name="adj" fmla="val 1649"/>
            </a:avLst>
          </a:prstGeom>
          <a:solidFill>
            <a:srgbClr val="F8FAFC"/>
          </a:solidFill>
          <a:ln w="1397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868680" y="1810512"/>
            <a:ext cx="10469880" cy="4105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5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Estudiante:</a:t>
            </a:r>
            <a:endParaRPr lang="en-US" sz="1250"/>
          </a:p>
          <a:p>
            <a:pPr marL="0" indent="0">
              <a:buNone/>
            </a:pPr>
            <a:r>
              <a:rPr lang="en-US" sz="125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__init__(self, nombre, notas):</a:t>
            </a:r>
            <a:endParaRPr lang="en-US" sz="1250"/>
          </a:p>
          <a:p>
            <a:pPr marL="0" indent="0">
              <a:buNone/>
            </a:pPr>
            <a:r>
              <a:rPr lang="en-US" sz="125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self.nombre = nombre</a:t>
            </a:r>
            <a:endParaRPr lang="en-US" sz="1250"/>
          </a:p>
          <a:p>
            <a:pPr marL="0" indent="0">
              <a:buNone/>
            </a:pPr>
            <a:r>
              <a:rPr lang="en-US" sz="125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self.notas = notas</a:t>
            </a:r>
            <a:endParaRPr lang="en-US" sz="1250"/>
          </a:p>
          <a:p>
            <a:pPr marL="0" indent="0">
              <a:buNone/>
            </a:pPr>
            <a:endParaRPr lang="en-US" sz="1250"/>
          </a:p>
          <a:p>
            <a:pPr marL="0" indent="0">
              <a:buNone/>
            </a:pPr>
            <a:r>
              <a:rPr lang="en-US" sz="125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promedio(self):</a:t>
            </a:r>
            <a:endParaRPr lang="en-US" sz="1250"/>
          </a:p>
          <a:p>
            <a:pPr marL="0" indent="0">
              <a:buNone/>
            </a:pPr>
            <a:r>
              <a:rPr lang="en-US" sz="125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not self.notas:</a:t>
            </a:r>
            <a:endParaRPr lang="en-US" sz="1250"/>
          </a:p>
          <a:p>
            <a:pPr marL="0" indent="0">
              <a:buNone/>
            </a:pPr>
            <a:r>
              <a:rPr lang="en-US" sz="125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0</a:t>
            </a:r>
            <a:endParaRPr lang="en-US" sz="1250"/>
          </a:p>
          <a:p>
            <a:pPr marL="0" indent="0">
              <a:buNone/>
            </a:pPr>
            <a:r>
              <a:rPr lang="en-US" sz="125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sum(self.notas) / len(self.notas)</a:t>
            </a:r>
            <a:endParaRPr lang="en-US" sz="1250"/>
          </a:p>
          <a:p>
            <a:pPr marL="0" indent="0">
              <a:buNone/>
            </a:pPr>
            <a:endParaRPr lang="en-US" sz="1250"/>
          </a:p>
          <a:p>
            <a:pPr marL="0" indent="0">
              <a:buNone/>
            </a:pPr>
            <a:r>
              <a:rPr lang="en-US" sz="125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estado(self):</a:t>
            </a:r>
            <a:endParaRPr lang="en-US" sz="1250"/>
          </a:p>
          <a:p>
            <a:pPr marL="0" indent="0">
              <a:buNone/>
            </a:pPr>
            <a:r>
              <a:rPr lang="en-US" sz="125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"Aprobado" if self.promedio() &gt;= 7 else "Reprobado"</a:t>
            </a:r>
            <a:endParaRPr lang="en-US" sz="1250"/>
          </a:p>
          <a:p>
            <a:pPr marL="0" indent="0">
              <a:buNone/>
            </a:pPr>
            <a:endParaRPr lang="en-US" sz="1250"/>
          </a:p>
          <a:p>
            <a:pPr marL="0" indent="0">
              <a:buNone/>
            </a:pPr>
            <a:r>
              <a:rPr lang="en-US" sz="125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 = Estudiante("Ana", [8.5, 9.0, 7.8])</a:t>
            </a:r>
            <a:endParaRPr lang="en-US" sz="1250"/>
          </a:p>
          <a:p>
            <a:pPr marL="0" indent="0">
              <a:buNone/>
            </a:pPr>
            <a:r>
              <a:rPr lang="en-US" sz="125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print(ana.nombre)</a:t>
            </a:r>
            <a:endParaRPr lang="en-US" sz="1250"/>
          </a:p>
          <a:p>
            <a:pPr marL="0" indent="0">
              <a:buNone/>
            </a:pPr>
            <a:r>
              <a:rPr lang="en-US" sz="125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print(ana.promedio())</a:t>
            </a:r>
            <a:endParaRPr lang="en-US" sz="1250"/>
          </a:p>
          <a:p>
            <a:pPr marL="0" indent="0">
              <a:buNone/>
            </a:pPr>
            <a:r>
              <a:rPr lang="en-US" sz="125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print(ana.estado())</a:t>
            </a:r>
            <a:endParaRPr lang="en-US" sz="125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D92D75BD-B68E-E2A5-8C2E-9BDA9BE944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95</a:t>
            </a:r>
            <a:endParaRPr lang="en-US" sz="750"/>
          </a:p>
        </p:txBody>
      </p:sp>
      <p:sp>
        <p:nvSpPr>
          <p:cNvPr id="6" name="Text 4"/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6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457200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 err="1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Agregar</a:t>
            </a:r>
            <a:r>
              <a:rPr lang="en-US" sz="2600" b="1" dirty="0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nota como </a:t>
            </a:r>
            <a:r>
              <a:rPr lang="en-US" sz="2600" b="1" dirty="0" err="1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método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85800" y="1097280"/>
            <a:ext cx="107899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</a:t>
            </a:r>
            <a:r>
              <a:rPr lang="en-US" sz="1600" dirty="0" err="1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objeto</a:t>
            </a:r>
            <a:r>
              <a:rPr lang="en-US" sz="16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600" dirty="0" err="1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controla</a:t>
            </a:r>
            <a:r>
              <a:rPr lang="en-US" sz="16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sus </a:t>
            </a:r>
            <a:r>
              <a:rPr lang="en-US" sz="1600" dirty="0" err="1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propios</a:t>
            </a:r>
            <a:r>
              <a:rPr lang="en-US" sz="16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datos.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1645920"/>
            <a:ext cx="10927080" cy="4434840"/>
          </a:xfrm>
          <a:prstGeom prst="roundRect">
            <a:avLst>
              <a:gd name="adj" fmla="val 1649"/>
            </a:avLst>
          </a:prstGeom>
          <a:solidFill>
            <a:srgbClr val="F8FAFC"/>
          </a:solidFill>
          <a:ln w="1397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868680" y="1810512"/>
            <a:ext cx="10469880" cy="4105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Estudiante: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__init__(self, cedula, nombre):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self.cedula = cedula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self.nombre = nombre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self.notas = []</a:t>
            </a:r>
            <a:endParaRPr lang="en-US" sz="1600"/>
          </a:p>
          <a:p>
            <a:pPr marL="0" indent="0">
              <a:buNone/>
            </a:pP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agregar_nota(self, nota):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0 &lt;= nota &lt;= 10: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self.notas.append(nota)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else: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raise ValueError("Nota fuera de rango")</a:t>
            </a:r>
            <a:endParaRPr lang="en-US" sz="160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D3930B95-EA13-2F4D-C4CD-71FA912B0E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96</a:t>
            </a:r>
            <a:endParaRPr lang="en-US" sz="750"/>
          </a:p>
        </p:txBody>
      </p:sp>
      <p:sp>
        <p:nvSpPr>
          <p:cNvPr id="6" name="Text 4"/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6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457200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600" b="1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Clase Curso</a:t>
            </a:r>
            <a:endParaRPr lang="en-US" sz="2600"/>
          </a:p>
        </p:txBody>
      </p:sp>
      <p:sp>
        <p:nvSpPr>
          <p:cNvPr id="8" name="Text 6"/>
          <p:cNvSpPr/>
          <p:nvPr/>
        </p:nvSpPr>
        <p:spPr>
          <a:xfrm>
            <a:off x="685800" y="1097280"/>
            <a:ext cx="107899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curso contiene estudiantes.</a:t>
            </a:r>
            <a:endParaRPr lang="en-US" sz="1600"/>
          </a:p>
        </p:txBody>
      </p:sp>
      <p:sp>
        <p:nvSpPr>
          <p:cNvPr id="9" name="Shape 7"/>
          <p:cNvSpPr/>
          <p:nvPr/>
        </p:nvSpPr>
        <p:spPr>
          <a:xfrm>
            <a:off x="640080" y="1645920"/>
            <a:ext cx="10927080" cy="4434840"/>
          </a:xfrm>
          <a:prstGeom prst="roundRect">
            <a:avLst>
              <a:gd name="adj" fmla="val 1649"/>
            </a:avLst>
          </a:prstGeom>
          <a:solidFill>
            <a:srgbClr val="F8FAFC"/>
          </a:solidFill>
          <a:ln w="1397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868680" y="1810512"/>
            <a:ext cx="10469880" cy="4105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Curso: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</a:t>
            </a:r>
            <a:r>
              <a:rPr lang="en-US" sz="170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</a:t>
            </a:r>
            <a:r>
              <a:rPr lang="en-US" sz="17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__(self, </a:t>
            </a:r>
            <a:r>
              <a:rPr lang="en-US" sz="170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</a:t>
            </a:r>
            <a:r>
              <a:rPr lang="en-US" sz="17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70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docente</a:t>
            </a:r>
            <a:r>
              <a:rPr lang="en-US" sz="17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70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self.nombre</a:t>
            </a:r>
            <a:r>
              <a:rPr lang="en-US" sz="17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70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70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self.docente</a:t>
            </a:r>
            <a:r>
              <a:rPr lang="en-US" sz="17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70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docente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70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self.estudiantes</a:t>
            </a:r>
            <a:r>
              <a:rPr lang="en-US" sz="17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[]</a:t>
            </a:r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</a:t>
            </a:r>
            <a:r>
              <a:rPr lang="en-US" sz="170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agregar_estudiante</a:t>
            </a:r>
            <a:r>
              <a:rPr lang="en-US" sz="17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(self, </a:t>
            </a:r>
            <a:r>
              <a:rPr lang="en-US" sz="170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estudiante</a:t>
            </a:r>
            <a:r>
              <a:rPr lang="en-US" sz="17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70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self.estudiantes.append</a:t>
            </a:r>
            <a:r>
              <a:rPr lang="en-US" sz="17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70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estudiante</a:t>
            </a:r>
            <a:r>
              <a:rPr lang="en-US" sz="17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</a:t>
            </a:r>
            <a:r>
              <a:rPr lang="en-US" sz="170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cantidad_estudiantes</a:t>
            </a:r>
            <a:r>
              <a:rPr lang="en-US" sz="17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(self):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</a:t>
            </a:r>
            <a:r>
              <a:rPr lang="en-US" sz="170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</a:t>
            </a:r>
            <a:r>
              <a:rPr lang="en-US" sz="17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70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self.estudiantes</a:t>
            </a:r>
            <a:r>
              <a:rPr lang="en-US" sz="17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700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0EFF643B-B424-94FE-D9AB-6EEC4CD1A0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97</a:t>
            </a:r>
            <a:endParaRPr lang="en-US" sz="750"/>
          </a:p>
        </p:txBody>
      </p:sp>
      <p:sp>
        <p:nvSpPr>
          <p:cNvPr id="6" name="Text 4"/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6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457200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600" b="1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Herencia</a:t>
            </a:r>
            <a:endParaRPr lang="en-US" sz="2600"/>
          </a:p>
        </p:txBody>
      </p:sp>
      <p:sp>
        <p:nvSpPr>
          <p:cNvPr id="8" name="Text 6"/>
          <p:cNvSpPr/>
          <p:nvPr/>
        </p:nvSpPr>
        <p:spPr>
          <a:xfrm>
            <a:off x="685800" y="1097280"/>
            <a:ext cx="107899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</a:t>
            </a:r>
            <a:r>
              <a:rPr lang="en-US" sz="1600" dirty="0" err="1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</a:t>
            </a:r>
            <a:r>
              <a:rPr lang="en-US" sz="16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600" dirty="0" err="1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puede</a:t>
            </a:r>
            <a:r>
              <a:rPr lang="en-US" sz="16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600" dirty="0" err="1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especializar</a:t>
            </a:r>
            <a:r>
              <a:rPr lang="en-US" sz="16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600" dirty="0" err="1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otra</a:t>
            </a:r>
            <a:r>
              <a:rPr lang="en-US" sz="16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1645920"/>
            <a:ext cx="10927080" cy="4434840"/>
          </a:xfrm>
          <a:prstGeom prst="roundRect">
            <a:avLst>
              <a:gd name="adj" fmla="val 1649"/>
            </a:avLst>
          </a:prstGeom>
          <a:solidFill>
            <a:srgbClr val="F8FAFC"/>
          </a:solidFill>
          <a:ln w="1397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868680" y="1810512"/>
            <a:ext cx="10469880" cy="4105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Persona: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</a:t>
            </a:r>
            <a:r>
              <a:rPr lang="en-US" sz="150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</a:t>
            </a:r>
            <a:r>
              <a:rPr lang="en-US" sz="15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__(self, </a:t>
            </a:r>
            <a:r>
              <a:rPr lang="en-US" sz="150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</a:t>
            </a:r>
            <a:r>
              <a:rPr lang="en-US" sz="15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50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correo</a:t>
            </a:r>
            <a:r>
              <a:rPr lang="en-US" sz="15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50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self.nombre</a:t>
            </a:r>
            <a:r>
              <a:rPr lang="en-US" sz="15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50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50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self.correo</a:t>
            </a:r>
            <a:r>
              <a:rPr lang="en-US" sz="15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50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correo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</a:t>
            </a:r>
            <a:r>
              <a:rPr lang="en-US" sz="150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presentarse</a:t>
            </a:r>
            <a:r>
              <a:rPr lang="en-US" sz="15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(self):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</a:t>
            </a:r>
            <a:r>
              <a:rPr lang="en-US" sz="150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f"Soy</a:t>
            </a:r>
            <a:r>
              <a:rPr lang="en-US" sz="15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r>
              <a:rPr lang="en-US" sz="150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self.nombre</a:t>
            </a:r>
            <a:r>
              <a:rPr lang="en-US" sz="15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}"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Docente(Persona):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</a:t>
            </a:r>
            <a:r>
              <a:rPr lang="en-US" sz="150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</a:t>
            </a:r>
            <a:r>
              <a:rPr lang="en-US" sz="15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__(self, </a:t>
            </a:r>
            <a:r>
              <a:rPr lang="en-US" sz="150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</a:t>
            </a:r>
            <a:r>
              <a:rPr lang="en-US" sz="15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50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correo</a:t>
            </a:r>
            <a:r>
              <a:rPr lang="en-US" sz="15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50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asignatura</a:t>
            </a:r>
            <a:r>
              <a:rPr lang="en-US" sz="15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super().__</a:t>
            </a:r>
            <a:r>
              <a:rPr lang="en-US" sz="150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</a:t>
            </a:r>
            <a:r>
              <a:rPr lang="en-US" sz="15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__(</a:t>
            </a:r>
            <a:r>
              <a:rPr lang="en-US" sz="150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</a:t>
            </a:r>
            <a:r>
              <a:rPr lang="en-US" sz="15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50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correo</a:t>
            </a:r>
            <a:r>
              <a:rPr lang="en-US" sz="15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50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self.asignatura</a:t>
            </a:r>
            <a:r>
              <a:rPr lang="en-US" sz="15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50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asignatura</a:t>
            </a:r>
            <a:endParaRPr lang="en-US" sz="1500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509B058B-E468-3E7A-B144-104D9708B7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98</a:t>
            </a:r>
            <a:endParaRPr lang="en-US" sz="750"/>
          </a:p>
        </p:txBody>
      </p:sp>
      <p:sp>
        <p:nvSpPr>
          <p:cNvPr id="6" name="Text 4"/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6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457200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600" b="1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Dataclasses</a:t>
            </a:r>
            <a:endParaRPr lang="en-US" sz="2600"/>
          </a:p>
        </p:txBody>
      </p:sp>
      <p:sp>
        <p:nvSpPr>
          <p:cNvPr id="8" name="Text 6"/>
          <p:cNvSpPr/>
          <p:nvPr/>
        </p:nvSpPr>
        <p:spPr>
          <a:xfrm>
            <a:off x="685800" y="1097280"/>
            <a:ext cx="107899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 err="1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Útiles</a:t>
            </a:r>
            <a:r>
              <a:rPr lang="en-US" sz="16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para </a:t>
            </a:r>
            <a:r>
              <a:rPr lang="en-US" sz="1600" dirty="0" err="1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modelos</a:t>
            </a:r>
            <a:r>
              <a:rPr lang="en-US" sz="16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simples de datos.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1645920"/>
            <a:ext cx="10927080" cy="4434840"/>
          </a:xfrm>
          <a:prstGeom prst="roundRect">
            <a:avLst>
              <a:gd name="adj" fmla="val 1649"/>
            </a:avLst>
          </a:prstGeom>
          <a:solidFill>
            <a:srgbClr val="F8FAFC"/>
          </a:solidFill>
          <a:ln w="1397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868680" y="1810512"/>
            <a:ext cx="10469880" cy="4105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dataclasses import dataclass</a:t>
            </a:r>
            <a:endParaRPr lang="en-US" sz="1600"/>
          </a:p>
          <a:p>
            <a:pPr marL="0" indent="0">
              <a:buNone/>
            </a:pP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@dataclass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Animal: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codigo: str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especie: str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peso_kg: float</a:t>
            </a:r>
            <a:endParaRPr lang="en-US" sz="1600"/>
          </a:p>
          <a:p>
            <a:pPr marL="0" indent="0">
              <a:buNone/>
            </a:pP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clasificar_peso(self):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"Alto" if self.peso_kg &gt;= 50 else "Normal"</a:t>
            </a:r>
            <a:endParaRPr lang="en-US" sz="1600"/>
          </a:p>
          <a:p>
            <a:pPr marL="0" indent="0">
              <a:buNone/>
            </a:pP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animal = Animal("BOV001", "Bovino", 62.5)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print(animal)</a:t>
            </a:r>
            <a:endParaRPr lang="en-US" sz="160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CC40DE46-6DF9-19EF-3716-DDB462272B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99</a:t>
            </a:r>
            <a:endParaRPr lang="en-US" sz="750"/>
          </a:p>
        </p:txBody>
      </p:sp>
      <p:sp>
        <p:nvSpPr>
          <p:cNvPr id="6" name="Text 4"/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6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502920"/>
            <a:ext cx="1106424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700" b="1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Diccionario vs clase</a:t>
            </a:r>
            <a:endParaRPr lang="en-US" sz="2700"/>
          </a:p>
        </p:txBody>
      </p:sp>
      <p:sp>
        <p:nvSpPr>
          <p:cNvPr id="8" name="Shape 6"/>
          <p:cNvSpPr/>
          <p:nvPr/>
        </p:nvSpPr>
        <p:spPr>
          <a:xfrm>
            <a:off x="658368" y="1298448"/>
            <a:ext cx="5257800" cy="411480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Shape 7"/>
          <p:cNvSpPr/>
          <p:nvPr/>
        </p:nvSpPr>
        <p:spPr>
          <a:xfrm>
            <a:off x="6263640" y="1298448"/>
            <a:ext cx="5257800" cy="41148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822960" y="1389888"/>
            <a:ext cx="4892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FFFFF"/>
                </a:solidFill>
              </a:rPr>
              <a:t>Diccionario</a:t>
            </a:r>
            <a:endParaRPr lang="en-US" sz="1500"/>
          </a:p>
        </p:txBody>
      </p:sp>
      <p:sp>
        <p:nvSpPr>
          <p:cNvPr id="11" name="Text 9"/>
          <p:cNvSpPr/>
          <p:nvPr/>
        </p:nvSpPr>
        <p:spPr>
          <a:xfrm>
            <a:off x="6428232" y="1389888"/>
            <a:ext cx="4892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C4E80"/>
                </a:solidFill>
              </a:rPr>
              <a:t>Clase</a:t>
            </a:r>
            <a:endParaRPr lang="en-US" sz="1500"/>
          </a:p>
        </p:txBody>
      </p:sp>
      <p:sp>
        <p:nvSpPr>
          <p:cNvPr id="12" name="Text 10"/>
          <p:cNvSpPr/>
          <p:nvPr/>
        </p:nvSpPr>
        <p:spPr>
          <a:xfrm>
            <a:off x="777240" y="1920240"/>
            <a:ext cx="5166360" cy="4069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1700" dirty="0" err="1">
                <a:solidFill>
                  <a:srgbClr val="0F172A"/>
                </a:solidFill>
              </a:rPr>
              <a:t>Rápido</a:t>
            </a:r>
            <a:r>
              <a:rPr lang="en-US" sz="1700" dirty="0">
                <a:solidFill>
                  <a:srgbClr val="0F172A"/>
                </a:solidFill>
              </a:rPr>
              <a:t> para datos simples.</a:t>
            </a:r>
            <a:endParaRPr lang="en-US" sz="1700" dirty="0"/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1700" dirty="0">
                <a:solidFill>
                  <a:srgbClr val="0F172A"/>
                </a:solidFill>
              </a:rPr>
              <a:t>Flexible.</a:t>
            </a:r>
            <a:endParaRPr lang="en-US" sz="1700" dirty="0"/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1700" dirty="0">
                <a:solidFill>
                  <a:srgbClr val="0F172A"/>
                </a:solidFill>
              </a:rPr>
              <a:t>No </a:t>
            </a:r>
            <a:r>
              <a:rPr lang="en-US" sz="1700" dirty="0" err="1">
                <a:solidFill>
                  <a:srgbClr val="0F172A"/>
                </a:solidFill>
              </a:rPr>
              <a:t>obliga</a:t>
            </a:r>
            <a:r>
              <a:rPr lang="en-US" sz="1700" dirty="0">
                <a:solidFill>
                  <a:srgbClr val="0F172A"/>
                </a:solidFill>
              </a:rPr>
              <a:t> a </a:t>
            </a:r>
            <a:r>
              <a:rPr lang="en-US" sz="1700" dirty="0" err="1">
                <a:solidFill>
                  <a:srgbClr val="0F172A"/>
                </a:solidFill>
              </a:rPr>
              <a:t>métodos</a:t>
            </a:r>
            <a:r>
              <a:rPr lang="en-US" sz="1700" dirty="0">
                <a:solidFill>
                  <a:srgbClr val="0F172A"/>
                </a:solidFill>
              </a:rPr>
              <a:t>.</a:t>
            </a:r>
            <a:endParaRPr lang="en-US" sz="1700" dirty="0"/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1700" dirty="0" err="1">
                <a:solidFill>
                  <a:srgbClr val="0F172A"/>
                </a:solidFill>
              </a:rPr>
              <a:t>Puede</a:t>
            </a:r>
            <a:r>
              <a:rPr lang="en-US" sz="1700" dirty="0">
                <a:solidFill>
                  <a:srgbClr val="0F172A"/>
                </a:solidFill>
              </a:rPr>
              <a:t> </a:t>
            </a:r>
            <a:r>
              <a:rPr lang="en-US" sz="1700" dirty="0" err="1">
                <a:solidFill>
                  <a:srgbClr val="0F172A"/>
                </a:solidFill>
              </a:rPr>
              <a:t>crecer</a:t>
            </a:r>
            <a:r>
              <a:rPr lang="en-US" sz="1700" dirty="0">
                <a:solidFill>
                  <a:srgbClr val="0F172A"/>
                </a:solidFill>
              </a:rPr>
              <a:t> </a:t>
            </a:r>
            <a:r>
              <a:rPr lang="en-US" sz="1700" dirty="0" err="1">
                <a:solidFill>
                  <a:srgbClr val="0F172A"/>
                </a:solidFill>
              </a:rPr>
              <a:t>desordenado</a:t>
            </a:r>
            <a:r>
              <a:rPr lang="en-US" sz="1700" dirty="0">
                <a:solidFill>
                  <a:srgbClr val="0F172A"/>
                </a:solidFill>
              </a:rPr>
              <a:t>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00800" y="1920240"/>
            <a:ext cx="5166360" cy="4069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1700" dirty="0" err="1">
                <a:solidFill>
                  <a:srgbClr val="0F172A"/>
                </a:solidFill>
              </a:rPr>
              <a:t>Agrupa</a:t>
            </a:r>
            <a:r>
              <a:rPr lang="en-US" sz="1700" dirty="0">
                <a:solidFill>
                  <a:srgbClr val="0F172A"/>
                </a:solidFill>
              </a:rPr>
              <a:t> datos y </a:t>
            </a:r>
            <a:r>
              <a:rPr lang="en-US" sz="1700" dirty="0" err="1">
                <a:solidFill>
                  <a:srgbClr val="0F172A"/>
                </a:solidFill>
              </a:rPr>
              <a:t>comportamiento</a:t>
            </a:r>
            <a:r>
              <a:rPr lang="en-US" sz="1700" dirty="0">
                <a:solidFill>
                  <a:srgbClr val="0F172A"/>
                </a:solidFill>
              </a:rPr>
              <a:t>.</a:t>
            </a:r>
            <a:endParaRPr lang="en-US" sz="1700" dirty="0"/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1700" dirty="0">
                <a:solidFill>
                  <a:srgbClr val="0F172A"/>
                </a:solidFill>
              </a:rPr>
              <a:t>Tiene </a:t>
            </a:r>
            <a:r>
              <a:rPr lang="en-US" sz="1700" dirty="0" err="1">
                <a:solidFill>
                  <a:srgbClr val="0F172A"/>
                </a:solidFill>
              </a:rPr>
              <a:t>métodos</a:t>
            </a:r>
            <a:r>
              <a:rPr lang="en-US" sz="1700" dirty="0">
                <a:solidFill>
                  <a:srgbClr val="0F172A"/>
                </a:solidFill>
              </a:rPr>
              <a:t>.</a:t>
            </a:r>
            <a:endParaRPr lang="en-US" sz="1700" dirty="0"/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1700" dirty="0">
                <a:solidFill>
                  <a:srgbClr val="0F172A"/>
                </a:solidFill>
              </a:rPr>
              <a:t>Mejor para </a:t>
            </a:r>
            <a:r>
              <a:rPr lang="en-US" sz="1700" dirty="0" err="1">
                <a:solidFill>
                  <a:srgbClr val="0F172A"/>
                </a:solidFill>
              </a:rPr>
              <a:t>proyectos</a:t>
            </a:r>
            <a:r>
              <a:rPr lang="en-US" sz="1700" dirty="0">
                <a:solidFill>
                  <a:srgbClr val="0F172A"/>
                </a:solidFill>
              </a:rPr>
              <a:t> </a:t>
            </a:r>
            <a:r>
              <a:rPr lang="en-US" sz="1700" dirty="0" err="1">
                <a:solidFill>
                  <a:srgbClr val="0F172A"/>
                </a:solidFill>
              </a:rPr>
              <a:t>grandes</a:t>
            </a:r>
            <a:r>
              <a:rPr lang="en-US" sz="1700" dirty="0">
                <a:solidFill>
                  <a:srgbClr val="0F172A"/>
                </a:solidFill>
              </a:rPr>
              <a:t>.</a:t>
            </a:r>
            <a:endParaRPr lang="en-US" sz="1700" dirty="0"/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1700" dirty="0">
                <a:solidFill>
                  <a:srgbClr val="0F172A"/>
                </a:solidFill>
              </a:rPr>
              <a:t>Exige </a:t>
            </a:r>
            <a:r>
              <a:rPr lang="en-US" sz="1700" dirty="0" err="1">
                <a:solidFill>
                  <a:srgbClr val="0F172A"/>
                </a:solidFill>
              </a:rPr>
              <a:t>diseño</a:t>
            </a:r>
            <a:r>
              <a:rPr lang="en-US" sz="1700" dirty="0">
                <a:solidFill>
                  <a:srgbClr val="0F172A"/>
                </a:solidFill>
              </a:rPr>
              <a:t> </a:t>
            </a:r>
            <a:r>
              <a:rPr lang="en-US" sz="1700" dirty="0" err="1">
                <a:solidFill>
                  <a:srgbClr val="0F172A"/>
                </a:solidFill>
              </a:rPr>
              <a:t>inicial</a:t>
            </a:r>
            <a:r>
              <a:rPr lang="en-US" sz="1700" dirty="0">
                <a:solidFill>
                  <a:srgbClr val="0F172A"/>
                </a:solidFill>
              </a:rPr>
              <a:t>.</a:t>
            </a:r>
            <a:endParaRPr lang="en-US" sz="1700" dirty="0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146B560F-D1EC-3437-0C6F-EB56913604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</a:t>
            </a:r>
            <a:endParaRPr lang="en-US" sz="750"/>
          </a:p>
        </p:txBody>
      </p:sp>
      <p:sp>
        <p:nvSpPr>
          <p:cNvPr id="6" name="Text 4"/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6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502920"/>
            <a:ext cx="110642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Errores </a:t>
            </a:r>
            <a:r>
              <a:rPr lang="en-US" sz="2800" b="1" dirty="0" err="1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frecuentes</a:t>
            </a:r>
            <a:r>
              <a:rPr lang="en-US" sz="2800" b="1" dirty="0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del día 6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77240" y="1325880"/>
            <a:ext cx="10515600" cy="4800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Olvidar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self.</a:t>
            </a:r>
            <a:endParaRPr lang="en-US" sz="2000" dirty="0"/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Llamar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un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método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como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fuera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atributo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Confundir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con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objeto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Usar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herencia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donde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bastaba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composición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Crear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sin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comportamiento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real.</a:t>
            </a:r>
            <a:endParaRPr lang="en-US" sz="2000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B7292DA4-3128-56A6-2584-D55B89B640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101</a:t>
            </a:r>
            <a:endParaRPr lang="en-US" sz="750"/>
          </a:p>
        </p:txBody>
      </p:sp>
      <p:sp>
        <p:nvSpPr>
          <p:cNvPr id="6" name="Text 4"/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6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502920"/>
            <a:ext cx="110642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Cierre de la sesión 6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77240" y="1325880"/>
            <a:ext cx="10515600" cy="4800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proyecto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tiene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entidades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académicas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Estudiante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y Curso se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modelan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como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lógica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se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mueve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hacia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métodos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código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queda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más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profesional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660C0973-42BD-5313-3529-1C9B5E7ECA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5166360"/>
            <a:ext cx="12191695" cy="169164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94360" y="64008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>
                <a:solidFill>
                  <a:srgbClr val="FFD4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07</a:t>
            </a:r>
            <a:endParaRPr lang="en-US" sz="580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1078992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Sesión 7: </a:t>
            </a:r>
            <a:r>
              <a:rPr lang="en-US" sz="4000" b="1" dirty="0" err="1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Gestión</a:t>
            </a: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de </a:t>
            </a:r>
            <a:r>
              <a:rPr lang="en-US" sz="4000" b="1" dirty="0" err="1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paquetes</a:t>
            </a: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y </a:t>
            </a:r>
            <a:r>
              <a:rPr lang="en-US" sz="4000" b="1" dirty="0" err="1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análisis</a:t>
            </a: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de datos con pip, pandas y matplotlib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3063240"/>
            <a:ext cx="987552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200" dirty="0" err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Instalar</a:t>
            </a:r>
            <a:r>
              <a:rPr lang="en-US" sz="2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200" dirty="0" err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dependencias</a:t>
            </a:r>
            <a:r>
              <a:rPr lang="en-US" sz="2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y </a:t>
            </a:r>
            <a:r>
              <a:rPr lang="en-US" sz="2200" dirty="0" err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trabajar</a:t>
            </a:r>
            <a:r>
              <a:rPr lang="en-US" sz="2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con CSV / JSON.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5715000"/>
            <a:ext cx="7772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4E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Curso de Programación con Python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1201400" y="62910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1C4E80"/>
                </a:solidFill>
              </a:rPr>
              <a:t>102</a:t>
            </a:r>
            <a:endParaRPr lang="en-US" sz="80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6A07E43F-71B0-ABB2-8F10-460259A29B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3B88C5-AF76-06EB-9F94-2C24370F7A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2053159-402F-7022-0511-E19D205A1007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2EB1A78-C74D-7EBC-62DC-13CBC507F7B0}"/>
              </a:ext>
            </a:extLst>
          </p:cNvPr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8DE482B-568A-9620-C8F1-21B7DC50C769}"/>
              </a:ext>
            </a:extLst>
          </p:cNvPr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98735AD-F5F9-D168-917C-14358FA82C8E}"/>
              </a:ext>
            </a:extLst>
          </p:cNvPr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</a:t>
            </a:r>
            <a:endParaRPr lang="en-US" sz="75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F045AA3-80D8-360F-2410-F9745B3F3439}"/>
              </a:ext>
            </a:extLst>
          </p:cNvPr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1</a:t>
            </a:r>
            <a:endParaRPr lang="en-US" sz="7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99CE4EA-9238-9311-C464-CA73F4ECF787}"/>
              </a:ext>
            </a:extLst>
          </p:cNvPr>
          <p:cNvSpPr/>
          <p:nvPr/>
        </p:nvSpPr>
        <p:spPr>
          <a:xfrm>
            <a:off x="502920" y="457200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</a:t>
            </a:r>
            <a:r>
              <a:rPr lang="en-US" sz="2600" b="1" dirty="0" err="1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</a:t>
            </a:r>
            <a:r>
              <a:rPr lang="en-US" sz="2600" b="1" dirty="0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es pip?</a:t>
            </a:r>
            <a:endParaRPr lang="en-US" sz="2600" dirty="0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6451D643-7706-E58A-2600-0FA0A5F1AD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  <p:sp>
        <p:nvSpPr>
          <p:cNvPr id="9" name="Text 6">
            <a:extLst>
              <a:ext uri="{FF2B5EF4-FFF2-40B4-BE49-F238E27FC236}">
                <a16:creationId xmlns:a16="http://schemas.microsoft.com/office/drawing/2014/main" id="{FED490CE-1F5D-C587-265E-3C1742D54402}"/>
              </a:ext>
            </a:extLst>
          </p:cNvPr>
          <p:cNvSpPr/>
          <p:nvPr/>
        </p:nvSpPr>
        <p:spPr>
          <a:xfrm>
            <a:off x="777240" y="1325880"/>
            <a:ext cx="10515600" cy="4800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fontScale="92500" lnSpcReduction="20000"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 el </a:t>
            </a:r>
            <a:r>
              <a:rPr lang="en-US" sz="20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gestor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de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paquetes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de Python.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000" dirty="0" err="1">
                <a:solidFill>
                  <a:srgbClr val="0F172A"/>
                </a:solidFill>
                <a:latin typeface="Aptos" pitchFamily="34" charset="0"/>
              </a:rPr>
              <a:t>Permite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</a:rPr>
              <a:t>descargar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</a:rPr>
              <a:t> e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</a:rPr>
              <a:t>instalar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</a:rPr>
              <a:t>bibliotecas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</a:rPr>
              <a:t>desarrolladas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</a:rPr>
              <a:t> por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</a:rPr>
              <a:t>otras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</a:rPr>
              <a:t> personas u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</a:rPr>
              <a:t>organizaciones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sz="2000" b="1" dirty="0">
                <a:solidFill>
                  <a:srgbClr val="002060"/>
                </a:solidFill>
                <a:latin typeface="Aptos" pitchFamily="34" charset="0"/>
              </a:rPr>
              <a:t>BIBLIOTECAS: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rgbClr val="002060"/>
                </a:solidFill>
                <a:latin typeface="Aptos" pitchFamily="34" charset="0"/>
              </a:rPr>
              <a:t>pandas: </a:t>
            </a:r>
            <a:r>
              <a:rPr lang="en-US" sz="2000" b="1" dirty="0" err="1">
                <a:latin typeface="Aptos" pitchFamily="34" charset="0"/>
              </a:rPr>
              <a:t>análisis</a:t>
            </a:r>
            <a:r>
              <a:rPr lang="en-US" sz="2000" b="1" dirty="0">
                <a:latin typeface="Aptos" pitchFamily="34" charset="0"/>
              </a:rPr>
              <a:t> y </a:t>
            </a:r>
            <a:r>
              <a:rPr lang="en-US" sz="2000" b="1" dirty="0" err="1">
                <a:latin typeface="Aptos" pitchFamily="34" charset="0"/>
              </a:rPr>
              <a:t>manipulación</a:t>
            </a:r>
            <a:r>
              <a:rPr lang="en-US" sz="2000" b="1" dirty="0">
                <a:latin typeface="Aptos" pitchFamily="34" charset="0"/>
              </a:rPr>
              <a:t> de datos.</a:t>
            </a:r>
            <a:endParaRPr lang="en-US" sz="2000" b="1" dirty="0">
              <a:solidFill>
                <a:srgbClr val="002060"/>
              </a:solidFill>
              <a:latin typeface="Aptos" pitchFamily="34" charset="0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rgbClr val="002060"/>
                </a:solidFill>
                <a:latin typeface="Aptos" pitchFamily="34" charset="0"/>
              </a:rPr>
              <a:t>matplotlib: </a:t>
            </a:r>
            <a:r>
              <a:rPr lang="en-US" sz="2000" b="1" dirty="0" err="1">
                <a:latin typeface="Aptos" pitchFamily="34" charset="0"/>
              </a:rPr>
              <a:t>creación</a:t>
            </a:r>
            <a:r>
              <a:rPr lang="en-US" sz="2000" b="1" dirty="0">
                <a:latin typeface="Aptos" pitchFamily="34" charset="0"/>
              </a:rPr>
              <a:t> de </a:t>
            </a:r>
            <a:r>
              <a:rPr lang="en-US" sz="2000" b="1" dirty="0" err="1">
                <a:latin typeface="Aptos" pitchFamily="34" charset="0"/>
              </a:rPr>
              <a:t>gráficos</a:t>
            </a:r>
            <a:r>
              <a:rPr lang="en-US" sz="2000" b="1" dirty="0">
                <a:latin typeface="Aptos" pitchFamily="34" charset="0"/>
              </a:rPr>
              <a:t>.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rgbClr val="002060"/>
                </a:solidFill>
                <a:latin typeface="Aptos" pitchFamily="34" charset="0"/>
              </a:rPr>
              <a:t>requests: </a:t>
            </a:r>
            <a:r>
              <a:rPr lang="en-US" sz="2000" b="1" dirty="0" err="1">
                <a:latin typeface="Aptos" pitchFamily="34" charset="0"/>
              </a:rPr>
              <a:t>consumo</a:t>
            </a:r>
            <a:r>
              <a:rPr lang="en-US" sz="2000" b="1" dirty="0">
                <a:latin typeface="Aptos" pitchFamily="34" charset="0"/>
              </a:rPr>
              <a:t> de APIs.</a:t>
            </a:r>
            <a:endParaRPr lang="en-US" sz="2000" b="1" dirty="0">
              <a:solidFill>
                <a:srgbClr val="002060"/>
              </a:solidFill>
              <a:latin typeface="Aptos" pitchFamily="34" charset="0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000" b="1" dirty="0" err="1">
                <a:solidFill>
                  <a:srgbClr val="002060"/>
                </a:solidFill>
                <a:latin typeface="Aptos" pitchFamily="34" charset="0"/>
              </a:rPr>
              <a:t>openpyxl</a:t>
            </a:r>
            <a:r>
              <a:rPr lang="en-US" sz="2000" b="1" dirty="0">
                <a:solidFill>
                  <a:srgbClr val="002060"/>
                </a:solidFill>
                <a:latin typeface="Aptos" pitchFamily="34" charset="0"/>
              </a:rPr>
              <a:t>: </a:t>
            </a:r>
            <a:r>
              <a:rPr lang="en-US" sz="2000" b="1" dirty="0" err="1">
                <a:latin typeface="Aptos" pitchFamily="34" charset="0"/>
              </a:rPr>
              <a:t>lectura</a:t>
            </a:r>
            <a:r>
              <a:rPr lang="en-US" sz="2000" b="1" dirty="0">
                <a:latin typeface="Aptos" pitchFamily="34" charset="0"/>
              </a:rPr>
              <a:t> y </a:t>
            </a:r>
            <a:r>
              <a:rPr lang="en-US" sz="2000" b="1" dirty="0" err="1">
                <a:latin typeface="Aptos" pitchFamily="34" charset="0"/>
              </a:rPr>
              <a:t>escritura</a:t>
            </a:r>
            <a:r>
              <a:rPr lang="en-US" sz="2000" b="1" dirty="0">
                <a:latin typeface="Aptos" pitchFamily="34" charset="0"/>
              </a:rPr>
              <a:t> de </a:t>
            </a:r>
            <a:r>
              <a:rPr lang="en-US" sz="2000" b="1" dirty="0" err="1">
                <a:latin typeface="Aptos" pitchFamily="34" charset="0"/>
              </a:rPr>
              <a:t>archivos</a:t>
            </a:r>
            <a:r>
              <a:rPr lang="en-US" sz="2000" b="1" dirty="0">
                <a:latin typeface="Aptos" pitchFamily="34" charset="0"/>
              </a:rPr>
              <a:t> Excel.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000" b="1" dirty="0" err="1">
                <a:solidFill>
                  <a:srgbClr val="002060"/>
                </a:solidFill>
                <a:latin typeface="Aptos" pitchFamily="34" charset="0"/>
              </a:rPr>
              <a:t>fastapi</a:t>
            </a:r>
            <a:r>
              <a:rPr lang="en-US" sz="2000" b="1" dirty="0">
                <a:solidFill>
                  <a:srgbClr val="002060"/>
                </a:solidFill>
                <a:latin typeface="Aptos" pitchFamily="34" charset="0"/>
              </a:rPr>
              <a:t>: </a:t>
            </a:r>
            <a:r>
              <a:rPr lang="en-US" sz="2000" b="1" dirty="0">
                <a:latin typeface="Aptos" pitchFamily="34" charset="0"/>
              </a:rPr>
              <a:t>desarrollo de APIs.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000" b="1" dirty="0" err="1">
                <a:solidFill>
                  <a:srgbClr val="002060"/>
                </a:solidFill>
                <a:latin typeface="Aptos" pitchFamily="34" charset="0"/>
              </a:rPr>
              <a:t>django</a:t>
            </a:r>
            <a:r>
              <a:rPr lang="en-US" sz="2000" b="1" dirty="0">
                <a:solidFill>
                  <a:srgbClr val="002060"/>
                </a:solidFill>
                <a:latin typeface="Aptos" pitchFamily="34" charset="0"/>
              </a:rPr>
              <a:t>: </a:t>
            </a:r>
            <a:r>
              <a:rPr lang="en-US" sz="2000" b="1" dirty="0">
                <a:latin typeface="Aptos" pitchFamily="34" charset="0"/>
              </a:rPr>
              <a:t>desarrollo de </a:t>
            </a:r>
            <a:r>
              <a:rPr lang="en-US" sz="2000" b="1" dirty="0" err="1">
                <a:latin typeface="Aptos" pitchFamily="34" charset="0"/>
              </a:rPr>
              <a:t>aplicaciones</a:t>
            </a:r>
            <a:r>
              <a:rPr lang="en-US" sz="2000" b="1" dirty="0">
                <a:latin typeface="Aptos" pitchFamily="34" charset="0"/>
              </a:rPr>
              <a:t> web.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endParaRPr lang="en-US" sz="2000" dirty="0">
              <a:solidFill>
                <a:srgbClr val="0F172A"/>
              </a:solidFill>
              <a:latin typeface="Aptos" pitchFamily="34" charset="0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687193887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DB3E0-D404-3293-4B43-57D4616F5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81F8FD2-BBD8-AF5E-119E-606B4E9D09B2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3FDBD40-FEE9-CD7E-620C-351A1A50D557}"/>
              </a:ext>
            </a:extLst>
          </p:cNvPr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9E9521F-AD10-222B-F518-A64910FA154D}"/>
              </a:ext>
            </a:extLst>
          </p:cNvPr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9E928F5-FAEE-4991-A044-A031F7E2BA68}"/>
              </a:ext>
            </a:extLst>
          </p:cNvPr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</a:t>
            </a:r>
            <a:endParaRPr lang="en-US" sz="75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F9121E0-8FDA-B97D-685D-4995E264D0D8}"/>
              </a:ext>
            </a:extLst>
          </p:cNvPr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1</a:t>
            </a:r>
            <a:endParaRPr lang="en-US" sz="7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995DC2F9-E608-0554-1F8F-C509BA6DF90B}"/>
              </a:ext>
            </a:extLst>
          </p:cNvPr>
          <p:cNvSpPr/>
          <p:nvPr/>
        </p:nvSpPr>
        <p:spPr>
          <a:xfrm>
            <a:off x="502920" y="457200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C4E80"/>
                </a:solidFill>
                <a:latin typeface="Aptos Display" pitchFamily="34" charset="0"/>
              </a:rPr>
              <a:t>Python </a:t>
            </a:r>
            <a:r>
              <a:rPr lang="en-US" sz="2600" b="1" dirty="0" err="1">
                <a:solidFill>
                  <a:srgbClr val="1C4E80"/>
                </a:solidFill>
                <a:latin typeface="Aptos Display" pitchFamily="34" charset="0"/>
              </a:rPr>
              <a:t>incluye</a:t>
            </a:r>
            <a:r>
              <a:rPr lang="en-US" sz="2600" b="1" dirty="0">
                <a:solidFill>
                  <a:srgbClr val="1C4E80"/>
                </a:solidFill>
                <a:latin typeface="Aptos Display" pitchFamily="34" charset="0"/>
              </a:rPr>
              <a:t>:</a:t>
            </a:r>
            <a:endParaRPr lang="en-US" sz="2600" dirty="0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D2503626-9A8A-B6A8-1219-7B4581D9D9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  <p:sp>
        <p:nvSpPr>
          <p:cNvPr id="9" name="Text 6">
            <a:extLst>
              <a:ext uri="{FF2B5EF4-FFF2-40B4-BE49-F238E27FC236}">
                <a16:creationId xmlns:a16="http://schemas.microsoft.com/office/drawing/2014/main" id="{B22CE908-12A8-D3EC-C3C4-057410C001BD}"/>
              </a:ext>
            </a:extLst>
          </p:cNvPr>
          <p:cNvSpPr/>
          <p:nvPr/>
        </p:nvSpPr>
        <p:spPr>
          <a:xfrm>
            <a:off x="777240" y="1325880"/>
            <a:ext cx="10515600" cy="326111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math, random,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json</a:t>
            </a:r>
            <a:endParaRPr lang="en-US" sz="2000" dirty="0">
              <a:solidFill>
                <a:srgbClr val="0F172A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endParaRPr lang="en-US" sz="2000" dirty="0">
              <a:solidFill>
                <a:srgbClr val="0F172A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>
              <a:lnSpc>
                <a:spcPct val="200000"/>
              </a:lnSpc>
            </a:pPr>
            <a:r>
              <a:rPr lang="en-US" sz="2000" b="1" dirty="0">
                <a:solidFill>
                  <a:srgbClr val="0F172A"/>
                </a:solidFill>
                <a:latin typeface="Aptos" pitchFamily="34" charset="0"/>
              </a:rPr>
              <a:t>Pero </a:t>
            </a:r>
            <a:r>
              <a:rPr lang="en-US" sz="2000" b="1" dirty="0" err="1">
                <a:solidFill>
                  <a:srgbClr val="0F172A"/>
                </a:solidFill>
                <a:latin typeface="Aptos" pitchFamily="34" charset="0"/>
              </a:rPr>
              <a:t>bibliotecas</a:t>
            </a:r>
            <a:r>
              <a:rPr lang="en-US" sz="2000" b="1" dirty="0">
                <a:solidFill>
                  <a:srgbClr val="0F172A"/>
                </a:solidFill>
                <a:latin typeface="Aptos" pitchFamily="34" charset="0"/>
              </a:rPr>
              <a:t> como: 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</a:rPr>
              <a:t>pandas y matplotlib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</a:rPr>
              <a:t>deben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</a:rPr>
              <a:t>instalarse</a:t>
            </a:r>
            <a:r>
              <a:rPr lang="en-US" sz="2000" b="1" dirty="0">
                <a:solidFill>
                  <a:srgbClr val="0F172A"/>
                </a:solidFill>
                <a:latin typeface="Aptos" pitchFamily="34" charset="0"/>
              </a:rPr>
              <a:t>.</a:t>
            </a:r>
          </a:p>
          <a:p>
            <a:pPr>
              <a:lnSpc>
                <a:spcPct val="200000"/>
              </a:lnSpc>
            </a:pPr>
            <a:endParaRPr lang="en-US" sz="2000" dirty="0">
              <a:solidFill>
                <a:srgbClr val="0F172A"/>
              </a:solidFill>
              <a:latin typeface="Aptos" pitchFamily="34" charset="0"/>
            </a:endParaRPr>
          </a:p>
          <a:p>
            <a:pPr>
              <a:lnSpc>
                <a:spcPct val="200000"/>
              </a:lnSpc>
            </a:pPr>
            <a:endParaRPr lang="en-US" sz="2000" b="1" dirty="0">
              <a:solidFill>
                <a:srgbClr val="002060"/>
              </a:solidFill>
              <a:latin typeface="Aptos" pitchFamily="34" charset="0"/>
            </a:endParaRPr>
          </a:p>
          <a:p>
            <a:pPr>
              <a:lnSpc>
                <a:spcPct val="200000"/>
              </a:lnSpc>
            </a:pPr>
            <a:endParaRPr lang="en-US" sz="2000" dirty="0">
              <a:solidFill>
                <a:srgbClr val="0F172A"/>
              </a:solidFill>
              <a:latin typeface="Aptos" pitchFamily="34" charset="0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876491034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40CDA1-3535-9C0A-75EE-F0A9485A9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EAE0118-8BC8-9739-A87D-06D66B246948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9475441-D14A-A8B8-0D85-082DE8CD52D6}"/>
              </a:ext>
            </a:extLst>
          </p:cNvPr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39B5446-2CAE-1A52-5CAB-B066CB877167}"/>
              </a:ext>
            </a:extLst>
          </p:cNvPr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2A84D23-61D7-5456-4A5E-9ACC7B89694F}"/>
              </a:ext>
            </a:extLst>
          </p:cNvPr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</a:t>
            </a:r>
            <a:endParaRPr lang="en-US" sz="75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117C2FA-7F34-A513-BC56-D396A0EAD612}"/>
              </a:ext>
            </a:extLst>
          </p:cNvPr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1</a:t>
            </a:r>
            <a:endParaRPr lang="en-US" sz="7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8258A043-EA6B-B6C5-5B1D-420AB3D1AF6D}"/>
              </a:ext>
            </a:extLst>
          </p:cNvPr>
          <p:cNvSpPr/>
          <p:nvPr/>
        </p:nvSpPr>
        <p:spPr>
          <a:xfrm>
            <a:off x="502920" y="457200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</a:t>
            </a:r>
            <a:r>
              <a:rPr lang="en-US" sz="2600" b="1" dirty="0" err="1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</a:t>
            </a:r>
            <a:r>
              <a:rPr lang="en-US" sz="2600" b="1" dirty="0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es pip?</a:t>
            </a:r>
            <a:endParaRPr lang="en-US" sz="2600" dirty="0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9C2CE3AB-1007-385B-0C1B-ED81A0F2555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940" b="13433"/>
          <a:stretch>
            <a:fillRect/>
          </a:stretch>
        </p:blipFill>
        <p:spPr>
          <a:xfrm>
            <a:off x="1332931" y="960120"/>
            <a:ext cx="9144000" cy="5117910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FE8EDC1E-9F10-DEF7-18C4-9FEBB15208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121577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1D5F9-F240-C0EC-0E51-116C8ECD8B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B8C1430-13AF-DE99-2158-C8C7081F515D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64F4E55-5E6C-E88E-501D-32BDFB509234}"/>
              </a:ext>
            </a:extLst>
          </p:cNvPr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C4583C5-0450-BB02-F82A-10B5CE251065}"/>
              </a:ext>
            </a:extLst>
          </p:cNvPr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DCE5EE7-718C-3262-6291-411AE3BE7748}"/>
              </a:ext>
            </a:extLst>
          </p:cNvPr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</a:t>
            </a:r>
            <a:endParaRPr lang="en-US" sz="75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B8142D1-50F3-DF66-A2C3-72D3BDB3C7D2}"/>
              </a:ext>
            </a:extLst>
          </p:cNvPr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1</a:t>
            </a:r>
            <a:endParaRPr lang="en-US" sz="7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F1DD471-E852-9D0F-AE6E-87DFF1C22B95}"/>
              </a:ext>
            </a:extLst>
          </p:cNvPr>
          <p:cNvSpPr/>
          <p:nvPr/>
        </p:nvSpPr>
        <p:spPr>
          <a:xfrm>
            <a:off x="502920" y="457200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C4E80"/>
                </a:solidFill>
                <a:latin typeface="Aptos Display" pitchFamily="34" charset="0"/>
              </a:rPr>
              <a:t>Pip </a:t>
            </a:r>
            <a:r>
              <a:rPr lang="en-US" sz="2600" b="1" dirty="0" err="1">
                <a:solidFill>
                  <a:srgbClr val="1C4E80"/>
                </a:solidFill>
                <a:latin typeface="Aptos Display" pitchFamily="34" charset="0"/>
              </a:rPr>
              <a:t>instalado</a:t>
            </a:r>
            <a:r>
              <a:rPr lang="en-US" sz="2600" b="1" dirty="0">
                <a:solidFill>
                  <a:srgbClr val="1C4E80"/>
                </a:solidFill>
                <a:latin typeface="Aptos Display" pitchFamily="34" charset="0"/>
              </a:rPr>
              <a:t> y </a:t>
            </a:r>
            <a:r>
              <a:rPr lang="en-US" sz="2600" b="1" dirty="0" err="1">
                <a:solidFill>
                  <a:srgbClr val="1C4E80"/>
                </a:solidFill>
                <a:latin typeface="Aptos Display" pitchFamily="34" charset="0"/>
              </a:rPr>
              <a:t>funcionando</a:t>
            </a:r>
            <a:r>
              <a:rPr lang="en-US" sz="2600" b="1" dirty="0">
                <a:solidFill>
                  <a:srgbClr val="1C4E80"/>
                </a:solidFill>
                <a:latin typeface="Aptos Display" pitchFamily="34" charset="0"/>
              </a:rPr>
              <a:t> </a:t>
            </a:r>
            <a:r>
              <a:rPr lang="en-US" sz="2600" b="1" dirty="0" err="1">
                <a:solidFill>
                  <a:srgbClr val="1C4E80"/>
                </a:solidFill>
                <a:latin typeface="Aptos Display" pitchFamily="34" charset="0"/>
              </a:rPr>
              <a:t>correctamente</a:t>
            </a:r>
            <a:r>
              <a:rPr lang="en-US" sz="2600" b="1" dirty="0">
                <a:solidFill>
                  <a:srgbClr val="1C4E80"/>
                </a:solidFill>
                <a:latin typeface="Aptos Display" pitchFamily="34" charset="0"/>
              </a:rPr>
              <a:t>:</a:t>
            </a:r>
            <a:endParaRPr lang="en-US" sz="2600" dirty="0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5A230BB9-9699-2DCC-223C-C889710681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  <p:sp>
        <p:nvSpPr>
          <p:cNvPr id="9" name="Text 6">
            <a:extLst>
              <a:ext uri="{FF2B5EF4-FFF2-40B4-BE49-F238E27FC236}">
                <a16:creationId xmlns:a16="http://schemas.microsoft.com/office/drawing/2014/main" id="{4991CA87-193B-1BD7-B0A8-54EB1096221C}"/>
              </a:ext>
            </a:extLst>
          </p:cNvPr>
          <p:cNvSpPr/>
          <p:nvPr/>
        </p:nvSpPr>
        <p:spPr>
          <a:xfrm>
            <a:off x="777240" y="1325880"/>
            <a:ext cx="10515600" cy="326111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 26.1.2: 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version de pip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instalada</a:t>
            </a:r>
            <a:endParaRPr lang="en-US" sz="2000" dirty="0">
              <a:solidFill>
                <a:srgbClr val="0F172A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s-MX" b="1" dirty="0"/>
              <a:t>C:\Users\pucodev\AppData\Local\Programs\Python\Python313\Lib\site-packages\pip</a:t>
            </a:r>
            <a:r>
              <a:rPr lang="es-MX" sz="2000" dirty="0"/>
              <a:t>: carpeta donde está instalado pip.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s-MX" b="1" dirty="0"/>
              <a:t>(</a:t>
            </a:r>
            <a:r>
              <a:rPr lang="es-MX" b="1" dirty="0" err="1"/>
              <a:t>python</a:t>
            </a:r>
            <a:r>
              <a:rPr lang="es-MX" b="1" dirty="0"/>
              <a:t> 3.13)</a:t>
            </a:r>
            <a:r>
              <a:rPr lang="es-MX" sz="2000" dirty="0"/>
              <a:t>: Este pip pertenece a Python 3.13 </a:t>
            </a:r>
            <a:r>
              <a:rPr lang="es-MX" sz="2000" dirty="0">
                <a:sym typeface="Wingdings" panose="05000000000000000000" pitchFamily="2" charset="2"/>
              </a:rPr>
              <a:t> versión principal y secundaria.</a:t>
            </a:r>
          </a:p>
          <a:p>
            <a:pPr>
              <a:lnSpc>
                <a:spcPct val="200000"/>
              </a:lnSpc>
            </a:pPr>
            <a:endParaRPr lang="en-US" sz="2000" dirty="0">
              <a:solidFill>
                <a:srgbClr val="0F172A"/>
              </a:solidFill>
              <a:latin typeface="Aptos" pitchFamily="34" charset="0"/>
            </a:endParaRPr>
          </a:p>
          <a:p>
            <a:pPr>
              <a:lnSpc>
                <a:spcPct val="200000"/>
              </a:lnSpc>
            </a:pPr>
            <a:endParaRPr lang="en-US" sz="2000" b="1" dirty="0">
              <a:solidFill>
                <a:srgbClr val="002060"/>
              </a:solidFill>
              <a:latin typeface="Aptos" pitchFamily="34" charset="0"/>
            </a:endParaRPr>
          </a:p>
          <a:p>
            <a:pPr>
              <a:lnSpc>
                <a:spcPct val="200000"/>
              </a:lnSpc>
            </a:pPr>
            <a:endParaRPr lang="en-US" sz="2000" dirty="0">
              <a:solidFill>
                <a:srgbClr val="0F172A"/>
              </a:solidFill>
              <a:latin typeface="Aptos" pitchFamily="34" charset="0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832412231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4C9328-D1E4-3306-BEC2-53BDAD66B9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29D4BD5-8984-3156-84BB-0A0DB360A376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29B15E7-E10F-EF52-A425-FF6928EEBBA0}"/>
              </a:ext>
            </a:extLst>
          </p:cNvPr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FB0AD8C-CB1D-224D-A4DA-F6BB3075113D}"/>
              </a:ext>
            </a:extLst>
          </p:cNvPr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FF808E8-BD55-CA5C-8EE1-F6BD83A241E2}"/>
              </a:ext>
            </a:extLst>
          </p:cNvPr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</a:t>
            </a:r>
            <a:endParaRPr lang="en-US" sz="75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9A741E1-11BA-43E4-1096-744A6F721B69}"/>
              </a:ext>
            </a:extLst>
          </p:cNvPr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1</a:t>
            </a:r>
            <a:endParaRPr lang="en-US" sz="7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E4F8099-CECD-7FCF-A817-89A9D424F42C}"/>
              </a:ext>
            </a:extLst>
          </p:cNvPr>
          <p:cNvSpPr/>
          <p:nvPr/>
        </p:nvSpPr>
        <p:spPr>
          <a:xfrm>
            <a:off x="502920" y="457200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 err="1">
                <a:solidFill>
                  <a:srgbClr val="1C4E80"/>
                </a:solidFill>
                <a:latin typeface="Aptos Display" pitchFamily="34" charset="0"/>
              </a:rPr>
              <a:t>Recomendación</a:t>
            </a:r>
            <a:r>
              <a:rPr lang="en-US" sz="2600" b="1" dirty="0">
                <a:solidFill>
                  <a:srgbClr val="1C4E80"/>
                </a:solidFill>
                <a:latin typeface="Aptos Display" pitchFamily="34" charset="0"/>
              </a:rPr>
              <a:t> :</a:t>
            </a:r>
            <a:endParaRPr lang="en-US" sz="2600" dirty="0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ED7B179D-7A60-1E68-3534-F460F976CF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  <p:sp>
        <p:nvSpPr>
          <p:cNvPr id="9" name="Text 6">
            <a:extLst>
              <a:ext uri="{FF2B5EF4-FFF2-40B4-BE49-F238E27FC236}">
                <a16:creationId xmlns:a16="http://schemas.microsoft.com/office/drawing/2014/main" id="{5AC6C4DF-56D5-8AEA-4854-9D1325497FAE}"/>
              </a:ext>
            </a:extLst>
          </p:cNvPr>
          <p:cNvSpPr/>
          <p:nvPr/>
        </p:nvSpPr>
        <p:spPr>
          <a:xfrm>
            <a:off x="777240" y="1325880"/>
            <a:ext cx="10515600" cy="4160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lnSpcReduction="10000"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instalar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bibliotecas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python se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recomienda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usar el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comando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accent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–m pip </a:t>
            </a:r>
            <a:r>
              <a:rPr lang="en-US" sz="2000" b="1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nombre_biblioteca</a:t>
            </a:r>
            <a:endParaRPr lang="en-US" sz="2000" b="1" dirty="0">
              <a:solidFill>
                <a:srgbClr val="0F172A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rgbClr val="0F172A"/>
                </a:solidFill>
                <a:latin typeface="Aptos" pitchFamily="34" charset="0"/>
              </a:rPr>
              <a:t>python: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</a:rPr>
              <a:t>ejecuta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</a:rPr>
              <a:t> el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</a:rPr>
              <a:t>intérprete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</a:rPr>
              <a:t>.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rgbClr val="0F172A"/>
                </a:solidFill>
                <a:latin typeface="Aptos" pitchFamily="34" charset="0"/>
              </a:rPr>
              <a:t>-m: 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</a:rPr>
              <a:t>indica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</a:rPr>
              <a:t>que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</a:rPr>
              <a:t> Python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</a:rPr>
              <a:t>debe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</a:rPr>
              <a:t> ejecutar un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</a:rPr>
              <a:t>módulo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</a:rPr>
              <a:t> como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</a:rPr>
              <a:t>si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</a:rPr>
              <a:t> fuera un programa</a:t>
            </a:r>
            <a:r>
              <a:rPr lang="en-US" sz="2000" b="1" dirty="0">
                <a:solidFill>
                  <a:srgbClr val="0F172A"/>
                </a:solidFill>
                <a:latin typeface="Aptos" pitchFamily="34" charset="0"/>
              </a:rPr>
              <a:t>.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000" b="1" dirty="0" err="1">
                <a:solidFill>
                  <a:srgbClr val="0F172A"/>
                </a:solidFill>
                <a:latin typeface="Aptos" pitchFamily="34" charset="0"/>
              </a:rPr>
              <a:t>venv</a:t>
            </a:r>
            <a:r>
              <a:rPr lang="en-US" sz="2000" b="1" dirty="0">
                <a:solidFill>
                  <a:srgbClr val="0F172A"/>
                </a:solidFill>
                <a:latin typeface="Aptos" pitchFamily="34" charset="0"/>
              </a:rPr>
              <a:t>: 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</a:rPr>
              <a:t>es el modulo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</a:rPr>
              <a:t>incorporado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</a:rPr>
              <a:t>que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</a:rPr>
              <a:t>crea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</a:rPr>
              <a:t>entornos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</a:rPr>
              <a:t>virtuales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</a:rPr>
              <a:t>.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rgbClr val="0F172A"/>
                </a:solidFill>
                <a:latin typeface="Aptos" pitchFamily="34" charset="0"/>
              </a:rPr>
              <a:t>.</a:t>
            </a:r>
            <a:r>
              <a:rPr lang="en-US" sz="2000" b="1" dirty="0" err="1">
                <a:solidFill>
                  <a:srgbClr val="0F172A"/>
                </a:solidFill>
                <a:latin typeface="Aptos" pitchFamily="34" charset="0"/>
              </a:rPr>
              <a:t>venv</a:t>
            </a:r>
            <a:r>
              <a:rPr lang="en-US" sz="2000" b="1" dirty="0">
                <a:solidFill>
                  <a:srgbClr val="0F172A"/>
                </a:solidFill>
                <a:latin typeface="Aptos" pitchFamily="34" charset="0"/>
              </a:rPr>
              <a:t>: 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</a:rPr>
              <a:t>es el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</a:rPr>
              <a:t>nombre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</a:rPr>
              <a:t> de la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</a:rPr>
              <a:t>carpeta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</a:rPr>
              <a:t>donde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</a:rPr>
              <a:t> se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</a:rPr>
              <a:t>guardará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</a:rPr>
              <a:t> el entorno virtual.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</a:rPr>
              <a:t>Para </a:t>
            </a:r>
            <a:r>
              <a:rPr lang="en-US" sz="2000" b="1" dirty="0" err="1">
                <a:solidFill>
                  <a:schemeClr val="accent2"/>
                </a:solidFill>
                <a:latin typeface="Aptos" pitchFamily="34" charset="0"/>
              </a:rPr>
              <a:t>desactivar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</a:rPr>
              <a:t> el entorno virtual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</a:rPr>
              <a:t>ejecutamos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</a:rPr>
              <a:t>: </a:t>
            </a:r>
            <a:r>
              <a:rPr lang="en-US" sz="2000" b="1" dirty="0">
                <a:solidFill>
                  <a:srgbClr val="002060"/>
                </a:solidFill>
                <a:latin typeface="Aptos" pitchFamily="34" charset="0"/>
              </a:rPr>
              <a:t>deactivate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endParaRPr lang="en-US" sz="2000" dirty="0">
              <a:solidFill>
                <a:srgbClr val="0F172A"/>
              </a:solidFill>
              <a:latin typeface="Aptos" pitchFamily="34" charset="0"/>
            </a:endParaRPr>
          </a:p>
          <a:p>
            <a:pPr>
              <a:lnSpc>
                <a:spcPct val="200000"/>
              </a:lnSpc>
            </a:pPr>
            <a:endParaRPr lang="en-US" sz="2000" b="1" dirty="0">
              <a:solidFill>
                <a:srgbClr val="002060"/>
              </a:solidFill>
              <a:latin typeface="Aptos" pitchFamily="34" charset="0"/>
            </a:endParaRPr>
          </a:p>
          <a:p>
            <a:pPr>
              <a:lnSpc>
                <a:spcPct val="200000"/>
              </a:lnSpc>
            </a:pPr>
            <a:endParaRPr lang="en-US" sz="2000" dirty="0">
              <a:solidFill>
                <a:srgbClr val="0F172A"/>
              </a:solidFill>
              <a:latin typeface="Aptos" pitchFamily="34" charset="0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330180384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AB447D-2E45-8D1F-AC27-72FFBE8CA4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5BC3AFC-C66B-BDEC-FA98-BA3E0C52905A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231BD36-C307-4319-52F9-DB3EDC8928E4}"/>
              </a:ext>
            </a:extLst>
          </p:cNvPr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5C42EB9-C0AF-B46A-0F21-D2AC253127AC}"/>
              </a:ext>
            </a:extLst>
          </p:cNvPr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5FDBA9E-1F92-9731-F3AF-E419A3E8AC06}"/>
              </a:ext>
            </a:extLst>
          </p:cNvPr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</a:t>
            </a:r>
            <a:endParaRPr lang="en-US" sz="75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B525E3C-DCC9-53D2-3CA9-1F877D0C68AD}"/>
              </a:ext>
            </a:extLst>
          </p:cNvPr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1</a:t>
            </a:r>
            <a:endParaRPr lang="en-US" sz="7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796652E-4273-1E30-5070-87BA67F2AD61}"/>
              </a:ext>
            </a:extLst>
          </p:cNvPr>
          <p:cNvSpPr/>
          <p:nvPr/>
        </p:nvSpPr>
        <p:spPr>
          <a:xfrm>
            <a:off x="502920" y="457200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 err="1">
                <a:solidFill>
                  <a:srgbClr val="1C4E80"/>
                </a:solidFill>
                <a:latin typeface="Aptos Display" pitchFamily="34" charset="0"/>
              </a:rPr>
              <a:t>Archivo</a:t>
            </a:r>
            <a:r>
              <a:rPr lang="en-US" sz="2600" b="1" dirty="0">
                <a:solidFill>
                  <a:srgbClr val="1C4E80"/>
                </a:solidFill>
                <a:latin typeface="Aptos Display" pitchFamily="34" charset="0"/>
              </a:rPr>
              <a:t> requirements.txt :</a:t>
            </a:r>
            <a:endParaRPr lang="en-US" sz="2600" dirty="0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6FA9A7A5-70EB-1EA4-B5C0-74CBC5B0FB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  <p:sp>
        <p:nvSpPr>
          <p:cNvPr id="9" name="Text 6">
            <a:extLst>
              <a:ext uri="{FF2B5EF4-FFF2-40B4-BE49-F238E27FC236}">
                <a16:creationId xmlns:a16="http://schemas.microsoft.com/office/drawing/2014/main" id="{E46E0530-213C-CC78-08E7-AB0347DA460B}"/>
              </a:ext>
            </a:extLst>
          </p:cNvPr>
          <p:cNvSpPr/>
          <p:nvPr/>
        </p:nvSpPr>
        <p:spPr>
          <a:xfrm>
            <a:off x="777240" y="1325880"/>
            <a:ext cx="10515600" cy="4160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Registra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las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bibliotecas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necesarias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para ejecutar un proyecto: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s-MX" sz="2000" b="1" dirty="0" err="1"/>
              <a:t>python</a:t>
            </a:r>
            <a:r>
              <a:rPr lang="es-MX" sz="2000" b="1" dirty="0"/>
              <a:t> -m pip </a:t>
            </a:r>
            <a:r>
              <a:rPr lang="es-MX" sz="2000" b="1" dirty="0" err="1"/>
              <a:t>freeze</a:t>
            </a:r>
            <a:r>
              <a:rPr lang="es-MX" sz="2000" b="1" dirty="0"/>
              <a:t> &gt; requirements.txt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endParaRPr lang="en-US" sz="2000" b="1" dirty="0">
              <a:solidFill>
                <a:srgbClr val="0F172A"/>
              </a:solidFill>
              <a:latin typeface="Aptos" pitchFamily="34" charset="0"/>
            </a:endParaRPr>
          </a:p>
          <a:p>
            <a:pPr>
              <a:lnSpc>
                <a:spcPct val="200000"/>
              </a:lnSpc>
            </a:pPr>
            <a:endParaRPr lang="en-US" sz="2000" b="1" dirty="0">
              <a:solidFill>
                <a:srgbClr val="002060"/>
              </a:solidFill>
              <a:latin typeface="Aptos" pitchFamily="34" charset="0"/>
            </a:endParaRPr>
          </a:p>
          <a:p>
            <a:pPr>
              <a:lnSpc>
                <a:spcPct val="200000"/>
              </a:lnSpc>
            </a:pPr>
            <a:endParaRPr lang="en-US" sz="2000" dirty="0">
              <a:solidFill>
                <a:srgbClr val="0F172A"/>
              </a:solidFill>
              <a:latin typeface="Aptos" pitchFamily="34" charset="0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50571108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824B59-0D64-31A3-7ED7-219A16043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2FCA0B6-4983-A616-95C4-863FD5F081AE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8EBB39F-6E8C-7B63-D5FD-67CEFAC8506B}"/>
              </a:ext>
            </a:extLst>
          </p:cNvPr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74FA39A-2C97-3729-0B2A-6C865E273B36}"/>
              </a:ext>
            </a:extLst>
          </p:cNvPr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4B559E3-5475-BFB8-787B-C295F9651836}"/>
              </a:ext>
            </a:extLst>
          </p:cNvPr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</a:t>
            </a:r>
            <a:endParaRPr lang="en-US" sz="75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B198C16-7DAE-4BEA-1DA5-680E56605495}"/>
              </a:ext>
            </a:extLst>
          </p:cNvPr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1</a:t>
            </a:r>
            <a:endParaRPr lang="en-US" sz="7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36AAC30-6EB5-0DDC-A5AA-4BAF87A9F6FB}"/>
              </a:ext>
            </a:extLst>
          </p:cNvPr>
          <p:cNvSpPr/>
          <p:nvPr/>
        </p:nvSpPr>
        <p:spPr>
          <a:xfrm>
            <a:off x="502920" y="457200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C4E80"/>
                </a:solidFill>
                <a:latin typeface="Aptos Display" pitchFamily="34" charset="0"/>
              </a:rPr>
              <a:t>requirements.txt</a:t>
            </a:r>
            <a:endParaRPr lang="en-US" sz="2600" dirty="0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FBFECDAC-66BB-8BA9-3693-AEA12770A8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FC30F3B0-23FE-F130-C0A3-39B5934E5C5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133" b="6667"/>
          <a:stretch>
            <a:fillRect/>
          </a:stretch>
        </p:blipFill>
        <p:spPr>
          <a:xfrm>
            <a:off x="1837613" y="960120"/>
            <a:ext cx="8570752" cy="5605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7964186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B898BE-5638-30FE-B2D6-FAF39943ED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311DC54-0ABC-4102-D4CA-B87204A76FA9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58396D5-D152-4ECE-EB63-69F61CD0E53B}"/>
              </a:ext>
            </a:extLst>
          </p:cNvPr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170D656-8ACA-4BA1-BA55-319C078AC917}"/>
              </a:ext>
            </a:extLst>
          </p:cNvPr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B782751-1F21-FA34-E75E-C7BD42A1C370}"/>
              </a:ext>
            </a:extLst>
          </p:cNvPr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</a:t>
            </a:r>
            <a:endParaRPr lang="en-US" sz="75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BA297F4-B912-1364-B20E-051191F1A6CE}"/>
              </a:ext>
            </a:extLst>
          </p:cNvPr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1</a:t>
            </a:r>
            <a:endParaRPr lang="en-US" sz="7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F432FDE-7E0B-C0D9-2819-4DC168F40C3D}"/>
              </a:ext>
            </a:extLst>
          </p:cNvPr>
          <p:cNvSpPr/>
          <p:nvPr/>
        </p:nvSpPr>
        <p:spPr>
          <a:xfrm>
            <a:off x="502920" y="457200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 err="1">
                <a:solidFill>
                  <a:srgbClr val="1C4E80"/>
                </a:solidFill>
                <a:latin typeface="Aptos Display" pitchFamily="34" charset="0"/>
              </a:rPr>
              <a:t>Actualizar</a:t>
            </a:r>
            <a:r>
              <a:rPr lang="en-US" sz="2600" b="1" dirty="0">
                <a:solidFill>
                  <a:srgbClr val="1C4E80"/>
                </a:solidFill>
                <a:latin typeface="Aptos Display" pitchFamily="34" charset="0"/>
              </a:rPr>
              <a:t> requirements.txt</a:t>
            </a:r>
            <a:endParaRPr lang="en-US" sz="2600" dirty="0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31DF147F-EC8E-EE36-EAB7-DEF71E480B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  <p:sp>
        <p:nvSpPr>
          <p:cNvPr id="10" name="Text 6">
            <a:extLst>
              <a:ext uri="{FF2B5EF4-FFF2-40B4-BE49-F238E27FC236}">
                <a16:creationId xmlns:a16="http://schemas.microsoft.com/office/drawing/2014/main" id="{37B192EE-32B6-9675-11FE-8934480EC077}"/>
              </a:ext>
            </a:extLst>
          </p:cNvPr>
          <p:cNvSpPr/>
          <p:nvPr/>
        </p:nvSpPr>
        <p:spPr>
          <a:xfrm>
            <a:off x="777240" y="1325880"/>
            <a:ext cx="10515600" cy="4160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s-MX" sz="2000" b="1" dirty="0" err="1"/>
              <a:t>python</a:t>
            </a:r>
            <a:r>
              <a:rPr lang="es-MX" sz="2000" b="1" dirty="0"/>
              <a:t> -m pip </a:t>
            </a:r>
            <a:r>
              <a:rPr lang="es-MX" sz="2000" b="1" dirty="0" err="1"/>
              <a:t>freeze</a:t>
            </a:r>
            <a:r>
              <a:rPr lang="es-MX" sz="2000" b="1" dirty="0"/>
              <a:t> &gt; requirements.txt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endParaRPr lang="en-US" sz="2000" b="1" dirty="0">
              <a:solidFill>
                <a:srgbClr val="0F172A"/>
              </a:solidFill>
              <a:latin typeface="Aptos" pitchFamily="34" charset="0"/>
            </a:endParaRPr>
          </a:p>
          <a:p>
            <a:pPr>
              <a:lnSpc>
                <a:spcPct val="200000"/>
              </a:lnSpc>
            </a:pPr>
            <a:endParaRPr lang="en-US" sz="2000" b="1" dirty="0">
              <a:solidFill>
                <a:srgbClr val="002060"/>
              </a:solidFill>
              <a:latin typeface="Aptos" pitchFamily="34" charset="0"/>
            </a:endParaRPr>
          </a:p>
          <a:p>
            <a:pPr>
              <a:lnSpc>
                <a:spcPct val="200000"/>
              </a:lnSpc>
            </a:pPr>
            <a:endParaRPr lang="en-US" sz="2000" dirty="0">
              <a:solidFill>
                <a:srgbClr val="0F172A"/>
              </a:solidFill>
              <a:latin typeface="Aptos" pitchFamily="34" charset="0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531514974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768BB-7B79-B21C-8F36-C18C56AE90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E60EA29-C6A3-2496-4ABF-D089AA779D08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7292091-79D4-1FA8-6561-F036F73A2F9D}"/>
              </a:ext>
            </a:extLst>
          </p:cNvPr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5E46311-84AF-5516-3164-9B862990FEAD}"/>
              </a:ext>
            </a:extLst>
          </p:cNvPr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2A042A0-88B1-B029-4B98-6B64059C126E}"/>
              </a:ext>
            </a:extLst>
          </p:cNvPr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</a:t>
            </a:r>
            <a:endParaRPr lang="en-US" sz="75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90ED904-5302-78BE-BD5A-A563FA143B9D}"/>
              </a:ext>
            </a:extLst>
          </p:cNvPr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1</a:t>
            </a:r>
            <a:endParaRPr lang="en-US" sz="7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CFC2B80-80BA-A543-0A71-1F089F269363}"/>
              </a:ext>
            </a:extLst>
          </p:cNvPr>
          <p:cNvSpPr/>
          <p:nvPr/>
        </p:nvSpPr>
        <p:spPr>
          <a:xfrm>
            <a:off x="502920" y="457200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 err="1">
                <a:solidFill>
                  <a:srgbClr val="1C4E80"/>
                </a:solidFill>
                <a:latin typeface="Aptos Display" pitchFamily="34" charset="0"/>
              </a:rPr>
              <a:t>Recomendacion</a:t>
            </a:r>
            <a:r>
              <a:rPr lang="en-US" sz="2600" b="1" dirty="0">
                <a:solidFill>
                  <a:srgbClr val="1C4E80"/>
                </a:solidFill>
                <a:latin typeface="Aptos Display" pitchFamily="34" charset="0"/>
              </a:rPr>
              <a:t>:</a:t>
            </a:r>
            <a:endParaRPr lang="en-US" sz="2600" dirty="0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27D7E139-AD39-9072-1514-B78E837067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  <p:sp>
        <p:nvSpPr>
          <p:cNvPr id="9" name="Text 6">
            <a:extLst>
              <a:ext uri="{FF2B5EF4-FFF2-40B4-BE49-F238E27FC236}">
                <a16:creationId xmlns:a16="http://schemas.microsoft.com/office/drawing/2014/main" id="{FFE05CB2-596B-2B1A-145A-6B3BA07FBEC3}"/>
              </a:ext>
            </a:extLst>
          </p:cNvPr>
          <p:cNvSpPr/>
          <p:nvPr/>
        </p:nvSpPr>
        <p:spPr>
          <a:xfrm>
            <a:off x="777240" y="1325880"/>
            <a:ext cx="10515600" cy="4160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fontScale="85000" lnSpcReduction="10000"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se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deben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utilizar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nombres de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bibliotecas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para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archivos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del proyecto: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Evitar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nombres como: </a:t>
            </a:r>
          </a:p>
          <a:p>
            <a:pPr marL="2628900" lvl="5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s-MX" sz="2000" b="1" dirty="0"/>
              <a:t>pandas.py </a:t>
            </a:r>
          </a:p>
          <a:p>
            <a:pPr marL="2628900" lvl="5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s-MX" sz="2000" b="1" dirty="0"/>
              <a:t>matplotlib.py </a:t>
            </a:r>
          </a:p>
          <a:p>
            <a:pPr marL="2628900" lvl="5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s-MX" sz="2000" b="1" dirty="0"/>
              <a:t>numpy.py</a:t>
            </a:r>
          </a:p>
          <a:p>
            <a:pPr marL="2628900" lvl="5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s-MX" sz="2000" b="1" dirty="0"/>
              <a:t>requests.py</a:t>
            </a:r>
            <a:endParaRPr lang="en-US" sz="2000" b="1" dirty="0">
              <a:solidFill>
                <a:srgbClr val="0F172A"/>
              </a:solidFill>
              <a:latin typeface="Aptos" pitchFamily="34" charset="0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000" b="1" dirty="0" err="1">
                <a:solidFill>
                  <a:srgbClr val="FF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Atención</a:t>
            </a:r>
            <a:r>
              <a:rPr lang="en-US" sz="2000" b="1" dirty="0">
                <a:solidFill>
                  <a:srgbClr val="FF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</a:t>
            </a:r>
            <a:r>
              <a:rPr lang="es-MX" sz="2000" dirty="0">
                <a:latin typeface="Aptos" pitchFamily="34" charset="0"/>
                <a:ea typeface="Aptos" pitchFamily="34" charset="-122"/>
                <a:cs typeface="Aptos" pitchFamily="34" charset="-120"/>
              </a:rPr>
              <a:t>Si existe un archivo llamado pandas.py, Python puede importar ese archivo en lugar de la </a:t>
            </a:r>
            <a:r>
              <a:rPr lang="es-MX" sz="2000" b="1" dirty="0">
                <a:latin typeface="Aptos" pitchFamily="34" charset="0"/>
                <a:ea typeface="Aptos" pitchFamily="34" charset="-122"/>
                <a:cs typeface="Aptos" pitchFamily="34" charset="-120"/>
              </a:rPr>
              <a:t>biblioteca real</a:t>
            </a:r>
            <a:r>
              <a:rPr lang="es-MX" sz="2000" dirty="0">
                <a:latin typeface="Aptos" pitchFamily="34" charset="0"/>
                <a:ea typeface="Aptos" pitchFamily="34" charset="-122"/>
                <a:cs typeface="Aptos" pitchFamily="34" charset="-120"/>
              </a:rPr>
              <a:t>. Esto produce errores como:</a:t>
            </a:r>
            <a:r>
              <a:rPr lang="es-MX" sz="2000" b="1" dirty="0">
                <a:solidFill>
                  <a:srgbClr val="C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s-MX" sz="2000" b="1" dirty="0" err="1">
                <a:solidFill>
                  <a:srgbClr val="C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AttributeError</a:t>
            </a:r>
            <a:r>
              <a:rPr lang="es-MX" sz="2000" dirty="0">
                <a:latin typeface="Aptos" pitchFamily="34" charset="0"/>
                <a:ea typeface="Aptos" pitchFamily="34" charset="-122"/>
                <a:cs typeface="Aptos" pitchFamily="34" charset="-120"/>
              </a:rPr>
              <a:t>: module 'pandas' has no </a:t>
            </a:r>
            <a:r>
              <a:rPr lang="es-MX" sz="2000" dirty="0" err="1">
                <a:latin typeface="Aptos" pitchFamily="34" charset="0"/>
                <a:ea typeface="Aptos" pitchFamily="34" charset="-122"/>
                <a:cs typeface="Aptos" pitchFamily="34" charset="-120"/>
              </a:rPr>
              <a:t>attribute</a:t>
            </a:r>
            <a:r>
              <a:rPr lang="es-MX" sz="2000" dirty="0"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s-MX" sz="2000" b="1" dirty="0">
                <a:latin typeface="Aptos" pitchFamily="34" charset="0"/>
                <a:ea typeface="Aptos" pitchFamily="34" charset="-122"/>
                <a:cs typeface="Aptos" pitchFamily="34" charset="-120"/>
              </a:rPr>
              <a:t>'</a:t>
            </a:r>
            <a:r>
              <a:rPr lang="es-MX" sz="2000" b="1" dirty="0" err="1">
                <a:latin typeface="Aptos" pitchFamily="34" charset="0"/>
                <a:ea typeface="Aptos" pitchFamily="34" charset="-122"/>
                <a:cs typeface="Aptos" pitchFamily="34" charset="-120"/>
              </a:rPr>
              <a:t>DataFrame</a:t>
            </a:r>
            <a:r>
              <a:rPr lang="es-MX" sz="2000" b="1" dirty="0">
                <a:latin typeface="Aptos" pitchFamily="34" charset="0"/>
                <a:ea typeface="Aptos" pitchFamily="34" charset="-122"/>
                <a:cs typeface="Aptos" pitchFamily="34" charset="-120"/>
              </a:rPr>
              <a:t>'</a:t>
            </a:r>
            <a:endParaRPr lang="en-US" sz="2000" b="1" dirty="0"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endParaRPr lang="en-US" sz="2000" dirty="0">
              <a:solidFill>
                <a:srgbClr val="0F172A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endParaRPr lang="en-US" sz="2000" dirty="0">
              <a:solidFill>
                <a:srgbClr val="0F172A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>
              <a:lnSpc>
                <a:spcPct val="200000"/>
              </a:lnSpc>
            </a:pPr>
            <a:endParaRPr lang="en-US" sz="2000" b="1" dirty="0">
              <a:solidFill>
                <a:srgbClr val="002060"/>
              </a:solidFill>
              <a:latin typeface="Aptos" pitchFamily="34" charset="0"/>
            </a:endParaRPr>
          </a:p>
          <a:p>
            <a:pPr>
              <a:lnSpc>
                <a:spcPct val="200000"/>
              </a:lnSpc>
            </a:pPr>
            <a:endParaRPr lang="en-US" sz="2000" dirty="0">
              <a:solidFill>
                <a:srgbClr val="0F172A"/>
              </a:solidFill>
              <a:latin typeface="Aptos" pitchFamily="34" charset="0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971897577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BF59DD-6266-4C7F-4274-547853877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D3AA38E-ADAE-3568-B3F0-4698B47DC564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F0337DF-41B3-A633-1F20-19CB9F79EDFB}"/>
              </a:ext>
            </a:extLst>
          </p:cNvPr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CED8B79-5C5B-BD1F-DD30-8276322581E0}"/>
              </a:ext>
            </a:extLst>
          </p:cNvPr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02AA80E-47DA-6397-0605-FED6FFF95619}"/>
              </a:ext>
            </a:extLst>
          </p:cNvPr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</a:t>
            </a:r>
            <a:endParaRPr lang="en-US" sz="75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7EFCC94-4930-1A7A-5E21-BB98CFFEB18A}"/>
              </a:ext>
            </a:extLst>
          </p:cNvPr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1</a:t>
            </a:r>
            <a:endParaRPr lang="en-US" sz="7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8E530668-B767-BC1C-EA5E-307AFA709C73}"/>
              </a:ext>
            </a:extLst>
          </p:cNvPr>
          <p:cNvSpPr/>
          <p:nvPr/>
        </p:nvSpPr>
        <p:spPr>
          <a:xfrm>
            <a:off x="502920" y="457200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C4E80"/>
                </a:solidFill>
                <a:latin typeface="Aptos Display" pitchFamily="34" charset="0"/>
              </a:rPr>
              <a:t>¿</a:t>
            </a:r>
            <a:r>
              <a:rPr lang="en-US" sz="2600" b="1" dirty="0" err="1">
                <a:solidFill>
                  <a:srgbClr val="1C4E80"/>
                </a:solidFill>
                <a:latin typeface="Aptos Display" pitchFamily="34" charset="0"/>
              </a:rPr>
              <a:t>Qué</a:t>
            </a:r>
            <a:r>
              <a:rPr lang="en-US" sz="2600" b="1" dirty="0">
                <a:solidFill>
                  <a:srgbClr val="1C4E80"/>
                </a:solidFill>
                <a:latin typeface="Aptos Display" pitchFamily="34" charset="0"/>
              </a:rPr>
              <a:t> es Pandas?</a:t>
            </a:r>
            <a:endParaRPr lang="en-US" sz="2600" dirty="0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A1623A41-013C-3152-CAEB-42794D8251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  <p:sp>
        <p:nvSpPr>
          <p:cNvPr id="9" name="Text 6">
            <a:extLst>
              <a:ext uri="{FF2B5EF4-FFF2-40B4-BE49-F238E27FC236}">
                <a16:creationId xmlns:a16="http://schemas.microsoft.com/office/drawing/2014/main" id="{E02A08C4-9CB9-3447-8AB2-F70DD683FC8C}"/>
              </a:ext>
            </a:extLst>
          </p:cNvPr>
          <p:cNvSpPr/>
          <p:nvPr/>
        </p:nvSpPr>
        <p:spPr>
          <a:xfrm>
            <a:off x="777240" y="1325880"/>
            <a:ext cx="10515600" cy="4160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Biblioteca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utilizada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para: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s-MX" dirty="0"/>
              <a:t>Organizar datos tabulares.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s-MX" dirty="0"/>
              <a:t>Leer archivos CSV, JSON y Excel.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s-MX" dirty="0"/>
              <a:t>Limpiar información.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s-MX" dirty="0"/>
              <a:t>Filtrar registros.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s-MX" dirty="0"/>
              <a:t>Calcular estadísticas.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s-MX" dirty="0"/>
              <a:t>Agrupar información.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s-MX" dirty="0"/>
              <a:t>Preparar datos para visualización o inteligencia artificial.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endParaRPr lang="en-US" sz="2000" dirty="0">
              <a:solidFill>
                <a:srgbClr val="0F172A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endParaRPr lang="en-US" sz="2000" dirty="0">
              <a:solidFill>
                <a:srgbClr val="0F172A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>
              <a:lnSpc>
                <a:spcPct val="200000"/>
              </a:lnSpc>
            </a:pPr>
            <a:endParaRPr lang="en-US" sz="2000" b="1" dirty="0">
              <a:solidFill>
                <a:srgbClr val="002060"/>
              </a:solidFill>
              <a:latin typeface="Aptos" pitchFamily="34" charset="0"/>
            </a:endParaRPr>
          </a:p>
          <a:p>
            <a:pPr>
              <a:lnSpc>
                <a:spcPct val="200000"/>
              </a:lnSpc>
            </a:pPr>
            <a:endParaRPr lang="en-US" sz="2000" dirty="0">
              <a:solidFill>
                <a:srgbClr val="0F172A"/>
              </a:solidFill>
              <a:latin typeface="Aptos" pitchFamily="34" charset="0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38729113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14D543-CA6C-A049-22C5-FE0745F811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139C72B-D99E-E1F4-7812-08AD49E698E1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EB057DD-98B9-37A2-A021-7E8C591948C5}"/>
              </a:ext>
            </a:extLst>
          </p:cNvPr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8940551-1926-553E-1004-7EBA652B2832}"/>
              </a:ext>
            </a:extLst>
          </p:cNvPr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51C45C8-0317-7DD0-319D-42ACF62A147A}"/>
              </a:ext>
            </a:extLst>
          </p:cNvPr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</a:t>
            </a:r>
            <a:endParaRPr lang="en-US" sz="75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EC59813-090E-025E-59C2-42430354224A}"/>
              </a:ext>
            </a:extLst>
          </p:cNvPr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1</a:t>
            </a:r>
            <a:endParaRPr lang="en-US" sz="7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2BFD096-D4D0-6687-F6A6-F9B2B7F9E3E3}"/>
              </a:ext>
            </a:extLst>
          </p:cNvPr>
          <p:cNvSpPr/>
          <p:nvPr/>
        </p:nvSpPr>
        <p:spPr>
          <a:xfrm>
            <a:off x="502920" y="457200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 err="1">
                <a:solidFill>
                  <a:srgbClr val="1C4E80"/>
                </a:solidFill>
                <a:latin typeface="Aptos Display" pitchFamily="34" charset="0"/>
              </a:rPr>
              <a:t>Instalar</a:t>
            </a:r>
            <a:r>
              <a:rPr lang="en-US" sz="2600" b="1" dirty="0">
                <a:solidFill>
                  <a:srgbClr val="1C4E80"/>
                </a:solidFill>
                <a:latin typeface="Aptos Display" pitchFamily="34" charset="0"/>
              </a:rPr>
              <a:t> </a:t>
            </a:r>
            <a:r>
              <a:rPr lang="en-US" sz="2600" b="1" dirty="0" err="1">
                <a:solidFill>
                  <a:srgbClr val="1C4E80"/>
                </a:solidFill>
                <a:latin typeface="Aptos Display" pitchFamily="34" charset="0"/>
              </a:rPr>
              <a:t>librería</a:t>
            </a:r>
            <a:r>
              <a:rPr lang="en-US" sz="2600" b="1" dirty="0">
                <a:solidFill>
                  <a:srgbClr val="1C4E80"/>
                </a:solidFill>
                <a:latin typeface="Aptos Display" pitchFamily="34" charset="0"/>
              </a:rPr>
              <a:t> para Pandas</a:t>
            </a:r>
            <a:endParaRPr lang="en-US" sz="2600" dirty="0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27936DAB-D836-9C30-A5A9-ADB58FE771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  <p:sp>
        <p:nvSpPr>
          <p:cNvPr id="9" name="Text 6">
            <a:extLst>
              <a:ext uri="{FF2B5EF4-FFF2-40B4-BE49-F238E27FC236}">
                <a16:creationId xmlns:a16="http://schemas.microsoft.com/office/drawing/2014/main" id="{62826DDF-7829-6F6F-567D-37C74825CBB2}"/>
              </a:ext>
            </a:extLst>
          </p:cNvPr>
          <p:cNvSpPr/>
          <p:nvPr/>
        </p:nvSpPr>
        <p:spPr>
          <a:xfrm>
            <a:off x="777240" y="1325880"/>
            <a:ext cx="10515600" cy="4160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s-MX" b="1" dirty="0"/>
              <a:t>Comando de instalación: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s-MX" b="1" dirty="0" err="1"/>
              <a:t>python</a:t>
            </a:r>
            <a:r>
              <a:rPr lang="es-MX" b="1" dirty="0"/>
              <a:t> -m pip </a:t>
            </a:r>
            <a:r>
              <a:rPr lang="es-MX" b="1" dirty="0" err="1"/>
              <a:t>install</a:t>
            </a:r>
            <a:r>
              <a:rPr lang="es-MX" b="1" dirty="0"/>
              <a:t> pandas</a:t>
            </a:r>
          </a:p>
          <a:p>
            <a:pPr>
              <a:lnSpc>
                <a:spcPct val="150000"/>
              </a:lnSpc>
            </a:pPr>
            <a:r>
              <a:rPr lang="es-MX" b="1" dirty="0"/>
              <a:t>Importación: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s-MX" dirty="0" err="1"/>
              <a:t>import</a:t>
            </a:r>
            <a:r>
              <a:rPr lang="es-MX" dirty="0"/>
              <a:t> pandas as </a:t>
            </a:r>
            <a:r>
              <a:rPr lang="es-MX" dirty="0" err="1"/>
              <a:t>pd</a:t>
            </a:r>
            <a:endParaRPr lang="es-MX" dirty="0"/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endParaRPr lang="en-US" sz="2000" dirty="0">
              <a:solidFill>
                <a:srgbClr val="0F172A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endParaRPr lang="en-US" sz="2000" dirty="0">
              <a:solidFill>
                <a:srgbClr val="0F172A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>
              <a:lnSpc>
                <a:spcPct val="200000"/>
              </a:lnSpc>
            </a:pPr>
            <a:endParaRPr lang="en-US" sz="2000" b="1" dirty="0">
              <a:solidFill>
                <a:srgbClr val="002060"/>
              </a:solidFill>
              <a:latin typeface="Aptos" pitchFamily="34" charset="0"/>
            </a:endParaRPr>
          </a:p>
          <a:p>
            <a:pPr>
              <a:lnSpc>
                <a:spcPct val="200000"/>
              </a:lnSpc>
            </a:pPr>
            <a:endParaRPr lang="en-US" sz="2000" dirty="0">
              <a:solidFill>
                <a:srgbClr val="0F172A"/>
              </a:solidFill>
              <a:latin typeface="Aptos" pitchFamily="34" charset="0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334811915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C1DFA6-1910-318D-4D9A-073EA7DE1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3343CD5-573E-F499-526C-427C64946F5F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7305303-A360-061D-8B19-5A266914593D}"/>
              </a:ext>
            </a:extLst>
          </p:cNvPr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4794A9B-2C99-E6D4-7D66-531E701101D6}"/>
              </a:ext>
            </a:extLst>
          </p:cNvPr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FDCC289-EAD5-B1B0-BABC-5EC2D4EB6180}"/>
              </a:ext>
            </a:extLst>
          </p:cNvPr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</a:t>
            </a:r>
            <a:endParaRPr lang="en-US" sz="75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F9CBB10-4AF5-3084-5107-0B5DB6C927EB}"/>
              </a:ext>
            </a:extLst>
          </p:cNvPr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1</a:t>
            </a:r>
            <a:endParaRPr lang="en-US" sz="7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B99E169-96DD-A23C-DAAD-612205088E26}"/>
              </a:ext>
            </a:extLst>
          </p:cNvPr>
          <p:cNvSpPr/>
          <p:nvPr/>
        </p:nvSpPr>
        <p:spPr>
          <a:xfrm>
            <a:off x="502920" y="457200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C4E80"/>
                </a:solidFill>
                <a:latin typeface="Aptos Display" pitchFamily="34" charset="0"/>
              </a:rPr>
              <a:t>¿Series y </a:t>
            </a:r>
            <a:r>
              <a:rPr lang="en-US" sz="2600" b="1" dirty="0" err="1">
                <a:solidFill>
                  <a:srgbClr val="1C4E80"/>
                </a:solidFill>
                <a:latin typeface="Aptos Display" pitchFamily="34" charset="0"/>
              </a:rPr>
              <a:t>Dataframes</a:t>
            </a:r>
            <a:r>
              <a:rPr lang="en-US" sz="2600" b="1" dirty="0">
                <a:solidFill>
                  <a:srgbClr val="1C4E80"/>
                </a:solidFill>
                <a:latin typeface="Aptos Display" pitchFamily="34" charset="0"/>
              </a:rPr>
              <a:t>?</a:t>
            </a:r>
            <a:endParaRPr lang="en-US" sz="2600" dirty="0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536B5A4F-001B-B14D-A527-00B4A3D299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  <p:sp>
        <p:nvSpPr>
          <p:cNvPr id="9" name="Text 6">
            <a:extLst>
              <a:ext uri="{FF2B5EF4-FFF2-40B4-BE49-F238E27FC236}">
                <a16:creationId xmlns:a16="http://schemas.microsoft.com/office/drawing/2014/main" id="{5C6DA998-AEF9-2DC6-6229-2AF0E23C2D83}"/>
              </a:ext>
            </a:extLst>
          </p:cNvPr>
          <p:cNvSpPr/>
          <p:nvPr/>
        </p:nvSpPr>
        <p:spPr>
          <a:xfrm>
            <a:off x="777240" y="1325880"/>
            <a:ext cx="10515600" cy="4160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SERIES: </a:t>
            </a:r>
            <a:r>
              <a:rPr lang="en-US" sz="2000" b="1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Representa</a:t>
            </a:r>
            <a:r>
              <a:rPr lang="en-US" sz="20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una columna de datos.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b="1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DataFrame</a:t>
            </a:r>
            <a:r>
              <a:rPr lang="en-US" sz="20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Es una </a:t>
            </a:r>
            <a:r>
              <a:rPr lang="en-US" sz="2000" b="1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tabla</a:t>
            </a:r>
            <a:r>
              <a:rPr lang="en-US" sz="20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b="1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formada</a:t>
            </a:r>
            <a:r>
              <a:rPr lang="en-US" sz="20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por </a:t>
            </a:r>
            <a:r>
              <a:rPr lang="en-US" sz="2000" b="1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filas</a:t>
            </a:r>
            <a:r>
              <a:rPr lang="en-US" sz="20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y columnas.</a:t>
            </a:r>
          </a:p>
          <a:p>
            <a:pPr>
              <a:lnSpc>
                <a:spcPct val="200000"/>
              </a:lnSpc>
            </a:pPr>
            <a:endParaRPr lang="en-US" sz="2000" dirty="0">
              <a:solidFill>
                <a:srgbClr val="0F172A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endParaRPr lang="en-US" sz="2000" dirty="0">
              <a:solidFill>
                <a:srgbClr val="0F172A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>
              <a:lnSpc>
                <a:spcPct val="200000"/>
              </a:lnSpc>
            </a:pPr>
            <a:endParaRPr lang="en-US" sz="2000" b="1" dirty="0">
              <a:solidFill>
                <a:srgbClr val="002060"/>
              </a:solidFill>
              <a:latin typeface="Aptos" pitchFamily="34" charset="0"/>
            </a:endParaRPr>
          </a:p>
          <a:p>
            <a:pPr>
              <a:lnSpc>
                <a:spcPct val="200000"/>
              </a:lnSpc>
            </a:pPr>
            <a:endParaRPr lang="en-US" sz="2000" dirty="0">
              <a:solidFill>
                <a:srgbClr val="0F172A"/>
              </a:solidFill>
              <a:latin typeface="Aptos" pitchFamily="34" charset="0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337433361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6FB565-002B-F597-AE91-5BFF0EA94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369C46D-7FC6-09E8-A5D9-D56AB631C2D4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B606133-9BBA-9DB8-3C38-8EDF20F86F01}"/>
              </a:ext>
            </a:extLst>
          </p:cNvPr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0422939-3793-67A0-9CC0-0F6CE7A64ED1}"/>
              </a:ext>
            </a:extLst>
          </p:cNvPr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9CBA875-87F9-09CF-946E-73514823CBFC}"/>
              </a:ext>
            </a:extLst>
          </p:cNvPr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</a:t>
            </a:r>
            <a:endParaRPr lang="en-US" sz="75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7FB7533-50EE-410F-285C-A909A35C28C5}"/>
              </a:ext>
            </a:extLst>
          </p:cNvPr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1</a:t>
            </a:r>
            <a:endParaRPr lang="en-US" sz="7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50635FE-F6C6-619F-C16F-7FB61D6C9E48}"/>
              </a:ext>
            </a:extLst>
          </p:cNvPr>
          <p:cNvSpPr/>
          <p:nvPr/>
        </p:nvSpPr>
        <p:spPr>
          <a:xfrm>
            <a:off x="502920" y="457200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C4E80"/>
                </a:solidFill>
                <a:latin typeface="Aptos Display" pitchFamily="34" charset="0"/>
              </a:rPr>
              <a:t>Matplotlib</a:t>
            </a:r>
            <a:endParaRPr lang="en-US" sz="2600" dirty="0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190A474B-EEDD-633E-5060-CA3994ADB4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  <p:sp>
        <p:nvSpPr>
          <p:cNvPr id="9" name="Text 6">
            <a:extLst>
              <a:ext uri="{FF2B5EF4-FFF2-40B4-BE49-F238E27FC236}">
                <a16:creationId xmlns:a16="http://schemas.microsoft.com/office/drawing/2014/main" id="{AAAC1AC0-E58E-2DF5-1262-CDF5A1252077}"/>
              </a:ext>
            </a:extLst>
          </p:cNvPr>
          <p:cNvSpPr/>
          <p:nvPr/>
        </p:nvSpPr>
        <p:spPr>
          <a:xfrm>
            <a:off x="777240" y="1325880"/>
            <a:ext cx="10515600" cy="4160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s-MX" sz="2000" dirty="0" err="1"/>
              <a:t>Matplotlib</a:t>
            </a:r>
            <a:r>
              <a:rPr lang="es-MX" sz="2000" dirty="0"/>
              <a:t> es una biblioteca para crear visualizaciones en Python.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</a:t>
            </a:r>
          </a:p>
          <a:p>
            <a:pPr>
              <a:lnSpc>
                <a:spcPct val="150000"/>
              </a:lnSpc>
            </a:pPr>
            <a:r>
              <a:rPr lang="es-MX" b="1" dirty="0"/>
              <a:t>Permite generar: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s-MX" dirty="0"/>
              <a:t>Gráficos de líneas.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s-MX" dirty="0"/>
              <a:t>Gráficos de líneas.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s-MX" dirty="0"/>
              <a:t>Gráficos de barras.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s-MX" dirty="0"/>
              <a:t>Histogramas.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s-MX" dirty="0"/>
              <a:t>Diagramas de dispersión.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s-MX" dirty="0"/>
              <a:t>Gráficos circulares.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s-MX" dirty="0"/>
              <a:t>Visualizaciones científicas y estadísticas.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endParaRPr lang="en-US" sz="2000" dirty="0">
              <a:solidFill>
                <a:srgbClr val="0F172A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endParaRPr lang="en-US" sz="2000" dirty="0">
              <a:solidFill>
                <a:srgbClr val="0F172A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>
              <a:lnSpc>
                <a:spcPct val="200000"/>
              </a:lnSpc>
            </a:pPr>
            <a:endParaRPr lang="en-US" sz="2000" b="1" dirty="0">
              <a:solidFill>
                <a:srgbClr val="002060"/>
              </a:solidFill>
              <a:latin typeface="Aptos" pitchFamily="34" charset="0"/>
            </a:endParaRPr>
          </a:p>
          <a:p>
            <a:pPr>
              <a:lnSpc>
                <a:spcPct val="200000"/>
              </a:lnSpc>
            </a:pPr>
            <a:endParaRPr lang="en-US" sz="2000" dirty="0">
              <a:solidFill>
                <a:srgbClr val="0F172A"/>
              </a:solidFill>
              <a:latin typeface="Aptos" pitchFamily="34" charset="0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828264480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4A6971-ABDB-6CE2-5C08-C2ADB103FD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682CD2A-D416-602D-585D-F54E283A7FBA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6F72CD6-3F36-4611-3CA2-FDDCFE1E838C}"/>
              </a:ext>
            </a:extLst>
          </p:cNvPr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6FF55F9-CE58-EDEA-77CF-7E6B4FBA6DFD}"/>
              </a:ext>
            </a:extLst>
          </p:cNvPr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48EE3BA-AB5C-37B6-54E6-68885EE4CC48}"/>
              </a:ext>
            </a:extLst>
          </p:cNvPr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</a:t>
            </a:r>
            <a:endParaRPr lang="en-US" sz="75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86DBB59-AD33-15FE-4424-B61D55B1F822}"/>
              </a:ext>
            </a:extLst>
          </p:cNvPr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1</a:t>
            </a:r>
            <a:endParaRPr lang="en-US" sz="7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2D095D1-4AB8-5FD0-25CD-21F2558A4C77}"/>
              </a:ext>
            </a:extLst>
          </p:cNvPr>
          <p:cNvSpPr/>
          <p:nvPr/>
        </p:nvSpPr>
        <p:spPr>
          <a:xfrm>
            <a:off x="502920" y="457200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 err="1">
                <a:solidFill>
                  <a:srgbClr val="1C4E80"/>
                </a:solidFill>
                <a:latin typeface="Aptos Display" pitchFamily="34" charset="0"/>
              </a:rPr>
              <a:t>Instalar</a:t>
            </a:r>
            <a:r>
              <a:rPr lang="en-US" sz="2600" b="1" dirty="0">
                <a:solidFill>
                  <a:srgbClr val="1C4E80"/>
                </a:solidFill>
                <a:latin typeface="Aptos Display" pitchFamily="34" charset="0"/>
              </a:rPr>
              <a:t> </a:t>
            </a:r>
            <a:r>
              <a:rPr lang="en-US" sz="2600" b="1" dirty="0" err="1">
                <a:solidFill>
                  <a:srgbClr val="1C4E80"/>
                </a:solidFill>
                <a:latin typeface="Aptos Display" pitchFamily="34" charset="0"/>
              </a:rPr>
              <a:t>librería</a:t>
            </a:r>
            <a:r>
              <a:rPr lang="en-US" sz="2600" b="1" dirty="0">
                <a:solidFill>
                  <a:srgbClr val="1C4E80"/>
                </a:solidFill>
                <a:latin typeface="Aptos Display" pitchFamily="34" charset="0"/>
              </a:rPr>
              <a:t> para Matplotlib</a:t>
            </a:r>
            <a:endParaRPr lang="en-US" sz="2600" dirty="0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EC5D6FC6-2C3E-79D9-85FE-DA55EEBF1C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  <p:sp>
        <p:nvSpPr>
          <p:cNvPr id="9" name="Text 6">
            <a:extLst>
              <a:ext uri="{FF2B5EF4-FFF2-40B4-BE49-F238E27FC236}">
                <a16:creationId xmlns:a16="http://schemas.microsoft.com/office/drawing/2014/main" id="{C5AAA260-EE26-AFE5-E2A4-21D9C08BE983}"/>
              </a:ext>
            </a:extLst>
          </p:cNvPr>
          <p:cNvSpPr/>
          <p:nvPr/>
        </p:nvSpPr>
        <p:spPr>
          <a:xfrm>
            <a:off x="777240" y="1325880"/>
            <a:ext cx="10515600" cy="4160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s-MX" b="1" dirty="0"/>
              <a:t>Comando de instalación: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s-MX" b="1" dirty="0" err="1"/>
              <a:t>python</a:t>
            </a:r>
            <a:r>
              <a:rPr lang="es-MX" b="1" dirty="0"/>
              <a:t> -m pip </a:t>
            </a:r>
            <a:r>
              <a:rPr lang="es-MX" b="1" dirty="0" err="1"/>
              <a:t>install</a:t>
            </a:r>
            <a:r>
              <a:rPr lang="es-MX" b="1" dirty="0"/>
              <a:t> </a:t>
            </a:r>
            <a:r>
              <a:rPr lang="es-MX" b="1" dirty="0" err="1"/>
              <a:t>matplotlib</a:t>
            </a:r>
            <a:endParaRPr lang="es-MX" b="1" dirty="0"/>
          </a:p>
          <a:p>
            <a:pPr>
              <a:lnSpc>
                <a:spcPct val="150000"/>
              </a:lnSpc>
            </a:pPr>
            <a:r>
              <a:rPr lang="es-MX" b="1" dirty="0"/>
              <a:t>Importación: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s-MX" dirty="0" err="1"/>
              <a:t>import</a:t>
            </a:r>
            <a:r>
              <a:rPr lang="es-MX" dirty="0"/>
              <a:t> </a:t>
            </a:r>
            <a:r>
              <a:rPr lang="es-MX" dirty="0" err="1"/>
              <a:t>matplotlib.pyplot</a:t>
            </a:r>
            <a:r>
              <a:rPr lang="es-MX" dirty="0"/>
              <a:t> as </a:t>
            </a:r>
            <a:r>
              <a:rPr lang="es-MX" dirty="0" err="1"/>
              <a:t>plt</a:t>
            </a:r>
            <a:r>
              <a:rPr lang="es-MX" dirty="0"/>
              <a:t> 	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endParaRPr lang="en-US" sz="2000" dirty="0">
              <a:solidFill>
                <a:srgbClr val="0F172A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endParaRPr lang="en-US" sz="2000" dirty="0">
              <a:solidFill>
                <a:srgbClr val="0F172A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>
              <a:lnSpc>
                <a:spcPct val="200000"/>
              </a:lnSpc>
            </a:pPr>
            <a:endParaRPr lang="en-US" sz="2000" b="1" dirty="0">
              <a:solidFill>
                <a:srgbClr val="002060"/>
              </a:solidFill>
              <a:latin typeface="Aptos" pitchFamily="34" charset="0"/>
            </a:endParaRPr>
          </a:p>
          <a:p>
            <a:pPr>
              <a:lnSpc>
                <a:spcPct val="200000"/>
              </a:lnSpc>
            </a:pPr>
            <a:endParaRPr lang="en-US" sz="2000" dirty="0">
              <a:solidFill>
                <a:srgbClr val="0F172A"/>
              </a:solidFill>
              <a:latin typeface="Aptos" pitchFamily="34" charset="0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986948733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C62227-0555-1C65-A153-7FCA6BF11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0475ACE-80F8-3099-9E51-ACF060147A47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1292F3C-E8DC-F542-3177-0EC84D7D7BC3}"/>
              </a:ext>
            </a:extLst>
          </p:cNvPr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CF8791A-5758-575B-B59F-64A543FC368D}"/>
              </a:ext>
            </a:extLst>
          </p:cNvPr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9F46F68-84D8-76F0-13B5-92F5A0A78986}"/>
              </a:ext>
            </a:extLst>
          </p:cNvPr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107</a:t>
            </a:r>
            <a:endParaRPr lang="en-US" sz="75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8E15AAB-7EB5-07F3-1F36-09B85E61AB5B}"/>
              </a:ext>
            </a:extLst>
          </p:cNvPr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7</a:t>
            </a:r>
            <a:endParaRPr lang="en-US" sz="7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1DD17CA-3521-74E9-3059-840FC16CC15E}"/>
              </a:ext>
            </a:extLst>
          </p:cNvPr>
          <p:cNvSpPr/>
          <p:nvPr/>
        </p:nvSpPr>
        <p:spPr>
          <a:xfrm>
            <a:off x="502920" y="506338"/>
            <a:ext cx="110642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1C4E80"/>
                </a:solidFill>
                <a:latin typeface="Aptos Display" pitchFamily="34" charset="0"/>
              </a:rPr>
              <a:t>Entornos</a:t>
            </a:r>
            <a:r>
              <a:rPr lang="en-US" sz="2800" b="1" dirty="0">
                <a:solidFill>
                  <a:srgbClr val="1C4E80"/>
                </a:solidFill>
                <a:latin typeface="Aptos Display" pitchFamily="34" charset="0"/>
              </a:rPr>
              <a:t> </a:t>
            </a:r>
            <a:r>
              <a:rPr lang="en-US" sz="2800" b="1" dirty="0" err="1">
                <a:solidFill>
                  <a:srgbClr val="1C4E80"/>
                </a:solidFill>
                <a:latin typeface="Aptos Display" pitchFamily="34" charset="0"/>
              </a:rPr>
              <a:t>virtuales</a:t>
            </a:r>
            <a:endParaRPr lang="en-US" sz="2800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49825F37-482D-EBA0-F9C3-31B532D9A9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3090" y="210312"/>
            <a:ext cx="8343900" cy="6257925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AF37CDBB-9AD0-8FE4-E542-A13CDAE59A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372075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D8B492-E596-5519-1685-DB315BC52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AF14391-63FD-0443-945C-1EECE396A4A2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28FA050-362F-0C3F-2B66-1F3A26879258}"/>
              </a:ext>
            </a:extLst>
          </p:cNvPr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3182003-08C5-0C6A-7B43-887E629AD9E3}"/>
              </a:ext>
            </a:extLst>
          </p:cNvPr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68AB329-E627-CABF-869B-EBDCC39F6588}"/>
              </a:ext>
            </a:extLst>
          </p:cNvPr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</a:t>
            </a:r>
            <a:endParaRPr lang="en-US" sz="75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57703B1-34A2-7242-A85B-632759C2E13E}"/>
              </a:ext>
            </a:extLst>
          </p:cNvPr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1</a:t>
            </a:r>
            <a:endParaRPr lang="en-US" sz="7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E8F90A6-DABA-23FD-71A3-3EABC8551D43}"/>
              </a:ext>
            </a:extLst>
          </p:cNvPr>
          <p:cNvSpPr/>
          <p:nvPr/>
        </p:nvSpPr>
        <p:spPr>
          <a:xfrm>
            <a:off x="502920" y="457200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 err="1">
                <a:solidFill>
                  <a:srgbClr val="1C4E80"/>
                </a:solidFill>
                <a:latin typeface="Aptos Display" pitchFamily="34" charset="0"/>
              </a:rPr>
              <a:t>Recomendacion</a:t>
            </a:r>
            <a:r>
              <a:rPr lang="en-US" sz="2600" b="1" dirty="0">
                <a:solidFill>
                  <a:srgbClr val="1C4E80"/>
                </a:solidFill>
                <a:latin typeface="Aptos Display" pitchFamily="34" charset="0"/>
              </a:rPr>
              <a:t>:</a:t>
            </a:r>
            <a:endParaRPr lang="en-US" sz="2600" dirty="0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3CB0611E-5000-1686-6D09-9B4C4B9891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  <p:sp>
        <p:nvSpPr>
          <p:cNvPr id="9" name="Text 6">
            <a:extLst>
              <a:ext uri="{FF2B5EF4-FFF2-40B4-BE49-F238E27FC236}">
                <a16:creationId xmlns:a16="http://schemas.microsoft.com/office/drawing/2014/main" id="{CDCACCDD-545B-C1C5-D474-C0AE0D08E230}"/>
              </a:ext>
            </a:extLst>
          </p:cNvPr>
          <p:cNvSpPr/>
          <p:nvPr/>
        </p:nvSpPr>
        <p:spPr>
          <a:xfrm>
            <a:off x="777240" y="1325880"/>
            <a:ext cx="10515600" cy="4160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fontScale="85000" lnSpcReduction="10000"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se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deben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utilizar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nombres de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bibliotecas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para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archivos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del proyecto: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Evitar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nombres como: </a:t>
            </a:r>
          </a:p>
          <a:p>
            <a:pPr marL="2628900" lvl="5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s-MX" sz="2000" b="1" dirty="0"/>
              <a:t>pandas.py </a:t>
            </a:r>
          </a:p>
          <a:p>
            <a:pPr marL="2628900" lvl="5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s-MX" sz="2000" b="1" dirty="0"/>
              <a:t>matplotlib.py </a:t>
            </a:r>
          </a:p>
          <a:p>
            <a:pPr marL="2628900" lvl="5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s-MX" sz="2000" b="1" dirty="0"/>
              <a:t>numpy.py</a:t>
            </a:r>
          </a:p>
          <a:p>
            <a:pPr marL="2628900" lvl="5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s-MX" sz="2000" b="1" dirty="0"/>
              <a:t>requests.py</a:t>
            </a:r>
            <a:endParaRPr lang="en-US" sz="2000" b="1" dirty="0">
              <a:solidFill>
                <a:srgbClr val="0F172A"/>
              </a:solidFill>
              <a:latin typeface="Aptos" pitchFamily="34" charset="0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000" b="1" dirty="0" err="1">
                <a:solidFill>
                  <a:srgbClr val="FF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Atención</a:t>
            </a:r>
            <a:r>
              <a:rPr lang="en-US" sz="2000" b="1" dirty="0">
                <a:solidFill>
                  <a:srgbClr val="FF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</a:t>
            </a:r>
            <a:r>
              <a:rPr lang="es-MX" sz="2000" dirty="0">
                <a:latin typeface="Aptos" pitchFamily="34" charset="0"/>
                <a:ea typeface="Aptos" pitchFamily="34" charset="-122"/>
                <a:cs typeface="Aptos" pitchFamily="34" charset="-120"/>
              </a:rPr>
              <a:t>Si existe un archivo llamado pandas.py, Python puede importar ese archivo en lugar de la </a:t>
            </a:r>
            <a:r>
              <a:rPr lang="es-MX" sz="2000" b="1" dirty="0">
                <a:latin typeface="Aptos" pitchFamily="34" charset="0"/>
                <a:ea typeface="Aptos" pitchFamily="34" charset="-122"/>
                <a:cs typeface="Aptos" pitchFamily="34" charset="-120"/>
              </a:rPr>
              <a:t>biblioteca real</a:t>
            </a:r>
            <a:r>
              <a:rPr lang="es-MX" sz="2000" dirty="0">
                <a:latin typeface="Aptos" pitchFamily="34" charset="0"/>
                <a:ea typeface="Aptos" pitchFamily="34" charset="-122"/>
                <a:cs typeface="Aptos" pitchFamily="34" charset="-120"/>
              </a:rPr>
              <a:t>. Esto produce errores como: </a:t>
            </a:r>
            <a:r>
              <a:rPr lang="es-MX" sz="2000" dirty="0" err="1">
                <a:latin typeface="Aptos" pitchFamily="34" charset="0"/>
                <a:ea typeface="Aptos" pitchFamily="34" charset="-122"/>
                <a:cs typeface="Aptos" pitchFamily="34" charset="-120"/>
              </a:rPr>
              <a:t>AttributeError</a:t>
            </a:r>
            <a:r>
              <a:rPr lang="es-MX" sz="2000" dirty="0">
                <a:latin typeface="Aptos" pitchFamily="34" charset="0"/>
                <a:ea typeface="Aptos" pitchFamily="34" charset="-122"/>
                <a:cs typeface="Aptos" pitchFamily="34" charset="-120"/>
              </a:rPr>
              <a:t>: module 'pandas' has no </a:t>
            </a:r>
            <a:r>
              <a:rPr lang="es-MX" sz="2000" dirty="0" err="1">
                <a:latin typeface="Aptos" pitchFamily="34" charset="0"/>
                <a:ea typeface="Aptos" pitchFamily="34" charset="-122"/>
                <a:cs typeface="Aptos" pitchFamily="34" charset="-120"/>
              </a:rPr>
              <a:t>attribute</a:t>
            </a:r>
            <a:r>
              <a:rPr lang="es-MX" sz="2000" dirty="0">
                <a:latin typeface="Aptos" pitchFamily="34" charset="0"/>
                <a:ea typeface="Aptos" pitchFamily="34" charset="-122"/>
                <a:cs typeface="Aptos" pitchFamily="34" charset="-120"/>
              </a:rPr>
              <a:t> '</a:t>
            </a:r>
            <a:r>
              <a:rPr lang="es-MX" sz="2000" dirty="0" err="1">
                <a:latin typeface="Aptos" pitchFamily="34" charset="0"/>
                <a:ea typeface="Aptos" pitchFamily="34" charset="-122"/>
                <a:cs typeface="Aptos" pitchFamily="34" charset="-120"/>
              </a:rPr>
              <a:t>DataFrame</a:t>
            </a:r>
            <a:r>
              <a:rPr lang="es-MX" sz="2000" dirty="0">
                <a:latin typeface="Aptos" pitchFamily="34" charset="0"/>
                <a:ea typeface="Aptos" pitchFamily="34" charset="-122"/>
                <a:cs typeface="Aptos" pitchFamily="34" charset="-120"/>
              </a:rPr>
              <a:t>'</a:t>
            </a:r>
            <a:endParaRPr lang="en-US" sz="2000" dirty="0"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endParaRPr lang="en-US" sz="2000" dirty="0">
              <a:solidFill>
                <a:srgbClr val="0F172A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endParaRPr lang="en-US" sz="2000" dirty="0">
              <a:solidFill>
                <a:srgbClr val="0F172A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>
              <a:lnSpc>
                <a:spcPct val="200000"/>
              </a:lnSpc>
            </a:pPr>
            <a:endParaRPr lang="en-US" sz="2000" b="1" dirty="0">
              <a:solidFill>
                <a:srgbClr val="002060"/>
              </a:solidFill>
              <a:latin typeface="Aptos" pitchFamily="34" charset="0"/>
            </a:endParaRPr>
          </a:p>
          <a:p>
            <a:pPr>
              <a:lnSpc>
                <a:spcPct val="200000"/>
              </a:lnSpc>
            </a:pPr>
            <a:endParaRPr lang="en-US" sz="2000" dirty="0">
              <a:solidFill>
                <a:srgbClr val="0F172A"/>
              </a:solidFill>
              <a:latin typeface="Aptos" pitchFamily="34" charset="0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373741990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FDCBDA-E9F5-7C7A-E312-D65367E580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D4A6F75-82DD-887A-3103-6B26F456B5B9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10280CE-C723-B7A9-E6A9-5645E4788B9E}"/>
              </a:ext>
            </a:extLst>
          </p:cNvPr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FCDEEF2-D5E4-2EE4-927C-CA24804EF157}"/>
              </a:ext>
            </a:extLst>
          </p:cNvPr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A4F063F-ECD8-C88C-2FE6-61042224EB68}"/>
              </a:ext>
            </a:extLst>
          </p:cNvPr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107</a:t>
            </a:r>
            <a:endParaRPr lang="en-US" sz="75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3BFB037-DD89-656E-B74D-AB894EDE6D6B}"/>
              </a:ext>
            </a:extLst>
          </p:cNvPr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7</a:t>
            </a:r>
            <a:endParaRPr lang="en-US" sz="7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DD1159E-D71F-70B9-F860-6A1B75EFABA0}"/>
              </a:ext>
            </a:extLst>
          </p:cNvPr>
          <p:cNvSpPr/>
          <p:nvPr/>
        </p:nvSpPr>
        <p:spPr>
          <a:xfrm>
            <a:off x="502920" y="506338"/>
            <a:ext cx="110642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¿Por </a:t>
            </a:r>
            <a:r>
              <a:rPr lang="en-US" sz="2800" b="1" dirty="0" err="1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</a:t>
            </a:r>
            <a:r>
              <a:rPr lang="en-US" sz="2800" b="1" dirty="0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800" b="1" dirty="0" err="1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modularizar</a:t>
            </a:r>
            <a:r>
              <a:rPr lang="en-US" sz="2800" b="1" dirty="0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1F5250EA-8798-DE9C-96A2-48CBB7F699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4913" y="1100698"/>
            <a:ext cx="9440254" cy="5310143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1A5EFC07-2164-50E7-4E42-6AD2336995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686661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BFFF57-20E3-ED4F-C743-1B6CB9854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3C34956-2303-9139-4F75-F7C4225F8A83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411DCF8-3739-54D4-1CED-6AFA5B886F91}"/>
              </a:ext>
            </a:extLst>
          </p:cNvPr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4E9D234-B6E1-3711-9226-C54EFD0FADAC}"/>
              </a:ext>
            </a:extLst>
          </p:cNvPr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E688FC1-771F-9457-C01B-963B7391A34F}"/>
              </a:ext>
            </a:extLst>
          </p:cNvPr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107</a:t>
            </a:r>
            <a:endParaRPr lang="en-US" sz="75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0D673C5-5A87-19D4-033D-F7FF474A7F3E}"/>
              </a:ext>
            </a:extLst>
          </p:cNvPr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7</a:t>
            </a:r>
            <a:endParaRPr lang="en-US" sz="7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FB15FC0-3486-7DA2-F689-68536E183DD1}"/>
              </a:ext>
            </a:extLst>
          </p:cNvPr>
          <p:cNvSpPr/>
          <p:nvPr/>
        </p:nvSpPr>
        <p:spPr>
          <a:xfrm>
            <a:off x="502920" y="506338"/>
            <a:ext cx="110642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¿Por </a:t>
            </a:r>
            <a:r>
              <a:rPr lang="en-US" sz="2800" b="1" dirty="0" err="1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</a:t>
            </a:r>
            <a:r>
              <a:rPr lang="en-US" sz="2800" b="1" dirty="0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800" b="1" dirty="0" err="1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modularizar</a:t>
            </a:r>
            <a:r>
              <a:rPr lang="en-US" sz="2800" b="1" dirty="0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8955E76C-4FE4-6AFF-AAFF-396ACFD228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9413" y="1100698"/>
            <a:ext cx="9335047" cy="5250964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0E4C5E2A-BA21-A267-FA82-DE7E2F6EF1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4210076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C5ECE2-BB04-4D07-4B85-AB32BE8BD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53AF05D-ABF9-C6ED-944B-C5C381BB254A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3121F31-6036-8813-11C9-A49C2909D5E5}"/>
              </a:ext>
            </a:extLst>
          </p:cNvPr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87DA355-0F4C-BB2A-0F63-9E96EBAEE7FC}"/>
              </a:ext>
            </a:extLst>
          </p:cNvPr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0D8C0C4-6A41-B004-B3CF-958A0FBB88EA}"/>
              </a:ext>
            </a:extLst>
          </p:cNvPr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107</a:t>
            </a:r>
            <a:endParaRPr lang="en-US" sz="75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BFCB0A4-A233-E315-3CF7-24B66C09B399}"/>
              </a:ext>
            </a:extLst>
          </p:cNvPr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7</a:t>
            </a:r>
            <a:endParaRPr lang="en-US" sz="7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0CEA934-5BC1-FC94-55C1-39CB3558F564}"/>
              </a:ext>
            </a:extLst>
          </p:cNvPr>
          <p:cNvSpPr/>
          <p:nvPr/>
        </p:nvSpPr>
        <p:spPr>
          <a:xfrm>
            <a:off x="502920" y="506338"/>
            <a:ext cx="110642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</a:t>
            </a:r>
            <a:r>
              <a:rPr lang="en-US" sz="2800" b="1" dirty="0" err="1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</a:t>
            </a:r>
            <a:r>
              <a:rPr lang="en-US" sz="2800" b="1" dirty="0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es un modulo </a:t>
            </a:r>
            <a:r>
              <a:rPr lang="en-US" sz="2800" b="1" dirty="0" err="1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</a:t>
            </a:r>
            <a:r>
              <a:rPr lang="en-US" sz="2800" b="1" dirty="0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python?</a:t>
            </a:r>
            <a:endParaRPr lang="en-US" sz="2800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EE5F6E44-44DB-9AE1-0CFD-62C4FAC9F7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267" y="974108"/>
            <a:ext cx="9758149" cy="5488959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BA27C327-FA8E-EE40-4984-0C72C7B855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7755716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B9E3C0-3E7F-6C18-2AD5-B0D62A06E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3F6DF95-4D7F-26F1-1067-BD67074F1D26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4BD369C-7E09-E6EC-C8BD-0A4A6431BC8B}"/>
              </a:ext>
            </a:extLst>
          </p:cNvPr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03758AB-A91D-15EF-E94F-84D2C45FFCEF}"/>
              </a:ext>
            </a:extLst>
          </p:cNvPr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2C41449-A9DC-DBDA-5991-A0EDD82316B5}"/>
              </a:ext>
            </a:extLst>
          </p:cNvPr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107</a:t>
            </a:r>
            <a:endParaRPr lang="en-US" sz="75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37CCCDF-2030-7760-93FA-17A0472273D1}"/>
              </a:ext>
            </a:extLst>
          </p:cNvPr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7</a:t>
            </a:r>
            <a:endParaRPr lang="en-US" sz="7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4E56D26-D3DD-1799-A682-1995092C8B28}"/>
              </a:ext>
            </a:extLst>
          </p:cNvPr>
          <p:cNvSpPr/>
          <p:nvPr/>
        </p:nvSpPr>
        <p:spPr>
          <a:xfrm>
            <a:off x="502920" y="506338"/>
            <a:ext cx="110642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Ventajas</a:t>
            </a:r>
            <a:r>
              <a:rPr lang="en-US" sz="2800" b="1" dirty="0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de </a:t>
            </a:r>
            <a:r>
              <a:rPr lang="en-US" sz="2800" b="1" dirty="0" err="1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utilizar</a:t>
            </a:r>
            <a:r>
              <a:rPr lang="en-US" sz="2800" b="1" dirty="0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800" b="1" dirty="0" err="1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módulos</a:t>
            </a:r>
            <a:endParaRPr lang="en-US" sz="2800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2053DD4C-009E-6FE9-6B85-FBF1D47C97E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88" t="4091" r="876" b="6938"/>
          <a:stretch>
            <a:fillRect/>
          </a:stretch>
        </p:blipFill>
        <p:spPr>
          <a:xfrm>
            <a:off x="2078337" y="948898"/>
            <a:ext cx="7913406" cy="5402764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DC79E5A1-632F-090D-B16D-7D192F4061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1692439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0F1F10-F857-47D0-35DF-56216E731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2260692-AFBC-9AE4-A729-7406170B6865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DE23E81-8667-A619-8BC1-62DA94F62E3A}"/>
              </a:ext>
            </a:extLst>
          </p:cNvPr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9A2556E-FAB2-5710-0FA8-D17C9D4AF389}"/>
              </a:ext>
            </a:extLst>
          </p:cNvPr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01429B1-872A-2E4B-8FEB-623C9CF38E81}"/>
              </a:ext>
            </a:extLst>
          </p:cNvPr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107</a:t>
            </a:r>
            <a:endParaRPr lang="en-US" sz="75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71E1F07-8E7E-2EBB-D471-1BFE76D90DC6}"/>
              </a:ext>
            </a:extLst>
          </p:cNvPr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7</a:t>
            </a:r>
            <a:endParaRPr lang="en-US" sz="7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BAD546A-6848-F80E-85DD-7440CB7BE765}"/>
              </a:ext>
            </a:extLst>
          </p:cNvPr>
          <p:cNvSpPr/>
          <p:nvPr/>
        </p:nvSpPr>
        <p:spPr>
          <a:xfrm>
            <a:off x="502920" y="506338"/>
            <a:ext cx="110642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Formas de </a:t>
            </a:r>
            <a:r>
              <a:rPr lang="en-US" sz="2800" b="1" dirty="0" err="1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Importar</a:t>
            </a:r>
            <a:r>
              <a:rPr lang="en-US" sz="2800" b="1" dirty="0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800" b="1" dirty="0" err="1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Módulos</a:t>
            </a:r>
            <a:endParaRPr lang="en-US" sz="2800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D8691550-FC58-4C58-9BA6-4032D029D24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781"/>
          <a:stretch>
            <a:fillRect/>
          </a:stretch>
        </p:blipFill>
        <p:spPr>
          <a:xfrm>
            <a:off x="2273028" y="1160348"/>
            <a:ext cx="7645637" cy="5345394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B1D5EC2B-F339-B584-6711-CF68A0D5CF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006177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7CDFC9-AA6F-C276-2654-9C34F71D92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B6D7266-EC92-4097-3F00-B5C1CA97304C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26380B5-55F1-3537-9BB2-C4EF9CA56935}"/>
              </a:ext>
            </a:extLst>
          </p:cNvPr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915AD2C-22A0-41DE-6A6F-6D3707D9B7B8}"/>
              </a:ext>
            </a:extLst>
          </p:cNvPr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8656CC5-0C4A-86C3-F3EA-3AD7C0641830}"/>
              </a:ext>
            </a:extLst>
          </p:cNvPr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107</a:t>
            </a:r>
            <a:endParaRPr lang="en-US" sz="75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0BB6345-1941-A09E-2B60-11CCF98DF14F}"/>
              </a:ext>
            </a:extLst>
          </p:cNvPr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7</a:t>
            </a:r>
            <a:endParaRPr lang="en-US" sz="7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6433381-8DF3-6484-C921-093BDD93D705}"/>
              </a:ext>
            </a:extLst>
          </p:cNvPr>
          <p:cNvSpPr/>
          <p:nvPr/>
        </p:nvSpPr>
        <p:spPr>
          <a:xfrm>
            <a:off x="502920" y="506338"/>
            <a:ext cx="110642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Formas de </a:t>
            </a:r>
            <a:r>
              <a:rPr lang="en-US" sz="2800" b="1" dirty="0" err="1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Importar</a:t>
            </a:r>
            <a:r>
              <a:rPr lang="en-US" sz="2800" b="1" dirty="0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800" b="1" dirty="0" err="1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Módulos</a:t>
            </a:r>
            <a:endParaRPr lang="en-US" sz="2800" dirty="0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D52690B0-1C34-A4CF-841F-BD6FE4F4F01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080" b="6584"/>
          <a:stretch>
            <a:fillRect/>
          </a:stretch>
        </p:blipFill>
        <p:spPr>
          <a:xfrm>
            <a:off x="2011395" y="1100698"/>
            <a:ext cx="8047290" cy="5452217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7034360E-2BC0-47DC-BF7B-25626E5F81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753350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D90938-EC3E-40FC-7F48-54130FCFD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25149F4-4095-36A1-F81C-CEF0E0FAB424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BD081B0-9274-1880-3408-E3840635318C}"/>
              </a:ext>
            </a:extLst>
          </p:cNvPr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81B85F3-AFDF-410E-3D22-E3CFE569D48F}"/>
              </a:ext>
            </a:extLst>
          </p:cNvPr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7A076D8-E79D-F364-47C8-56342A4D4C3E}"/>
              </a:ext>
            </a:extLst>
          </p:cNvPr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107</a:t>
            </a:r>
            <a:endParaRPr lang="en-US" sz="75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3741C33-8DF6-7242-D0BC-9FF6FB5C0A6B}"/>
              </a:ext>
            </a:extLst>
          </p:cNvPr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7</a:t>
            </a:r>
            <a:endParaRPr lang="en-US" sz="7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EDF9260-F2D2-9C7A-17A0-96877A65BFD9}"/>
              </a:ext>
            </a:extLst>
          </p:cNvPr>
          <p:cNvSpPr/>
          <p:nvPr/>
        </p:nvSpPr>
        <p:spPr>
          <a:xfrm>
            <a:off x="502920" y="506338"/>
            <a:ext cx="110642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C4E80"/>
                </a:solidFill>
                <a:latin typeface="Aptos Display" pitchFamily="34" charset="0"/>
              </a:rPr>
              <a:t>main.py (</a:t>
            </a:r>
            <a:r>
              <a:rPr lang="en-US" sz="2800" b="1" dirty="0" err="1">
                <a:solidFill>
                  <a:srgbClr val="1C4E80"/>
                </a:solidFill>
                <a:latin typeface="Aptos Display" pitchFamily="34" charset="0"/>
              </a:rPr>
              <a:t>Importante</a:t>
            </a:r>
            <a:r>
              <a:rPr lang="en-US" sz="2800" b="1" dirty="0">
                <a:solidFill>
                  <a:srgbClr val="1C4E80"/>
                </a:solidFill>
                <a:latin typeface="Aptos Display" pitchFamily="34" charset="0"/>
              </a:rPr>
              <a:t>)</a:t>
            </a:r>
            <a:endParaRPr lang="en-US" sz="2800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AE9EDC90-0323-3EED-8F10-6296B43DFA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1170" y="1001995"/>
            <a:ext cx="7340837" cy="5505628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36040D90-6DFD-869C-3A0E-EF2FE2204C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7645046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B54113-DC36-424C-ECB9-0506167D07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B150EC1-7145-8A04-803E-984D4909FF7D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446B337-93BF-9496-56B8-2A3246C356B2}"/>
              </a:ext>
            </a:extLst>
          </p:cNvPr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B0298AD-E2C4-6290-65A8-ECA44385A958}"/>
              </a:ext>
            </a:extLst>
          </p:cNvPr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E311615-E4A6-C643-6956-5453E2D56AAC}"/>
              </a:ext>
            </a:extLst>
          </p:cNvPr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107</a:t>
            </a:r>
            <a:endParaRPr lang="en-US" sz="75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B310C22-2F25-46DA-1F64-3F8C494852D8}"/>
              </a:ext>
            </a:extLst>
          </p:cNvPr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7</a:t>
            </a:r>
            <a:endParaRPr lang="en-US" sz="7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6C8C1A4-CFF6-12F2-926A-E902C7891E75}"/>
              </a:ext>
            </a:extLst>
          </p:cNvPr>
          <p:cNvSpPr/>
          <p:nvPr/>
        </p:nvSpPr>
        <p:spPr>
          <a:xfrm>
            <a:off x="502920" y="506338"/>
            <a:ext cx="110642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C4E80"/>
                </a:solidFill>
                <a:latin typeface="Aptos Display" pitchFamily="34" charset="0"/>
              </a:rPr>
              <a:t>main.py (</a:t>
            </a:r>
            <a:r>
              <a:rPr lang="en-US" sz="2800" b="1" dirty="0" err="1">
                <a:solidFill>
                  <a:srgbClr val="1C4E80"/>
                </a:solidFill>
                <a:latin typeface="Aptos Display" pitchFamily="34" charset="0"/>
              </a:rPr>
              <a:t>Importante</a:t>
            </a:r>
            <a:r>
              <a:rPr lang="en-US" sz="2800" b="1" dirty="0">
                <a:solidFill>
                  <a:srgbClr val="1C4E80"/>
                </a:solidFill>
                <a:latin typeface="Aptos Display" pitchFamily="34" charset="0"/>
              </a:rPr>
              <a:t>)</a:t>
            </a:r>
            <a:endParaRPr lang="en-US" sz="2800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78C318A1-846D-B426-9E8A-8F91D05C8A7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716"/>
          <a:stretch>
            <a:fillRect/>
          </a:stretch>
        </p:blipFill>
        <p:spPr>
          <a:xfrm>
            <a:off x="1797465" y="813745"/>
            <a:ext cx="8420114" cy="5638329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D82D3074-608A-46E1-0C4F-052AD52B62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0681476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C61448-D5FE-2BEC-A71F-7CC09A55E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CDC36CD-7521-B105-8C03-5ADB2FAF2650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FE5E973-8355-9B8C-6C66-743A3161991D}"/>
              </a:ext>
            </a:extLst>
          </p:cNvPr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EC45A93-C42F-57C0-4D96-7EA698FE931B}"/>
              </a:ext>
            </a:extLst>
          </p:cNvPr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4402B99-C550-A996-78CD-C4C41C7A756D}"/>
              </a:ext>
            </a:extLst>
          </p:cNvPr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107</a:t>
            </a:r>
            <a:endParaRPr lang="en-US" sz="75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E3AC8F6-EA45-DBFB-757F-3311DBD76106}"/>
              </a:ext>
            </a:extLst>
          </p:cNvPr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7</a:t>
            </a:r>
            <a:endParaRPr lang="en-US" sz="7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7BC65B6-D0AF-262E-87AB-B87C1EDAFC4F}"/>
              </a:ext>
            </a:extLst>
          </p:cNvPr>
          <p:cNvSpPr/>
          <p:nvPr/>
        </p:nvSpPr>
        <p:spPr>
          <a:xfrm>
            <a:off x="502920" y="506338"/>
            <a:ext cx="110642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C4E80"/>
                </a:solidFill>
                <a:latin typeface="Aptos Display" pitchFamily="34" charset="0"/>
              </a:rPr>
              <a:t>Uso de if __name__ == “__main__”</a:t>
            </a:r>
            <a:endParaRPr lang="en-US" sz="2800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D9F3720D-4417-248E-8A84-19E4FD0DFF4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034" t="11963" r="6666" b="7383"/>
          <a:stretch>
            <a:fillRect/>
          </a:stretch>
        </p:blipFill>
        <p:spPr>
          <a:xfrm>
            <a:off x="2180886" y="1198718"/>
            <a:ext cx="7708307" cy="5531266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EFA0BEDF-7F9B-AD7D-2985-50BFC51915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9812095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048636-8E4A-7763-6DEE-D176DBCAF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C8CA15F-F8B8-82BC-E00C-4D9C2DA125D3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B1C77D2-3189-663B-8D81-39C1B9B9E3C7}"/>
              </a:ext>
            </a:extLst>
          </p:cNvPr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02CFAA3-D671-998C-660C-7CC1BCC6489A}"/>
              </a:ext>
            </a:extLst>
          </p:cNvPr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F35DA46-CD3F-429A-5159-DF8EF145783C}"/>
              </a:ext>
            </a:extLst>
          </p:cNvPr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107</a:t>
            </a:r>
            <a:endParaRPr lang="en-US" sz="75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7FB779B-496D-34E3-57B0-CAC256083475}"/>
              </a:ext>
            </a:extLst>
          </p:cNvPr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7</a:t>
            </a:r>
            <a:endParaRPr lang="en-US" sz="7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4589622-7EA7-BEB3-792A-16A1272A86B6}"/>
              </a:ext>
            </a:extLst>
          </p:cNvPr>
          <p:cNvSpPr/>
          <p:nvPr/>
        </p:nvSpPr>
        <p:spPr>
          <a:xfrm>
            <a:off x="502920" y="506338"/>
            <a:ext cx="110642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C4E80"/>
                </a:solidFill>
                <a:latin typeface="Aptos Display" pitchFamily="34" charset="0"/>
              </a:rPr>
              <a:t>Uso de if __name__ == “__main__”</a:t>
            </a:r>
            <a:endParaRPr lang="en-US" sz="2800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A7F0A163-0D50-C53F-C455-91A55A8C462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838"/>
          <a:stretch>
            <a:fillRect/>
          </a:stretch>
        </p:blipFill>
        <p:spPr>
          <a:xfrm>
            <a:off x="1524000" y="1220576"/>
            <a:ext cx="8380576" cy="5541363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A6A1D775-4CED-50CB-5361-BFB77EA1F9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022736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0296B4-4E7C-5D66-BD92-299FB79A8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5911239-0D8A-A5FF-488D-51FFB0DBD1C5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D89006E-4896-23D9-F98C-3FE56E5A6B1E}"/>
              </a:ext>
            </a:extLst>
          </p:cNvPr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A324486-2733-350E-6E16-F3C69CAB8020}"/>
              </a:ext>
            </a:extLst>
          </p:cNvPr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4AE0FA5-93F8-0FFB-C679-E4E241711DF4}"/>
              </a:ext>
            </a:extLst>
          </p:cNvPr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107</a:t>
            </a:r>
            <a:endParaRPr lang="en-US" sz="75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ADCCAE6-989E-751D-F21D-AD325308D516}"/>
              </a:ext>
            </a:extLst>
          </p:cNvPr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7</a:t>
            </a:r>
            <a:endParaRPr lang="en-US" sz="7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9105D508-42C6-90DE-C652-C7742A81A557}"/>
              </a:ext>
            </a:extLst>
          </p:cNvPr>
          <p:cNvSpPr/>
          <p:nvPr/>
        </p:nvSpPr>
        <p:spPr>
          <a:xfrm>
            <a:off x="502920" y="506338"/>
            <a:ext cx="110642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C4E80"/>
                </a:solidFill>
                <a:latin typeface="Aptos Display" pitchFamily="34" charset="0"/>
              </a:rPr>
              <a:t>Uso de </a:t>
            </a:r>
            <a:r>
              <a:rPr lang="en-US" sz="2800" b="1" dirty="0" err="1">
                <a:solidFill>
                  <a:srgbClr val="1C4E80"/>
                </a:solidFill>
                <a:latin typeface="Aptos Display" pitchFamily="34" charset="0"/>
              </a:rPr>
              <a:t>Paquetes</a:t>
            </a:r>
            <a:r>
              <a:rPr lang="en-US" sz="2800" b="1" dirty="0">
                <a:solidFill>
                  <a:srgbClr val="1C4E80"/>
                </a:solidFill>
                <a:latin typeface="Aptos Display" pitchFamily="34" charset="0"/>
              </a:rPr>
              <a:t> </a:t>
            </a:r>
            <a:r>
              <a:rPr lang="en-US" sz="2800" b="1" dirty="0" err="1">
                <a:solidFill>
                  <a:srgbClr val="1C4E80"/>
                </a:solidFill>
                <a:latin typeface="Aptos Display" pitchFamily="34" charset="0"/>
              </a:rPr>
              <a:t>en</a:t>
            </a:r>
            <a:r>
              <a:rPr lang="en-US" sz="2800" b="1" dirty="0">
                <a:solidFill>
                  <a:srgbClr val="1C4E80"/>
                </a:solidFill>
                <a:latin typeface="Aptos Display" pitchFamily="34" charset="0"/>
              </a:rPr>
              <a:t> Python</a:t>
            </a:r>
            <a:endParaRPr lang="en-US" sz="2800" dirty="0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BB46433C-5D46-4C5D-4DB9-92C7F8C556C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304" t="11144" b="5871"/>
          <a:stretch>
            <a:fillRect/>
          </a:stretch>
        </p:blipFill>
        <p:spPr>
          <a:xfrm>
            <a:off x="2406402" y="1038867"/>
            <a:ext cx="7378890" cy="5691117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7F0F156D-8E4A-C4ED-F775-3525C0D1C6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515548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1D6BDC-760D-20B3-6817-9A666AB060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5DAE193-26F1-0F83-6D5C-167D8A7E6D86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FC2DB05-4332-8E10-6DBB-772BB3C00BDF}"/>
              </a:ext>
            </a:extLst>
          </p:cNvPr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7AB29C1-EC59-6692-53DA-464C7AB74090}"/>
              </a:ext>
            </a:extLst>
          </p:cNvPr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3EB07C2-DEDC-952F-CF40-D9EAC769EFDC}"/>
              </a:ext>
            </a:extLst>
          </p:cNvPr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107</a:t>
            </a:r>
            <a:endParaRPr lang="en-US" sz="75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2F7C48F-846C-6D0C-5203-71E756EA1905}"/>
              </a:ext>
            </a:extLst>
          </p:cNvPr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7</a:t>
            </a:r>
            <a:endParaRPr lang="en-US" sz="7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1B7317A-BECA-B2AB-70A8-622F1EB45795}"/>
              </a:ext>
            </a:extLst>
          </p:cNvPr>
          <p:cNvSpPr/>
          <p:nvPr/>
        </p:nvSpPr>
        <p:spPr>
          <a:xfrm>
            <a:off x="502920" y="506338"/>
            <a:ext cx="110642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C4E80"/>
                </a:solidFill>
                <a:latin typeface="Aptos Display" pitchFamily="34" charset="0"/>
              </a:rPr>
              <a:t>¿</a:t>
            </a:r>
            <a:r>
              <a:rPr lang="en-US" sz="2800" b="1" dirty="0" err="1">
                <a:solidFill>
                  <a:srgbClr val="1C4E80"/>
                </a:solidFill>
                <a:latin typeface="Aptos Display" pitchFamily="34" charset="0"/>
              </a:rPr>
              <a:t>Qué</a:t>
            </a:r>
            <a:r>
              <a:rPr lang="en-US" sz="2800" b="1" dirty="0">
                <a:solidFill>
                  <a:srgbClr val="1C4E80"/>
                </a:solidFill>
                <a:latin typeface="Aptos Display" pitchFamily="34" charset="0"/>
              </a:rPr>
              <a:t> es un </a:t>
            </a:r>
            <a:r>
              <a:rPr lang="en-US" sz="2800" b="1" dirty="0" err="1">
                <a:solidFill>
                  <a:srgbClr val="1C4E80"/>
                </a:solidFill>
                <a:latin typeface="Aptos Display" pitchFamily="34" charset="0"/>
              </a:rPr>
              <a:t>paquete</a:t>
            </a:r>
            <a:r>
              <a:rPr lang="en-US" sz="2800" b="1" dirty="0">
                <a:solidFill>
                  <a:srgbClr val="1C4E80"/>
                </a:solidFill>
                <a:latin typeface="Aptos Display" pitchFamily="34" charset="0"/>
              </a:rPr>
              <a:t>?</a:t>
            </a:r>
            <a:endParaRPr lang="en-US" sz="2800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B22B489B-0F42-FAF2-3BA1-CC817E938C3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306" t="5555" r="10139" b="3734"/>
          <a:stretch>
            <a:fillRect/>
          </a:stretch>
        </p:blipFill>
        <p:spPr>
          <a:xfrm>
            <a:off x="2860737" y="1100698"/>
            <a:ext cx="6470526" cy="5464694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54742EBC-B457-ECC2-F4E4-5291FBDEDE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439276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2810F2-AFAE-1A09-B4E3-7F2036A44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D63AD87-1B99-02F3-C060-5ACA629F0534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6A661BF-03A5-EFDE-5DFE-3CAAAD337124}"/>
              </a:ext>
            </a:extLst>
          </p:cNvPr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BD97B69-F590-5E1B-AF82-83B3F5C241A2}"/>
              </a:ext>
            </a:extLst>
          </p:cNvPr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64C9DE9-B98B-C3AC-B10A-13DA58F29E1B}"/>
              </a:ext>
            </a:extLst>
          </p:cNvPr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107</a:t>
            </a:r>
            <a:endParaRPr lang="en-US" sz="75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0B1A889-CF55-392E-4828-E51432A47296}"/>
              </a:ext>
            </a:extLst>
          </p:cNvPr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7</a:t>
            </a:r>
            <a:endParaRPr lang="en-US" sz="7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DB865F3-05A0-2DB7-9923-F45B1C862D7E}"/>
              </a:ext>
            </a:extLst>
          </p:cNvPr>
          <p:cNvSpPr/>
          <p:nvPr/>
        </p:nvSpPr>
        <p:spPr>
          <a:xfrm>
            <a:off x="502920" y="506338"/>
            <a:ext cx="110642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1C4E80"/>
                </a:solidFill>
                <a:latin typeface="Aptos Display" pitchFamily="34" charset="0"/>
              </a:rPr>
              <a:t>Diferencia</a:t>
            </a:r>
            <a:r>
              <a:rPr lang="en-US" sz="2800" b="1" dirty="0">
                <a:solidFill>
                  <a:srgbClr val="1C4E80"/>
                </a:solidFill>
                <a:latin typeface="Aptos Display" pitchFamily="34" charset="0"/>
              </a:rPr>
              <a:t> entre modulo y </a:t>
            </a:r>
            <a:r>
              <a:rPr lang="en-US" sz="2800" b="1" dirty="0" err="1">
                <a:solidFill>
                  <a:srgbClr val="1C4E80"/>
                </a:solidFill>
                <a:latin typeface="Aptos Display" pitchFamily="34" charset="0"/>
              </a:rPr>
              <a:t>paquete</a:t>
            </a:r>
            <a:endParaRPr lang="en-US" sz="2800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8E6AF7D2-C34E-1EA9-309D-2F3A4248648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528" t="24806" r="6388" b="12133"/>
          <a:stretch>
            <a:fillRect/>
          </a:stretch>
        </p:blipFill>
        <p:spPr>
          <a:xfrm>
            <a:off x="1187835" y="1020564"/>
            <a:ext cx="9816024" cy="5331098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69601B47-4CA5-BB41-B2DA-FFBEFFB3C8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8499139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4BEC2F-6BB5-5BB5-9B6D-749DC90EB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D9471EC-8DCD-0DC0-6C76-A2A532B39144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839C3F8-D679-1762-3F76-A0E3D569B0D4}"/>
              </a:ext>
            </a:extLst>
          </p:cNvPr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3E8998B-64A4-97A4-35BB-073DBACD583A}"/>
              </a:ext>
            </a:extLst>
          </p:cNvPr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8A0130D-3F78-20DE-8FB4-BD01B7A126AA}"/>
              </a:ext>
            </a:extLst>
          </p:cNvPr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107</a:t>
            </a:r>
            <a:endParaRPr lang="en-US" sz="75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5DABF06-05D0-EBD8-4EC7-403B93D50AC2}"/>
              </a:ext>
            </a:extLst>
          </p:cNvPr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7</a:t>
            </a:r>
            <a:endParaRPr lang="en-US" sz="7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2972257-F30B-069F-2D7F-89989035CD23}"/>
              </a:ext>
            </a:extLst>
          </p:cNvPr>
          <p:cNvSpPr/>
          <p:nvPr/>
        </p:nvSpPr>
        <p:spPr>
          <a:xfrm>
            <a:off x="502920" y="506338"/>
            <a:ext cx="110642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1C4E80"/>
                </a:solidFill>
                <a:latin typeface="Aptos Display" pitchFamily="34" charset="0"/>
              </a:rPr>
              <a:t>Diferencia</a:t>
            </a:r>
            <a:r>
              <a:rPr lang="en-US" sz="2800" b="1" dirty="0">
                <a:solidFill>
                  <a:srgbClr val="1C4E80"/>
                </a:solidFill>
                <a:latin typeface="Aptos Display" pitchFamily="34" charset="0"/>
              </a:rPr>
              <a:t> entre modulo y </a:t>
            </a:r>
            <a:r>
              <a:rPr lang="en-US" sz="2800" b="1" dirty="0" err="1">
                <a:solidFill>
                  <a:srgbClr val="1C4E80"/>
                </a:solidFill>
                <a:latin typeface="Aptos Display" pitchFamily="34" charset="0"/>
              </a:rPr>
              <a:t>paquete</a:t>
            </a:r>
            <a:endParaRPr lang="en-US" sz="2800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03E648EB-9BAE-95DA-7961-631B3BB9C53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528" t="24806" r="6388" b="12133"/>
          <a:stretch>
            <a:fillRect/>
          </a:stretch>
        </p:blipFill>
        <p:spPr>
          <a:xfrm>
            <a:off x="1187835" y="1020564"/>
            <a:ext cx="9816024" cy="5331098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205BD909-B876-E520-163F-6B834C320E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228313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C80CE0-A540-3BD6-D1DF-9EE095E80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CF97AD2-900C-0C7A-3955-EDC5E2388D22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F8F5087-14FD-A835-1163-56A495D07F4C}"/>
              </a:ext>
            </a:extLst>
          </p:cNvPr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4E2E017-0D03-59F8-F73B-2C33A9765AC9}"/>
              </a:ext>
            </a:extLst>
          </p:cNvPr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DE46919-4C70-4411-172A-0F0DE29E1840}"/>
              </a:ext>
            </a:extLst>
          </p:cNvPr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</a:t>
            </a:r>
            <a:endParaRPr lang="en-US" sz="75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7871A50-E7F8-38FC-78A0-93B845D1885D}"/>
              </a:ext>
            </a:extLst>
          </p:cNvPr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1</a:t>
            </a:r>
            <a:endParaRPr lang="en-US" sz="7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21AA4CD-878F-62E7-436C-DBCF34F3F2ED}"/>
              </a:ext>
            </a:extLst>
          </p:cNvPr>
          <p:cNvSpPr/>
          <p:nvPr/>
        </p:nvSpPr>
        <p:spPr>
          <a:xfrm>
            <a:off x="502920" y="457200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</a:t>
            </a:r>
            <a:r>
              <a:rPr lang="en-US" sz="2600" b="1" dirty="0" err="1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</a:t>
            </a:r>
            <a:r>
              <a:rPr lang="en-US" sz="2600" b="1" dirty="0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es pip?</a:t>
            </a:r>
            <a:endParaRPr lang="en-US" sz="2600" dirty="0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3A753D4B-F67F-7760-0BE8-0F4E527A635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940" b="13433"/>
          <a:stretch>
            <a:fillRect/>
          </a:stretch>
        </p:blipFill>
        <p:spPr>
          <a:xfrm>
            <a:off x="1332931" y="960120"/>
            <a:ext cx="9144000" cy="5117910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13B128A3-C147-78B7-8BE3-03CF730652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7394453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011BE-C301-A14B-976F-675E76FFB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E48F60D-87CE-4F57-119E-D9206F024D6C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68A8459-414B-EA09-ED75-78BC3D68BD01}"/>
              </a:ext>
            </a:extLst>
          </p:cNvPr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BA6436D-06C2-93F1-32F5-24F0A250A625}"/>
              </a:ext>
            </a:extLst>
          </p:cNvPr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684826C-695C-072E-A593-3E19E78AD2AB}"/>
              </a:ext>
            </a:extLst>
          </p:cNvPr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</a:t>
            </a:r>
            <a:endParaRPr lang="en-US" sz="75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BB20C1D-9A20-30F3-6B03-B4F53B804E61}"/>
              </a:ext>
            </a:extLst>
          </p:cNvPr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1</a:t>
            </a:r>
            <a:endParaRPr lang="en-US" sz="7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270D4F0-F778-B98F-17DF-76783C1579A5}"/>
              </a:ext>
            </a:extLst>
          </p:cNvPr>
          <p:cNvSpPr/>
          <p:nvPr/>
        </p:nvSpPr>
        <p:spPr>
          <a:xfrm>
            <a:off x="502920" y="457200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C4E80"/>
                </a:solidFill>
                <a:latin typeface="Aptos Display" pitchFamily="34" charset="0"/>
              </a:rPr>
              <a:t>Archivos con python</a:t>
            </a:r>
            <a:endParaRPr lang="en-US" sz="2600" dirty="0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BC6DFC6D-B57F-D47F-0D58-C2E4F1812C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2CD3C4BA-3C7C-61D0-FB40-FB8EEF36DF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7440" y="1019556"/>
            <a:ext cx="73152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599657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98E04A-01FC-5A4C-3CFE-C3ADFEB86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6399271-D987-C5FC-0C7A-C967027298B4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4431B80-15C1-3040-E3FA-EC83729B13CE}"/>
              </a:ext>
            </a:extLst>
          </p:cNvPr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50EA9AE-B87D-22DA-8BA9-A722262CE922}"/>
              </a:ext>
            </a:extLst>
          </p:cNvPr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1CA809B-017C-AD65-95A9-DC50B44AE819}"/>
              </a:ext>
            </a:extLst>
          </p:cNvPr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</a:t>
            </a:r>
            <a:endParaRPr lang="en-US" sz="75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F9F5B23-012C-B3FA-862C-21EA11F386E8}"/>
              </a:ext>
            </a:extLst>
          </p:cNvPr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1</a:t>
            </a:r>
            <a:endParaRPr lang="en-US" sz="7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D5CED5A-5557-68F7-F91B-13E94DD7F8AF}"/>
              </a:ext>
            </a:extLst>
          </p:cNvPr>
          <p:cNvSpPr/>
          <p:nvPr/>
        </p:nvSpPr>
        <p:spPr>
          <a:xfrm>
            <a:off x="502920" y="457200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C4E80"/>
                </a:solidFill>
                <a:latin typeface="Aptos Display" pitchFamily="34" charset="0"/>
              </a:rPr>
              <a:t>Archivos con python</a:t>
            </a:r>
            <a:endParaRPr lang="en-US" sz="2600" dirty="0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633493F7-5E04-6822-B2DA-3559575B20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20867EF7-15AA-8826-44C7-7FB946BD995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2883"/>
          <a:stretch>
            <a:fillRect/>
          </a:stretch>
        </p:blipFill>
        <p:spPr>
          <a:xfrm>
            <a:off x="1942947" y="1049327"/>
            <a:ext cx="8305800" cy="5426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7985166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373325-3014-7C6D-ACBE-008689ED1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8A15637-FB41-0C8D-DEAD-2AD7299C45F2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6B94A29-8AD6-5A9F-4221-0544850DB756}"/>
              </a:ext>
            </a:extLst>
          </p:cNvPr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2FC1050-D88B-5170-94CC-8CC972CEB50F}"/>
              </a:ext>
            </a:extLst>
          </p:cNvPr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B51C34F-D666-36A5-3615-DE777144C9E5}"/>
              </a:ext>
            </a:extLst>
          </p:cNvPr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</a:t>
            </a:r>
            <a:endParaRPr lang="en-US" sz="75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71E1B97-9D17-3550-8442-81DA3103C18A}"/>
              </a:ext>
            </a:extLst>
          </p:cNvPr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1</a:t>
            </a:r>
            <a:endParaRPr lang="en-US" sz="7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BF0FAFD-9ADC-3356-94A3-A005A19E2189}"/>
              </a:ext>
            </a:extLst>
          </p:cNvPr>
          <p:cNvSpPr/>
          <p:nvPr/>
        </p:nvSpPr>
        <p:spPr>
          <a:xfrm>
            <a:off x="502920" y="457200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C4E80"/>
                </a:solidFill>
                <a:latin typeface="Aptos Display" pitchFamily="34" charset="0"/>
              </a:rPr>
              <a:t>Archivos con python</a:t>
            </a:r>
            <a:endParaRPr lang="en-US" sz="2600" dirty="0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C34FBF3D-EE5F-848E-65EB-CDBF1193E9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2B865264-C3C8-494A-8B88-9C0DDE5BC6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2697" y="981075"/>
            <a:ext cx="7226300" cy="5419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234225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822866-3887-D0E1-E64E-CA79214B7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FBFC9C2-BF9B-B2C4-00CE-3D2ECA4BCFF5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471024D-17EE-F511-0489-282C9979F4EC}"/>
              </a:ext>
            </a:extLst>
          </p:cNvPr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0825D7B-AC92-66AC-C15D-22FA985154F8}"/>
              </a:ext>
            </a:extLst>
          </p:cNvPr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707A99A-B985-83F5-06A5-00D18C94361C}"/>
              </a:ext>
            </a:extLst>
          </p:cNvPr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</a:t>
            </a:r>
            <a:endParaRPr lang="en-US" sz="75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386F32F-E2C0-EBBB-D564-5B66807D1A02}"/>
              </a:ext>
            </a:extLst>
          </p:cNvPr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1</a:t>
            </a:r>
            <a:endParaRPr lang="en-US" sz="7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738F3AF-6490-B540-3631-6940CC282159}"/>
              </a:ext>
            </a:extLst>
          </p:cNvPr>
          <p:cNvSpPr/>
          <p:nvPr/>
        </p:nvSpPr>
        <p:spPr>
          <a:xfrm>
            <a:off x="502920" y="457200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C4E80"/>
                </a:solidFill>
                <a:latin typeface="Aptos Display" pitchFamily="34" charset="0"/>
              </a:rPr>
              <a:t>Apertura de </a:t>
            </a:r>
            <a:r>
              <a:rPr lang="en-US" sz="2600" b="1" dirty="0" err="1">
                <a:solidFill>
                  <a:srgbClr val="1C4E80"/>
                </a:solidFill>
                <a:latin typeface="Aptos Display" pitchFamily="34" charset="0"/>
              </a:rPr>
              <a:t>archivos</a:t>
            </a:r>
            <a:r>
              <a:rPr lang="en-US" sz="2600" b="1" dirty="0">
                <a:solidFill>
                  <a:srgbClr val="1C4E80"/>
                </a:solidFill>
                <a:latin typeface="Aptos Display" pitchFamily="34" charset="0"/>
              </a:rPr>
              <a:t> </a:t>
            </a:r>
            <a:endParaRPr lang="en-US" sz="2600" dirty="0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EB207062-FBCA-02D6-1113-3FD7031C70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4209D42E-C8ED-5802-0914-FBAE5A9A8D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8565" y="1108923"/>
            <a:ext cx="7092950" cy="5319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135405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8F79D-B5D6-697C-C74B-B797C5E48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42910B0-92F7-19E7-CCA8-0DED05894A88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FA0A80E-64AA-1EE7-50FD-DFFC692F77A8}"/>
              </a:ext>
            </a:extLst>
          </p:cNvPr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C8DA34A-738A-1E68-2105-7CFB879F01AA}"/>
              </a:ext>
            </a:extLst>
          </p:cNvPr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A988B10-695B-A4C4-465D-E36BE69D0FA3}"/>
              </a:ext>
            </a:extLst>
          </p:cNvPr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</a:t>
            </a:r>
            <a:endParaRPr lang="en-US" sz="75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053B21F-6DC8-5CBF-74BD-383278FB13EC}"/>
              </a:ext>
            </a:extLst>
          </p:cNvPr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1</a:t>
            </a:r>
            <a:endParaRPr lang="en-US" sz="7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9EAB21DE-D6EC-349E-4FA6-0A916AFED71A}"/>
              </a:ext>
            </a:extLst>
          </p:cNvPr>
          <p:cNvSpPr/>
          <p:nvPr/>
        </p:nvSpPr>
        <p:spPr>
          <a:xfrm>
            <a:off x="502920" y="457200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C4E80"/>
                </a:solidFill>
                <a:latin typeface="Aptos Display" pitchFamily="34" charset="0"/>
              </a:rPr>
              <a:t>Lectura de </a:t>
            </a:r>
            <a:r>
              <a:rPr lang="en-US" sz="2600" b="1" dirty="0" err="1">
                <a:solidFill>
                  <a:srgbClr val="1C4E80"/>
                </a:solidFill>
                <a:latin typeface="Aptos Display" pitchFamily="34" charset="0"/>
              </a:rPr>
              <a:t>archivos</a:t>
            </a:r>
            <a:r>
              <a:rPr lang="en-US" sz="2600" b="1" dirty="0">
                <a:solidFill>
                  <a:srgbClr val="1C4E80"/>
                </a:solidFill>
                <a:latin typeface="Aptos Display" pitchFamily="34" charset="0"/>
              </a:rPr>
              <a:t> </a:t>
            </a:r>
            <a:endParaRPr lang="en-US" sz="2600" dirty="0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D328B9C6-D19B-62CF-7499-D276F0196E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7393CCDE-E01E-FD4A-BD04-81AA84676C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0140" y="1029081"/>
            <a:ext cx="7289800" cy="5467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4040199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44ABC1-6E3A-10AE-4BF3-5CABB3C70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F7424A5-1BE9-8BB6-2B66-F9537D1D9713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B9EA276-5519-3795-31B2-861F5627DFCE}"/>
              </a:ext>
            </a:extLst>
          </p:cNvPr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1088B99-6C17-5539-AFB9-C06AD6905A54}"/>
              </a:ext>
            </a:extLst>
          </p:cNvPr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B1FB327-49BD-99A0-F475-3F92B24504D7}"/>
              </a:ext>
            </a:extLst>
          </p:cNvPr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</a:t>
            </a:r>
            <a:endParaRPr lang="en-US" sz="75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6DC38EC-E5AA-479C-BD66-676FE97BFEA9}"/>
              </a:ext>
            </a:extLst>
          </p:cNvPr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1</a:t>
            </a:r>
            <a:endParaRPr lang="en-US" sz="7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016B2F2-D179-2303-A799-9612CB94926F}"/>
              </a:ext>
            </a:extLst>
          </p:cNvPr>
          <p:cNvSpPr/>
          <p:nvPr/>
        </p:nvSpPr>
        <p:spPr>
          <a:xfrm>
            <a:off x="502920" y="457200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C4E80"/>
                </a:solidFill>
                <a:latin typeface="Aptos Display" pitchFamily="34" charset="0"/>
              </a:rPr>
              <a:t>Lectura de </a:t>
            </a:r>
            <a:r>
              <a:rPr lang="en-US" sz="2600" b="1" dirty="0" err="1">
                <a:solidFill>
                  <a:srgbClr val="1C4E80"/>
                </a:solidFill>
                <a:latin typeface="Aptos Display" pitchFamily="34" charset="0"/>
              </a:rPr>
              <a:t>archivos</a:t>
            </a:r>
            <a:r>
              <a:rPr lang="en-US" sz="2600" b="1" dirty="0">
                <a:solidFill>
                  <a:srgbClr val="1C4E80"/>
                </a:solidFill>
                <a:latin typeface="Aptos Display" pitchFamily="34" charset="0"/>
              </a:rPr>
              <a:t> </a:t>
            </a:r>
            <a:endParaRPr lang="en-US" sz="2600" dirty="0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1054635D-3316-5F84-153A-01626AAA0B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75305F0D-367D-9653-3658-749BB3A30A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5500" y="920750"/>
            <a:ext cx="7378700" cy="5534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393904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D84A47-8C64-2098-7E46-449B6DED2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BA3F271-EF58-FC4C-9BD9-A1829B8832B5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B95D745-79ED-1AA1-1E96-BB6C5A0959B7}"/>
              </a:ext>
            </a:extLst>
          </p:cNvPr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FEA3931-5A40-CCC5-5716-8F668F83DB1D}"/>
              </a:ext>
            </a:extLst>
          </p:cNvPr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485B020-C53A-14CA-10CA-AF9A8427507B}"/>
              </a:ext>
            </a:extLst>
          </p:cNvPr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</a:t>
            </a:r>
            <a:endParaRPr lang="en-US" sz="75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BF2CF28-BF46-4A08-A6A7-A07F2CDC96BA}"/>
              </a:ext>
            </a:extLst>
          </p:cNvPr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1</a:t>
            </a:r>
            <a:endParaRPr lang="en-US" sz="7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776E480-74E8-9E9C-69E4-3B7DE902D0E6}"/>
              </a:ext>
            </a:extLst>
          </p:cNvPr>
          <p:cNvSpPr/>
          <p:nvPr/>
        </p:nvSpPr>
        <p:spPr>
          <a:xfrm>
            <a:off x="502920" y="457200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 err="1">
                <a:solidFill>
                  <a:srgbClr val="1C4E80"/>
                </a:solidFill>
                <a:latin typeface="Aptos Display" pitchFamily="34" charset="0"/>
              </a:rPr>
              <a:t>Escritura</a:t>
            </a:r>
            <a:r>
              <a:rPr lang="en-US" sz="2600" b="1" dirty="0">
                <a:solidFill>
                  <a:srgbClr val="1C4E80"/>
                </a:solidFill>
                <a:latin typeface="Aptos Display" pitchFamily="34" charset="0"/>
              </a:rPr>
              <a:t> de </a:t>
            </a:r>
            <a:r>
              <a:rPr lang="en-US" sz="2600" b="1" dirty="0" err="1">
                <a:solidFill>
                  <a:srgbClr val="1C4E80"/>
                </a:solidFill>
                <a:latin typeface="Aptos Display" pitchFamily="34" charset="0"/>
              </a:rPr>
              <a:t>archivos</a:t>
            </a:r>
            <a:r>
              <a:rPr lang="en-US" sz="2600" b="1" dirty="0">
                <a:solidFill>
                  <a:srgbClr val="1C4E80"/>
                </a:solidFill>
                <a:latin typeface="Aptos Display" pitchFamily="34" charset="0"/>
              </a:rPr>
              <a:t> </a:t>
            </a:r>
            <a:endParaRPr lang="en-US" sz="2600" dirty="0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FEE5AAD8-2F24-B8FE-B397-294C5EF025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AC576F3F-5226-F416-7B44-35C39A3745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9049" y="1095374"/>
            <a:ext cx="7073901" cy="5305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1085686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31410-A41D-DA3B-AE5D-1CC3AFAC61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B1B7604-CE0F-07A1-36E4-D9C75DDFF10F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C453AA1-E459-A5A5-B26E-2090F18F809C}"/>
              </a:ext>
            </a:extLst>
          </p:cNvPr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AA70886-8F4E-7699-3250-4A109F19379C}"/>
              </a:ext>
            </a:extLst>
          </p:cNvPr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7D3A415-5541-6F11-42B4-EC5531EA5AE9}"/>
              </a:ext>
            </a:extLst>
          </p:cNvPr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</a:t>
            </a:r>
            <a:endParaRPr lang="en-US" sz="75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F16EED5-FCD0-1BF8-1F0D-94FDAD479B1A}"/>
              </a:ext>
            </a:extLst>
          </p:cNvPr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1</a:t>
            </a:r>
            <a:endParaRPr lang="en-US" sz="7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66320EC-1FAC-5067-AB6D-D53EDE660614}"/>
              </a:ext>
            </a:extLst>
          </p:cNvPr>
          <p:cNvSpPr/>
          <p:nvPr/>
        </p:nvSpPr>
        <p:spPr>
          <a:xfrm>
            <a:off x="502920" y="457200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 err="1">
                <a:solidFill>
                  <a:srgbClr val="1C4E80"/>
                </a:solidFill>
                <a:latin typeface="Aptos Display" pitchFamily="34" charset="0"/>
              </a:rPr>
              <a:t>Escritura</a:t>
            </a:r>
            <a:r>
              <a:rPr lang="en-US" sz="2600" b="1" dirty="0">
                <a:solidFill>
                  <a:srgbClr val="1C4E80"/>
                </a:solidFill>
                <a:latin typeface="Aptos Display" pitchFamily="34" charset="0"/>
              </a:rPr>
              <a:t> de </a:t>
            </a:r>
            <a:r>
              <a:rPr lang="en-US" sz="2600" b="1" dirty="0" err="1">
                <a:solidFill>
                  <a:srgbClr val="1C4E80"/>
                </a:solidFill>
                <a:latin typeface="Aptos Display" pitchFamily="34" charset="0"/>
              </a:rPr>
              <a:t>archivos</a:t>
            </a:r>
            <a:r>
              <a:rPr lang="en-US" sz="2600" b="1" dirty="0">
                <a:solidFill>
                  <a:srgbClr val="1C4E80"/>
                </a:solidFill>
                <a:latin typeface="Aptos Display" pitchFamily="34" charset="0"/>
              </a:rPr>
              <a:t> </a:t>
            </a:r>
            <a:endParaRPr lang="en-US" sz="2600" dirty="0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0F0A2A80-5DC9-912D-C5F5-606EF429AC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5306B6A3-6C09-C2E8-20A4-16CEC11AA5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9200" y="1108923"/>
            <a:ext cx="7213600" cy="541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3540621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E626AD-DDB0-EE3D-5E6C-4579FE32B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F3F3920-27F9-B3BE-474A-F6D28561849E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AC08609-90FA-DFE0-7F59-23DA82B92FAB}"/>
              </a:ext>
            </a:extLst>
          </p:cNvPr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CA9D627-F346-842D-28B7-DC843E15BBC9}"/>
              </a:ext>
            </a:extLst>
          </p:cNvPr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9917E16-6AA8-615F-E344-7D42915F6F72}"/>
              </a:ext>
            </a:extLst>
          </p:cNvPr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</a:t>
            </a:r>
            <a:endParaRPr lang="en-US" sz="75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E88031D-94E5-C1A3-4E9B-938A5652ED43}"/>
              </a:ext>
            </a:extLst>
          </p:cNvPr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1</a:t>
            </a:r>
            <a:endParaRPr lang="en-US" sz="7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D4EE408F-F357-C622-4BFA-20FEAF27C0A0}"/>
              </a:ext>
            </a:extLst>
          </p:cNvPr>
          <p:cNvSpPr/>
          <p:nvPr/>
        </p:nvSpPr>
        <p:spPr>
          <a:xfrm>
            <a:off x="502920" y="457200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 err="1">
                <a:solidFill>
                  <a:srgbClr val="1C4E80"/>
                </a:solidFill>
                <a:latin typeface="Aptos Display" pitchFamily="34" charset="0"/>
              </a:rPr>
              <a:t>Agregar</a:t>
            </a:r>
            <a:r>
              <a:rPr lang="en-US" sz="2600" b="1" dirty="0">
                <a:solidFill>
                  <a:srgbClr val="1C4E80"/>
                </a:solidFill>
                <a:latin typeface="Aptos Display" pitchFamily="34" charset="0"/>
              </a:rPr>
              <a:t> información </a:t>
            </a:r>
            <a:r>
              <a:rPr lang="en-US" sz="2600" b="1" dirty="0" err="1">
                <a:solidFill>
                  <a:srgbClr val="1C4E80"/>
                </a:solidFill>
                <a:latin typeface="Aptos Display" pitchFamily="34" charset="0"/>
              </a:rPr>
              <a:t>en</a:t>
            </a:r>
            <a:r>
              <a:rPr lang="en-US" sz="2600" b="1" dirty="0">
                <a:solidFill>
                  <a:srgbClr val="1C4E80"/>
                </a:solidFill>
                <a:latin typeface="Aptos Display" pitchFamily="34" charset="0"/>
              </a:rPr>
              <a:t> </a:t>
            </a:r>
            <a:r>
              <a:rPr lang="en-US" sz="2600" b="1" dirty="0" err="1">
                <a:solidFill>
                  <a:srgbClr val="1C4E80"/>
                </a:solidFill>
                <a:latin typeface="Aptos Display" pitchFamily="34" charset="0"/>
              </a:rPr>
              <a:t>archivo</a:t>
            </a:r>
            <a:endParaRPr lang="en-US" sz="2600" dirty="0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C230FE6E-0C8C-F8D1-0A34-8783EB7BD1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50F4D5A2-C01D-8D6A-37A4-E6EAC32DFA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4297" y="1298067"/>
            <a:ext cx="7023100" cy="5267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3732074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B75574-041D-167A-2D12-E8C6B144F3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31DDCC0-8F1E-F7E4-FF0D-39F0E3AE129E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E65ECFF-7287-FA34-77E3-2804EC46146F}"/>
              </a:ext>
            </a:extLst>
          </p:cNvPr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1411609-FC3F-B3BC-4E80-840A44457E3C}"/>
              </a:ext>
            </a:extLst>
          </p:cNvPr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1E51DAD-1B0B-44D0-5CF0-D0CFD3CBC3FD}"/>
              </a:ext>
            </a:extLst>
          </p:cNvPr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</a:t>
            </a:r>
            <a:endParaRPr lang="en-US" sz="75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D393C0D-8291-0E70-4259-225FF4543769}"/>
              </a:ext>
            </a:extLst>
          </p:cNvPr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1</a:t>
            </a:r>
            <a:endParaRPr lang="en-US" sz="7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4ECCE30-5CD3-FE68-8768-C9D9E54A167F}"/>
              </a:ext>
            </a:extLst>
          </p:cNvPr>
          <p:cNvSpPr/>
          <p:nvPr/>
        </p:nvSpPr>
        <p:spPr>
          <a:xfrm>
            <a:off x="502920" y="457200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 err="1">
                <a:solidFill>
                  <a:srgbClr val="1C4E80"/>
                </a:solidFill>
                <a:latin typeface="Aptos Display" pitchFamily="34" charset="0"/>
              </a:rPr>
              <a:t>Pathlib</a:t>
            </a:r>
            <a:r>
              <a:rPr lang="en-US" sz="2600" b="1" dirty="0">
                <a:solidFill>
                  <a:srgbClr val="1C4E80"/>
                </a:solidFill>
                <a:latin typeface="Aptos Display" pitchFamily="34" charset="0"/>
              </a:rPr>
              <a:t> rutas de </a:t>
            </a:r>
            <a:r>
              <a:rPr lang="en-US" sz="2600" b="1" dirty="0" err="1">
                <a:solidFill>
                  <a:srgbClr val="1C4E80"/>
                </a:solidFill>
                <a:latin typeface="Aptos Display" pitchFamily="34" charset="0"/>
              </a:rPr>
              <a:t>archivos</a:t>
            </a:r>
            <a:endParaRPr lang="en-US" sz="2600" dirty="0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51A74006-0CE5-E747-5AC7-5B3A240BA3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817197F5-D0BD-D907-D0C7-EBA60634AF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0770" y="960120"/>
            <a:ext cx="7378700" cy="5534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100071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3764D-72FF-7349-09B5-795116F5EA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955D693-9661-7274-5EA8-44ABCFDE8BC3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2B23F04-3162-E17D-A222-2666FF0C3B77}"/>
              </a:ext>
            </a:extLst>
          </p:cNvPr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F1AEC3E-7C87-E1F6-5300-0DA19B5DC85A}"/>
              </a:ext>
            </a:extLst>
          </p:cNvPr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802C04C-9251-DA52-1D6D-89278991AEBE}"/>
              </a:ext>
            </a:extLst>
          </p:cNvPr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</a:t>
            </a:r>
            <a:endParaRPr lang="en-US" sz="75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DCA43A3-7B0F-B5B1-B211-9029CD4CAA96}"/>
              </a:ext>
            </a:extLst>
          </p:cNvPr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1</a:t>
            </a:r>
            <a:endParaRPr lang="en-US" sz="7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101550B-E319-2647-3FEA-8F51A4CEFAB8}"/>
              </a:ext>
            </a:extLst>
          </p:cNvPr>
          <p:cNvSpPr/>
          <p:nvPr/>
        </p:nvSpPr>
        <p:spPr>
          <a:xfrm>
            <a:off x="502920" y="457200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C4E80"/>
                </a:solidFill>
                <a:latin typeface="Aptos Display" pitchFamily="34" charset="0"/>
              </a:rPr>
              <a:t>Leer csv</a:t>
            </a:r>
            <a:endParaRPr lang="en-US" sz="2600" dirty="0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416E6513-00FE-C7B3-D915-0E4A405A5D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B83480CA-723C-00F0-82EC-005FAA22C2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09189" y="960120"/>
            <a:ext cx="7251701" cy="5438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464162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899473-FFA0-F8A6-3BEF-833A5E524C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A42404D-E153-A565-2C40-21553405A95A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2E6ABB2-4F5A-728E-3EDC-72FEC0B0F145}"/>
              </a:ext>
            </a:extLst>
          </p:cNvPr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F1EA81C-1B7F-6B02-5919-5B8DCD6E5262}"/>
              </a:ext>
            </a:extLst>
          </p:cNvPr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791DBFB-96BA-6555-7F5A-E74204CF4AE7}"/>
              </a:ext>
            </a:extLst>
          </p:cNvPr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</a:t>
            </a:r>
            <a:endParaRPr lang="en-US" sz="75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9DA19CD-30CB-5834-BF03-DC9BF93CB6D2}"/>
              </a:ext>
            </a:extLst>
          </p:cNvPr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1</a:t>
            </a:r>
            <a:endParaRPr lang="en-US" sz="7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3C9652F-73CC-2FA9-2F24-820DF62B966E}"/>
              </a:ext>
            </a:extLst>
          </p:cNvPr>
          <p:cNvSpPr/>
          <p:nvPr/>
        </p:nvSpPr>
        <p:spPr>
          <a:xfrm>
            <a:off x="502920" y="457200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C4E80"/>
                </a:solidFill>
                <a:latin typeface="Aptos Display" pitchFamily="34" charset="0"/>
              </a:rPr>
              <a:t>Leer csv como </a:t>
            </a:r>
            <a:r>
              <a:rPr lang="en-US" sz="2600" b="1" dirty="0" err="1">
                <a:solidFill>
                  <a:srgbClr val="1C4E80"/>
                </a:solidFill>
                <a:latin typeface="Aptos Display" pitchFamily="34" charset="0"/>
              </a:rPr>
              <a:t>diccionario</a:t>
            </a:r>
            <a:endParaRPr lang="en-US" sz="2600" dirty="0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FB51818C-A82E-ED34-335C-79FAA0882B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D4E272B5-A698-F67D-7A90-F897270CA7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9049" y="1121623"/>
            <a:ext cx="7073901" cy="5305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498281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4E5A19-6ADE-D59C-D440-4537661AD8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4908E01-AF57-299B-FDEA-0B0D496BFB10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E5D2DF5-FF1A-39A0-C2C2-14F28FE642F8}"/>
              </a:ext>
            </a:extLst>
          </p:cNvPr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95ED0F4-AD7F-A0D9-BA35-B1E07F41DF1E}"/>
              </a:ext>
            </a:extLst>
          </p:cNvPr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B9BA034-E783-5AE1-43CF-631876655235}"/>
              </a:ext>
            </a:extLst>
          </p:cNvPr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</a:t>
            </a:r>
            <a:endParaRPr lang="en-US" sz="75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014D607-EE29-82B3-85AE-3B6B7DDB9F34}"/>
              </a:ext>
            </a:extLst>
          </p:cNvPr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1</a:t>
            </a:r>
            <a:endParaRPr lang="en-US" sz="7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4B21157-7B75-543E-6F17-A3AE6A1E6C80}"/>
              </a:ext>
            </a:extLst>
          </p:cNvPr>
          <p:cNvSpPr/>
          <p:nvPr/>
        </p:nvSpPr>
        <p:spPr>
          <a:xfrm>
            <a:off x="502920" y="457200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C4E80"/>
                </a:solidFill>
                <a:latin typeface="Aptos Display" pitchFamily="34" charset="0"/>
              </a:rPr>
              <a:t>Escribir csv</a:t>
            </a:r>
            <a:endParaRPr lang="en-US" sz="2600" dirty="0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AE1234AE-2559-E94E-7D7D-3B00047267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2FEFDDAA-80C0-5D13-6C9F-72C9AB96FD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07920" y="1042416"/>
            <a:ext cx="7254240" cy="5440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922409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593029-4E97-7105-BEE7-F9E45BBF3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1E1BA7E-E1EC-0B27-91BD-B35A61331926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5E15A70-8F31-5B2C-0D0B-6876D122530E}"/>
              </a:ext>
            </a:extLst>
          </p:cNvPr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81E263C-F29F-100B-7938-82B202FB1E6D}"/>
              </a:ext>
            </a:extLst>
          </p:cNvPr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CFF6C6B-EBA7-80D3-E5A1-5F3CC4A77BDA}"/>
              </a:ext>
            </a:extLst>
          </p:cNvPr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</a:t>
            </a:r>
            <a:endParaRPr lang="en-US" sz="75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27C591A-CC9E-A6C8-22BF-B9C7D09AF3A9}"/>
              </a:ext>
            </a:extLst>
          </p:cNvPr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1</a:t>
            </a:r>
            <a:endParaRPr lang="en-US" sz="7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9F7BA99D-D12B-9EE5-B888-E657BBF999A1}"/>
              </a:ext>
            </a:extLst>
          </p:cNvPr>
          <p:cNvSpPr/>
          <p:nvPr/>
        </p:nvSpPr>
        <p:spPr>
          <a:xfrm>
            <a:off x="502920" y="457200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C4E80"/>
                </a:solidFill>
                <a:latin typeface="Aptos Display" pitchFamily="34" charset="0"/>
              </a:rPr>
              <a:t>Archivos JSON</a:t>
            </a:r>
            <a:endParaRPr lang="en-US" sz="2600" dirty="0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88BFD6DA-1111-16D5-BC94-4E44669E8E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7C260868-6161-62B4-981E-9226E2BAA4E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9066"/>
          <a:stretch>
            <a:fillRect/>
          </a:stretch>
        </p:blipFill>
        <p:spPr>
          <a:xfrm>
            <a:off x="1625447" y="866390"/>
            <a:ext cx="8204353" cy="5595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1954781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1C37F3-99F4-EA41-81D5-034DBCEA2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C07D119-463A-0469-434A-842B026AD0F9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1079AA3-85CA-09D4-D24E-4FB01F4F8031}"/>
              </a:ext>
            </a:extLst>
          </p:cNvPr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8669C3B-45D1-B0E0-23AD-F7910CF10DC6}"/>
              </a:ext>
            </a:extLst>
          </p:cNvPr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986763E-67FE-3160-2F31-685A9A5FF78D}"/>
              </a:ext>
            </a:extLst>
          </p:cNvPr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</a:t>
            </a:r>
            <a:endParaRPr lang="en-US" sz="75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7FFFBAC-E929-E716-1983-26D99EE0EBAD}"/>
              </a:ext>
            </a:extLst>
          </p:cNvPr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1</a:t>
            </a:r>
            <a:endParaRPr lang="en-US" sz="7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AB9D38A-361D-1745-8E6E-432EF5AE0E0B}"/>
              </a:ext>
            </a:extLst>
          </p:cNvPr>
          <p:cNvSpPr/>
          <p:nvPr/>
        </p:nvSpPr>
        <p:spPr>
          <a:xfrm>
            <a:off x="502920" y="457200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C4E80"/>
                </a:solidFill>
                <a:latin typeface="Aptos Display" pitchFamily="34" charset="0"/>
              </a:rPr>
              <a:t>Archivos JSON</a:t>
            </a:r>
            <a:endParaRPr lang="en-US" sz="2600" dirty="0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014E555D-796E-E7E7-EB4C-89ED761177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30B2046A-D8C9-15EB-DDEA-233FB8FED0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7498" y="960120"/>
            <a:ext cx="7297003" cy="5472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242832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BF821-AB4A-287F-CFD6-A063DA185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9F21C40-BDA7-8413-DA23-B31C3FA6155F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88C4161-33F4-43BB-085B-6471F2340A4E}"/>
              </a:ext>
            </a:extLst>
          </p:cNvPr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0EC9902-9A7F-B28A-9227-6EC56BFE1062}"/>
              </a:ext>
            </a:extLst>
          </p:cNvPr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D6BF453-3F79-D796-EB9A-F793C6B6A0DA}"/>
              </a:ext>
            </a:extLst>
          </p:cNvPr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</a:t>
            </a:r>
            <a:endParaRPr lang="en-US" sz="75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61D5533-4403-8870-EE7A-8BA2120D63BC}"/>
              </a:ext>
            </a:extLst>
          </p:cNvPr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1</a:t>
            </a:r>
            <a:endParaRPr lang="en-US" sz="7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3A2699A-E961-D472-02B2-74C98E0A1A06}"/>
              </a:ext>
            </a:extLst>
          </p:cNvPr>
          <p:cNvSpPr/>
          <p:nvPr/>
        </p:nvSpPr>
        <p:spPr>
          <a:xfrm>
            <a:off x="502920" y="457200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C4E80"/>
                </a:solidFill>
                <a:latin typeface="Aptos Display" pitchFamily="34" charset="0"/>
              </a:rPr>
              <a:t>Archivos JSON</a:t>
            </a:r>
            <a:endParaRPr lang="en-US" sz="2600" dirty="0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2EE5C8F8-3CEC-5B7D-0710-A43DCA0BE0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3893A1E8-F3D4-0A96-5F82-D3CF886766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4293" y="960120"/>
            <a:ext cx="7203107" cy="5402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66183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108</a:t>
            </a:r>
            <a:endParaRPr lang="en-US" sz="750"/>
          </a:p>
        </p:txBody>
      </p:sp>
      <p:sp>
        <p:nvSpPr>
          <p:cNvPr id="6" name="Text 4"/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7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457200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 err="1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Estructura</a:t>
            </a:r>
            <a:r>
              <a:rPr lang="en-US" sz="2600" b="1" dirty="0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600" b="1" dirty="0" err="1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recomendada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85800" y="1097280"/>
            <a:ext cx="107899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 err="1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Carpetas</a:t>
            </a:r>
            <a:r>
              <a:rPr lang="en-US" sz="16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del proyecto.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1645920"/>
            <a:ext cx="10927080" cy="4434840"/>
          </a:xfrm>
          <a:prstGeom prst="roundRect">
            <a:avLst>
              <a:gd name="adj" fmla="val 1649"/>
            </a:avLst>
          </a:prstGeom>
          <a:solidFill>
            <a:srgbClr val="F8FAFC"/>
          </a:solidFill>
          <a:ln w="1397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868680" y="1810512"/>
            <a:ext cx="10469880" cy="4105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0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asistente_academico_docente</a:t>
            </a:r>
            <a:r>
              <a:rPr lang="en-US" sz="16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main.py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README.md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data/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estudiantes.csv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notas.csv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</a:t>
            </a:r>
            <a:r>
              <a:rPr lang="en-US" sz="160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reportes</a:t>
            </a:r>
            <a:r>
              <a:rPr lang="en-US" sz="16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</a:t>
            </a:r>
            <a:r>
              <a:rPr lang="en-US" sz="160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</a:t>
            </a:r>
            <a:r>
              <a:rPr lang="en-US" sz="16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estudiantes.py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notas.py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validaciones.py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└── reportes.py</a:t>
            </a:r>
            <a:endParaRPr lang="en-US" sz="1600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C35B3314-591F-2B40-EEEA-FFB318F01F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109</a:t>
            </a:r>
            <a:endParaRPr lang="en-US" sz="750"/>
          </a:p>
        </p:txBody>
      </p:sp>
      <p:sp>
        <p:nvSpPr>
          <p:cNvPr id="6" name="Text 4"/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7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457200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600" b="1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Módulo propio</a:t>
            </a:r>
            <a:endParaRPr lang="en-US" sz="2600"/>
          </a:p>
        </p:txBody>
      </p:sp>
      <p:sp>
        <p:nvSpPr>
          <p:cNvPr id="8" name="Text 6"/>
          <p:cNvSpPr/>
          <p:nvPr/>
        </p:nvSpPr>
        <p:spPr>
          <a:xfrm>
            <a:off x="685800" y="1097280"/>
            <a:ext cx="107899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Archivo: operaciones.py</a:t>
            </a:r>
            <a:endParaRPr lang="en-US" sz="1600"/>
          </a:p>
        </p:txBody>
      </p:sp>
      <p:sp>
        <p:nvSpPr>
          <p:cNvPr id="9" name="Shape 7"/>
          <p:cNvSpPr/>
          <p:nvPr/>
        </p:nvSpPr>
        <p:spPr>
          <a:xfrm>
            <a:off x="640080" y="1645920"/>
            <a:ext cx="10927080" cy="4434840"/>
          </a:xfrm>
          <a:prstGeom prst="roundRect">
            <a:avLst>
              <a:gd name="adj" fmla="val 1649"/>
            </a:avLst>
          </a:prstGeom>
          <a:solidFill>
            <a:srgbClr val="F8FAFC"/>
          </a:solidFill>
          <a:ln w="1397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868680" y="1810512"/>
            <a:ext cx="10469880" cy="4105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7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promedio(valores):</a:t>
            </a:r>
            <a:endParaRPr lang="en-US" sz="1700"/>
          </a:p>
          <a:p>
            <a:pPr marL="0" indent="0">
              <a:buNone/>
            </a:pPr>
            <a:r>
              <a:rPr lang="en-US" sz="17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sum(valores) / len(valores) if valores else 0</a:t>
            </a:r>
            <a:endParaRPr lang="en-US" sz="1700"/>
          </a:p>
          <a:p>
            <a:pPr marL="0" indent="0">
              <a:buNone/>
            </a:pPr>
            <a:endParaRPr lang="en-US" sz="1700"/>
          </a:p>
          <a:p>
            <a:pPr marL="0" indent="0">
              <a:buNone/>
            </a:pPr>
            <a:r>
              <a:rPr lang="en-US" sz="17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clasificar_nota(nota):</a:t>
            </a:r>
            <a:endParaRPr lang="en-US" sz="1700"/>
          </a:p>
          <a:p>
            <a:pPr marL="0" indent="0">
              <a:buNone/>
            </a:pPr>
            <a:r>
              <a:rPr lang="en-US" sz="17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nota &gt;= 9:</a:t>
            </a:r>
            <a:endParaRPr lang="en-US" sz="1700"/>
          </a:p>
          <a:p>
            <a:pPr marL="0" indent="0">
              <a:buNone/>
            </a:pPr>
            <a:r>
              <a:rPr lang="en-US" sz="17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"Excelente"</a:t>
            </a:r>
            <a:endParaRPr lang="en-US" sz="1700"/>
          </a:p>
          <a:p>
            <a:pPr marL="0" indent="0">
              <a:buNone/>
            </a:pPr>
            <a:r>
              <a:rPr lang="en-US" sz="17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nota &gt;= 7:</a:t>
            </a:r>
            <a:endParaRPr lang="en-US" sz="1700"/>
          </a:p>
          <a:p>
            <a:pPr marL="0" indent="0">
              <a:buNone/>
            </a:pPr>
            <a:r>
              <a:rPr lang="en-US" sz="17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"Aprobado"</a:t>
            </a:r>
            <a:endParaRPr lang="en-US" sz="1700"/>
          </a:p>
          <a:p>
            <a:pPr marL="0" indent="0">
              <a:buNone/>
            </a:pPr>
            <a:r>
              <a:rPr lang="en-US" sz="17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"Revisar"</a:t>
            </a:r>
            <a:endParaRPr lang="en-US" sz="170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4BB6A9D2-85B0-0D52-0FAE-18169EFC86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110</a:t>
            </a:r>
            <a:endParaRPr lang="en-US" sz="750"/>
          </a:p>
        </p:txBody>
      </p:sp>
      <p:sp>
        <p:nvSpPr>
          <p:cNvPr id="6" name="Text 4"/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7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457200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 err="1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Importar</a:t>
            </a:r>
            <a:r>
              <a:rPr lang="en-US" sz="2600" b="1" dirty="0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600" b="1" dirty="0" err="1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funciones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85800" y="1097280"/>
            <a:ext cx="107899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Archivo: main.py</a:t>
            </a:r>
            <a:endParaRPr lang="en-US" sz="1600"/>
          </a:p>
        </p:txBody>
      </p:sp>
      <p:sp>
        <p:nvSpPr>
          <p:cNvPr id="9" name="Shape 7"/>
          <p:cNvSpPr/>
          <p:nvPr/>
        </p:nvSpPr>
        <p:spPr>
          <a:xfrm>
            <a:off x="640080" y="1645920"/>
            <a:ext cx="10927080" cy="4434840"/>
          </a:xfrm>
          <a:prstGeom prst="roundRect">
            <a:avLst>
              <a:gd name="adj" fmla="val 1649"/>
            </a:avLst>
          </a:prstGeom>
          <a:solidFill>
            <a:srgbClr val="F8FAFC"/>
          </a:solidFill>
          <a:ln w="1397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868680" y="1810512"/>
            <a:ext cx="10469880" cy="4105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9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operaciones import promedio, clasificar_nota</a:t>
            </a:r>
            <a:endParaRPr lang="en-US" sz="1900"/>
          </a:p>
          <a:p>
            <a:pPr marL="0" indent="0">
              <a:buNone/>
            </a:pPr>
            <a:endParaRPr lang="en-US" sz="1900"/>
          </a:p>
          <a:p>
            <a:pPr marL="0" indent="0">
              <a:buNone/>
            </a:pPr>
            <a:r>
              <a:rPr lang="en-US" sz="19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notas = [8.5, 9.2, 7.8]</a:t>
            </a:r>
            <a:endParaRPr lang="en-US" sz="1900"/>
          </a:p>
          <a:p>
            <a:pPr marL="0" indent="0">
              <a:buNone/>
            </a:pPr>
            <a:r>
              <a:rPr lang="en-US" sz="19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= promedio(notas)</a:t>
            </a:r>
            <a:endParaRPr lang="en-US" sz="1900"/>
          </a:p>
          <a:p>
            <a:pPr marL="0" indent="0">
              <a:buNone/>
            </a:pPr>
            <a:endParaRPr lang="en-US" sz="1900"/>
          </a:p>
          <a:p>
            <a:pPr marL="0" indent="0">
              <a:buNone/>
            </a:pPr>
            <a:r>
              <a:rPr lang="en-US" sz="19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print(p)</a:t>
            </a:r>
            <a:endParaRPr lang="en-US" sz="1900"/>
          </a:p>
          <a:p>
            <a:pPr marL="0" indent="0">
              <a:buNone/>
            </a:pPr>
            <a:r>
              <a:rPr lang="en-US" sz="19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print(clasificar_nota(p))</a:t>
            </a:r>
            <a:endParaRPr lang="en-US" sz="190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E53D80C9-4311-06B5-ADF8-9F12AA9D91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111</a:t>
            </a:r>
            <a:endParaRPr lang="en-US" sz="750"/>
          </a:p>
        </p:txBody>
      </p:sp>
      <p:sp>
        <p:nvSpPr>
          <p:cNvPr id="6" name="Text 4"/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7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457200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Entorno virtual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85800" y="1097280"/>
            <a:ext cx="107899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 err="1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Aislar</a:t>
            </a:r>
            <a:r>
              <a:rPr lang="en-US" sz="16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600" dirty="0" err="1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dependencias</a:t>
            </a:r>
            <a:r>
              <a:rPr lang="en-US" sz="16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del proyecto.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1645920"/>
            <a:ext cx="10927080" cy="4434840"/>
          </a:xfrm>
          <a:prstGeom prst="roundRect">
            <a:avLst>
              <a:gd name="adj" fmla="val 1649"/>
            </a:avLst>
          </a:prstGeom>
          <a:solidFill>
            <a:srgbClr val="F8FAFC"/>
          </a:solidFill>
          <a:ln w="1397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868680" y="1810512"/>
            <a:ext cx="10469880" cy="4105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7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venv .venv</a:t>
            </a:r>
            <a:endParaRPr lang="en-US" sz="1700"/>
          </a:p>
          <a:p>
            <a:pPr marL="0" indent="0">
              <a:buNone/>
            </a:pPr>
            <a:endParaRPr lang="en-US" sz="1700"/>
          </a:p>
          <a:p>
            <a:pPr marL="0" indent="0">
              <a:buNone/>
            </a:pPr>
            <a:r>
              <a:rPr lang="en-US" sz="17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Windows</a:t>
            </a:r>
            <a:endParaRPr lang="en-US" sz="1700"/>
          </a:p>
          <a:p>
            <a:pPr marL="0" indent="0">
              <a:buNone/>
            </a:pPr>
            <a:r>
              <a:rPr lang="en-US" sz="17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.venv\Scripts\activate</a:t>
            </a:r>
            <a:endParaRPr lang="en-US" sz="1700"/>
          </a:p>
          <a:p>
            <a:pPr marL="0" indent="0">
              <a:buNone/>
            </a:pPr>
            <a:endParaRPr lang="en-US" sz="1700"/>
          </a:p>
          <a:p>
            <a:pPr marL="0" indent="0">
              <a:buNone/>
            </a:pPr>
            <a:r>
              <a:rPr lang="en-US" sz="17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Linux/macOS</a:t>
            </a:r>
            <a:endParaRPr lang="en-US" sz="1700"/>
          </a:p>
          <a:p>
            <a:pPr marL="0" indent="0">
              <a:buNone/>
            </a:pPr>
            <a:r>
              <a:rPr lang="en-US" sz="17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 .venv/bin/activate</a:t>
            </a:r>
            <a:endParaRPr lang="en-US" sz="1700"/>
          </a:p>
          <a:p>
            <a:pPr marL="0" indent="0">
              <a:buNone/>
            </a:pPr>
            <a:endParaRPr lang="en-US" sz="1700"/>
          </a:p>
          <a:p>
            <a:pPr marL="0" indent="0">
              <a:buNone/>
            </a:pPr>
            <a:r>
              <a:rPr lang="en-US" sz="17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pip install pandas</a:t>
            </a:r>
            <a:endParaRPr lang="en-US" sz="1700"/>
          </a:p>
          <a:p>
            <a:pPr marL="0" indent="0">
              <a:buNone/>
            </a:pPr>
            <a:r>
              <a:rPr lang="en-US" sz="17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pip freeze &gt; requirements.txt</a:t>
            </a:r>
            <a:endParaRPr lang="en-US" sz="170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F8E76725-0B39-D58E-CB47-1526BFDD34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112</a:t>
            </a:r>
            <a:endParaRPr lang="en-US" sz="750"/>
          </a:p>
        </p:txBody>
      </p:sp>
      <p:sp>
        <p:nvSpPr>
          <p:cNvPr id="6" name="Text 4"/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7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502920"/>
            <a:ext cx="110642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pip y requirements.txt</a:t>
            </a:r>
            <a:endParaRPr lang="en-US" sz="2800"/>
          </a:p>
        </p:txBody>
      </p:sp>
      <p:sp>
        <p:nvSpPr>
          <p:cNvPr id="8" name="Text 6"/>
          <p:cNvSpPr/>
          <p:nvPr/>
        </p:nvSpPr>
        <p:spPr>
          <a:xfrm>
            <a:off x="777240" y="1325880"/>
            <a:ext cx="10515600" cy="4800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pip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instala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bibliotecas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requirements.txt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registra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dependencias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Permite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reproducir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el proyecto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otra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máquina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Evita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instalar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paquetes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sin control.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Es una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práctica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profesional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desde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cursos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iniciales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EC41B658-B976-D6FD-7D93-077E167820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113</a:t>
            </a:r>
            <a:endParaRPr lang="en-US" sz="750"/>
          </a:p>
        </p:txBody>
      </p:sp>
      <p:sp>
        <p:nvSpPr>
          <p:cNvPr id="6" name="Text 4"/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7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457200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600" b="1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Leer CSV</a:t>
            </a:r>
            <a:endParaRPr lang="en-US" sz="2600"/>
          </a:p>
        </p:txBody>
      </p:sp>
      <p:sp>
        <p:nvSpPr>
          <p:cNvPr id="8" name="Text 6"/>
          <p:cNvSpPr/>
          <p:nvPr/>
        </p:nvSpPr>
        <p:spPr>
          <a:xfrm>
            <a:off x="685800" y="1097280"/>
            <a:ext cx="107899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Archivo con estudiantes y promedios.</a:t>
            </a:r>
            <a:endParaRPr lang="en-US" sz="1600"/>
          </a:p>
        </p:txBody>
      </p:sp>
      <p:sp>
        <p:nvSpPr>
          <p:cNvPr id="9" name="Shape 7"/>
          <p:cNvSpPr/>
          <p:nvPr/>
        </p:nvSpPr>
        <p:spPr>
          <a:xfrm>
            <a:off x="640080" y="1645920"/>
            <a:ext cx="10927080" cy="4434840"/>
          </a:xfrm>
          <a:prstGeom prst="roundRect">
            <a:avLst>
              <a:gd name="adj" fmla="val 1649"/>
            </a:avLst>
          </a:prstGeom>
          <a:solidFill>
            <a:srgbClr val="F8FAFC"/>
          </a:solidFill>
          <a:ln w="1397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868680" y="1810512"/>
            <a:ext cx="10469880" cy="4105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csv</a:t>
            </a:r>
            <a:endParaRPr lang="en-US" sz="1600"/>
          </a:p>
          <a:p>
            <a:pPr marL="0" indent="0">
              <a:buNone/>
            </a:pP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open("data/estudiantes.csv", newline="", encoding="utf-8") as archivo: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lector = csv.DictReader(archivo)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fila in lector: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nombre = fila["nombre"]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promedio = float(fila["promedio"])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print(nombre, promedio)</a:t>
            </a:r>
            <a:endParaRPr lang="en-US" sz="160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1CA1D911-FFEA-2F5F-5E97-A3D34C0159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114</a:t>
            </a:r>
            <a:endParaRPr lang="en-US" sz="750"/>
          </a:p>
        </p:txBody>
      </p:sp>
      <p:sp>
        <p:nvSpPr>
          <p:cNvPr id="6" name="Text 4"/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7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457200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600" b="1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Guardar JSON</a:t>
            </a:r>
            <a:endParaRPr lang="en-US" sz="2600"/>
          </a:p>
        </p:txBody>
      </p:sp>
      <p:sp>
        <p:nvSpPr>
          <p:cNvPr id="8" name="Text 6"/>
          <p:cNvSpPr/>
          <p:nvPr/>
        </p:nvSpPr>
        <p:spPr>
          <a:xfrm>
            <a:off x="685800" y="1097280"/>
            <a:ext cx="107899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 err="1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Útil</a:t>
            </a:r>
            <a:r>
              <a:rPr lang="en-US" sz="16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para </a:t>
            </a:r>
            <a:r>
              <a:rPr lang="en-US" sz="1600" dirty="0" err="1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configuración</a:t>
            </a:r>
            <a:r>
              <a:rPr lang="en-US" sz="16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o datos flexibles.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1645920"/>
            <a:ext cx="10927080" cy="4434840"/>
          </a:xfrm>
          <a:prstGeom prst="roundRect">
            <a:avLst>
              <a:gd name="adj" fmla="val 1649"/>
            </a:avLst>
          </a:prstGeom>
          <a:solidFill>
            <a:srgbClr val="F8FAFC"/>
          </a:solidFill>
          <a:ln w="1397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868680" y="1810512"/>
            <a:ext cx="10469880" cy="4105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</a:t>
            </a:r>
            <a:r>
              <a:rPr lang="en-US" sz="150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curso = {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</a:t>
            </a:r>
            <a:r>
              <a:rPr lang="en-US" sz="150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</a:t>
            </a:r>
            <a:r>
              <a:rPr lang="en-US" sz="15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": "Programación con Python",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</a:t>
            </a:r>
            <a:r>
              <a:rPr lang="en-US" sz="150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duracion_horas</a:t>
            </a:r>
            <a:r>
              <a:rPr lang="en-US" sz="15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": 40,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</a:t>
            </a:r>
            <a:r>
              <a:rPr lang="en-US" sz="150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participantes</a:t>
            </a:r>
            <a:r>
              <a:rPr lang="en-US" sz="15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": 10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open("</a:t>
            </a:r>
            <a:r>
              <a:rPr lang="en-US" sz="150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curso.json</a:t>
            </a:r>
            <a:r>
              <a:rPr lang="en-US" sz="15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", "w", encoding="utf-8") as </a:t>
            </a:r>
            <a:r>
              <a:rPr lang="en-US" sz="150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archivo</a:t>
            </a:r>
            <a:r>
              <a:rPr lang="en-US" sz="15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50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json.dump</a:t>
            </a:r>
            <a:r>
              <a:rPr lang="en-US" sz="15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(curso, </a:t>
            </a:r>
            <a:r>
              <a:rPr lang="en-US" sz="150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archivo</a:t>
            </a:r>
            <a:r>
              <a:rPr lang="en-US" sz="15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50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ensure_ascii</a:t>
            </a:r>
            <a:r>
              <a:rPr lang="en-US" sz="15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=False, indent=2)</a:t>
            </a:r>
            <a:endParaRPr lang="en-US" sz="1500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86798F6A-83D7-A696-ADA0-5E1500B26A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115</a:t>
            </a:r>
            <a:endParaRPr lang="en-US" sz="750"/>
          </a:p>
        </p:txBody>
      </p:sp>
      <p:sp>
        <p:nvSpPr>
          <p:cNvPr id="6" name="Text 4"/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7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457200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600" b="1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Leer JSON</a:t>
            </a:r>
            <a:endParaRPr lang="en-US" sz="2600"/>
          </a:p>
        </p:txBody>
      </p:sp>
      <p:sp>
        <p:nvSpPr>
          <p:cNvPr id="8" name="Text 6"/>
          <p:cNvSpPr/>
          <p:nvPr/>
        </p:nvSpPr>
        <p:spPr>
          <a:xfrm>
            <a:off x="685800" y="1097280"/>
            <a:ext cx="107899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 err="1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Recuperar</a:t>
            </a:r>
            <a:r>
              <a:rPr lang="en-US" sz="16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datos </a:t>
            </a:r>
            <a:r>
              <a:rPr lang="en-US" sz="1600" dirty="0" err="1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guardados</a:t>
            </a:r>
            <a:r>
              <a:rPr lang="en-US" sz="16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1645920"/>
            <a:ext cx="10927080" cy="4434840"/>
          </a:xfrm>
          <a:prstGeom prst="roundRect">
            <a:avLst>
              <a:gd name="adj" fmla="val 1649"/>
            </a:avLst>
          </a:prstGeom>
          <a:solidFill>
            <a:srgbClr val="F8FAFC"/>
          </a:solidFill>
          <a:ln w="1397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868680" y="1810512"/>
            <a:ext cx="10469880" cy="4105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</a:t>
            </a:r>
            <a:r>
              <a:rPr lang="en-US" sz="180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open("</a:t>
            </a:r>
            <a:r>
              <a:rPr lang="en-US" sz="180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curso.json</a:t>
            </a:r>
            <a:r>
              <a:rPr lang="en-US" sz="18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", encoding="utf-8") as </a:t>
            </a:r>
            <a:r>
              <a:rPr lang="en-US" sz="180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archivo</a:t>
            </a:r>
            <a:r>
              <a:rPr lang="en-US" sz="18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datos = </a:t>
            </a:r>
            <a:r>
              <a:rPr lang="en-US" sz="180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json.load</a:t>
            </a:r>
            <a:r>
              <a:rPr lang="en-US" sz="18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80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archivo</a:t>
            </a:r>
            <a:r>
              <a:rPr lang="en-US" sz="18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print(datos["</a:t>
            </a:r>
            <a:r>
              <a:rPr lang="en-US" sz="180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</a:t>
            </a:r>
            <a:r>
              <a:rPr lang="en-US" sz="18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"])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print(datos["</a:t>
            </a:r>
            <a:r>
              <a:rPr lang="en-US" sz="180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duracion_horas</a:t>
            </a:r>
            <a:r>
              <a:rPr lang="en-US" sz="18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"])</a:t>
            </a:r>
            <a:endParaRPr lang="en-US" sz="1800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465FF652-5AD6-A37F-468E-85B14AF10D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116</a:t>
            </a:r>
            <a:endParaRPr lang="en-US" sz="750"/>
          </a:p>
        </p:txBody>
      </p:sp>
      <p:sp>
        <p:nvSpPr>
          <p:cNvPr id="6" name="Text 4"/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7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502920"/>
            <a:ext cx="110642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Errores </a:t>
            </a:r>
            <a:r>
              <a:rPr lang="en-US" sz="2800" b="1" dirty="0" err="1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frecuentes</a:t>
            </a:r>
            <a:r>
              <a:rPr lang="en-US" sz="2800" b="1" dirty="0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del día 7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77240" y="1325880"/>
            <a:ext cx="10515600" cy="4800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Ruta de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archivo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incorrecta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CSV con nombres de columnas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distintos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Problemas de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codificación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Olvidar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activar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el entorno virtual.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Instalar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paquetes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otro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intérprete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C5063BF7-CB42-FACC-B053-01DA6B3F18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AA60CE-697E-282D-3413-2CE94A238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5E4657C-2226-04BF-B53F-17F1B7147564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F0F61F6-B627-5B78-0E86-EFBA653705E8}"/>
              </a:ext>
            </a:extLst>
          </p:cNvPr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356A508-70B8-6F37-2359-A2CB30E59E05}"/>
              </a:ext>
            </a:extLst>
          </p:cNvPr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80CFB64-3AFE-10DE-ACBE-27583467625E}"/>
              </a:ext>
            </a:extLst>
          </p:cNvPr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</a:t>
            </a:r>
            <a:endParaRPr lang="en-US" sz="75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C98A550-3897-EE61-3874-C332D5D4B23B}"/>
              </a:ext>
            </a:extLst>
          </p:cNvPr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1</a:t>
            </a:r>
            <a:endParaRPr lang="en-US" sz="7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9846BB2B-08B2-5FBA-1F31-EEE19A613810}"/>
              </a:ext>
            </a:extLst>
          </p:cNvPr>
          <p:cNvSpPr/>
          <p:nvPr/>
        </p:nvSpPr>
        <p:spPr>
          <a:xfrm>
            <a:off x="502920" y="457200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 err="1">
                <a:solidFill>
                  <a:srgbClr val="1C4E80"/>
                </a:solidFill>
                <a:latin typeface="Aptos Display" pitchFamily="34" charset="0"/>
              </a:rPr>
              <a:t>Preguntas</a:t>
            </a:r>
            <a:r>
              <a:rPr lang="en-US" sz="2600" b="1" dirty="0">
                <a:solidFill>
                  <a:srgbClr val="1C4E80"/>
                </a:solidFill>
                <a:latin typeface="Aptos Display" pitchFamily="34" charset="0"/>
              </a:rPr>
              <a:t> de la sesión 7</a:t>
            </a:r>
            <a:endParaRPr lang="en-US" sz="2600" dirty="0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8F1F82A7-788F-85B4-7F59-D7CF20A399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2CBAE92F-F268-BF6A-4588-89BB80B6AC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7523" y="1108923"/>
            <a:ext cx="7115033" cy="533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7925396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117</a:t>
            </a:r>
            <a:endParaRPr lang="en-US" sz="750"/>
          </a:p>
        </p:txBody>
      </p:sp>
      <p:sp>
        <p:nvSpPr>
          <p:cNvPr id="6" name="Text 4"/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7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502920"/>
            <a:ext cx="110642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Cierre de la sesión 7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77240" y="1325880"/>
            <a:ext cx="10515600" cy="4800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s-MX" sz="2000" dirty="0"/>
              <a:t>La idea más importante de esta clase es que programar profesionalmente no consiste solo en hacer que el código funcione. También consiste en organizarlo bien.</a:t>
            </a:r>
          </a:p>
          <a:p>
            <a:endParaRPr lang="es-MX" sz="2000" dirty="0"/>
          </a:p>
          <a:p>
            <a:r>
              <a:rPr lang="es-MX" sz="2000" dirty="0"/>
              <a:t>Un proyecto bien modularizado 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000" dirty="0"/>
              <a:t>Más fácil de leer.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000" dirty="0"/>
              <a:t>Más fácil de corregir.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000" dirty="0"/>
              <a:t>Más fácil de probar.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000" dirty="0"/>
              <a:t>Más fácil de ampliar.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000" dirty="0"/>
              <a:t>Permite reutilizar código.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000" dirty="0"/>
              <a:t>Se ve más profesional.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000" dirty="0"/>
              <a:t>Facilita el trabajo en equipo.</a:t>
            </a:r>
          </a:p>
          <a:p>
            <a:endParaRPr lang="es-MX" sz="2000" dirty="0"/>
          </a:p>
          <a:p>
            <a:endParaRPr lang="es-MX" sz="2000" dirty="0"/>
          </a:p>
          <a:p>
            <a:endParaRPr lang="en-US" sz="2000" dirty="0">
              <a:solidFill>
                <a:srgbClr val="0F172A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F5616CF8-0280-3C35-94A9-5AD9EF42AA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C72CF3-D16A-F0A6-D3FA-4A8499C174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29BDA3B-891C-E5C2-952F-0A5345E90C1A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6F2A1E4-8A1C-2636-7A88-6C8EFC533B9F}"/>
              </a:ext>
            </a:extLst>
          </p:cNvPr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3556DE9-151F-39F5-8BD7-E7B5DF495B2A}"/>
              </a:ext>
            </a:extLst>
          </p:cNvPr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EF5F973-AC58-605B-6601-952815135FCA}"/>
              </a:ext>
            </a:extLst>
          </p:cNvPr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117</a:t>
            </a:r>
            <a:endParaRPr lang="en-US" sz="75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EE5448E-6488-A3EA-7625-3E429DF91438}"/>
              </a:ext>
            </a:extLst>
          </p:cNvPr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7</a:t>
            </a:r>
            <a:endParaRPr lang="en-US" sz="7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D55CEA5C-00C1-4E04-4E31-DE2CA6EF95AF}"/>
              </a:ext>
            </a:extLst>
          </p:cNvPr>
          <p:cNvSpPr/>
          <p:nvPr/>
        </p:nvSpPr>
        <p:spPr>
          <a:xfrm>
            <a:off x="502920" y="502920"/>
            <a:ext cx="110642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Cierre de la sesión 7</a:t>
            </a:r>
            <a:endParaRPr lang="en-US" sz="28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74FCCA0E-15DE-BFFB-7226-11E6B70E0CA6}"/>
              </a:ext>
            </a:extLst>
          </p:cNvPr>
          <p:cNvSpPr/>
          <p:nvPr/>
        </p:nvSpPr>
        <p:spPr>
          <a:xfrm>
            <a:off x="777240" y="1325880"/>
            <a:ext cx="10515600" cy="4800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El proyecto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está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organizado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carpetas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Los datos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pueden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leerse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desde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archivos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El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puede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guardar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información.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El entorno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empieza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a ser reproducible.</a:t>
            </a:r>
            <a:endParaRPr lang="en-US" sz="2000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C034A93D-93B8-FA3E-3932-6110DA8845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127732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5166360"/>
            <a:ext cx="12191695" cy="169164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94360" y="64008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>
                <a:solidFill>
                  <a:srgbClr val="FFD4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08</a:t>
            </a:r>
            <a:endParaRPr lang="en-US" sz="580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1078992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Sesión 8: Bases de datos </a:t>
            </a:r>
            <a:r>
              <a:rPr lang="en-US" sz="4000" b="1" dirty="0" err="1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relacionales</a:t>
            </a: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y SQLite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3063240"/>
            <a:ext cx="987552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200" dirty="0" err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Comprender</a:t>
            </a:r>
            <a:r>
              <a:rPr lang="en-US" sz="2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SQL y </a:t>
            </a:r>
            <a:r>
              <a:rPr lang="en-US" sz="2200" dirty="0" err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conectar</a:t>
            </a:r>
            <a:r>
              <a:rPr lang="en-US" sz="2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Python con una base de datos.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5715000"/>
            <a:ext cx="7772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4E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Curso de Programación con Python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1201400" y="62910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1C4E80"/>
                </a:solidFill>
              </a:rPr>
              <a:t>118</a:t>
            </a:r>
            <a:endParaRPr lang="en-US" sz="80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77FA30C7-60E7-06B2-A97A-7A490929AE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0F623C-B925-97F8-E4F1-3289BC601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0B1BBA8-3A6E-B542-D08D-71E3F4ACC155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ED4622B-360B-2BBB-AFEC-5F55BEE871E2}"/>
              </a:ext>
            </a:extLst>
          </p:cNvPr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D73D365-E39E-002D-8947-4598011A0E49}"/>
              </a:ext>
            </a:extLst>
          </p:cNvPr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3E50849-D4F1-BA9A-C120-A03CC5142412}"/>
              </a:ext>
            </a:extLst>
          </p:cNvPr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122</a:t>
            </a:r>
            <a:endParaRPr lang="en-US" sz="75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2DFEBA8-0E1A-9AB9-75A2-FDABD0928FC3}"/>
              </a:ext>
            </a:extLst>
          </p:cNvPr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8</a:t>
            </a:r>
            <a:endParaRPr lang="en-US" sz="7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98CE3135-5CEA-F40D-4BA7-0024A1990FA6}"/>
              </a:ext>
            </a:extLst>
          </p:cNvPr>
          <p:cNvSpPr/>
          <p:nvPr/>
        </p:nvSpPr>
        <p:spPr>
          <a:xfrm>
            <a:off x="502920" y="502920"/>
            <a:ext cx="110642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C4E80"/>
                </a:solidFill>
                <a:latin typeface="Aptos Display" pitchFamily="34" charset="0"/>
              </a:rPr>
              <a:t>Bases de datos</a:t>
            </a:r>
            <a:endParaRPr lang="en-US" sz="2800" dirty="0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D071BB1D-9AB9-F4F6-29AD-1E429AC1F7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9714" y="1092132"/>
            <a:ext cx="7310651" cy="5482988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084AA7A2-2758-7ADD-6FCA-904F130B2A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7223607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49B97A-DCEE-BC51-4A2C-68D2879CB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82BCC1F-5A2C-9623-A9A8-06E124F37AA4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97B4F26-C48C-47AC-482C-ADE0F388D96F}"/>
              </a:ext>
            </a:extLst>
          </p:cNvPr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FC9DEB5-2520-5400-B22F-42732D69E312}"/>
              </a:ext>
            </a:extLst>
          </p:cNvPr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CABCB8A-4D9C-6D50-D205-360AAFBA2282}"/>
              </a:ext>
            </a:extLst>
          </p:cNvPr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122</a:t>
            </a:r>
            <a:endParaRPr lang="en-US" sz="75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42368BC-372C-3E34-4696-91BD0EAC514C}"/>
              </a:ext>
            </a:extLst>
          </p:cNvPr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8</a:t>
            </a:r>
            <a:endParaRPr lang="en-US" sz="7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BE15648-3006-F30D-8A5B-3591C6B7FB1F}"/>
              </a:ext>
            </a:extLst>
          </p:cNvPr>
          <p:cNvSpPr/>
          <p:nvPr/>
        </p:nvSpPr>
        <p:spPr>
          <a:xfrm>
            <a:off x="502920" y="502920"/>
            <a:ext cx="110642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1C4E80"/>
                </a:solidFill>
                <a:latin typeface="Aptos Display" pitchFamily="34" charset="0"/>
              </a:rPr>
              <a:t>Persistir</a:t>
            </a:r>
            <a:r>
              <a:rPr lang="en-US" sz="2800" b="1" dirty="0">
                <a:solidFill>
                  <a:srgbClr val="1C4E80"/>
                </a:solidFill>
                <a:latin typeface="Aptos Display" pitchFamily="34" charset="0"/>
              </a:rPr>
              <a:t> datos</a:t>
            </a:r>
            <a:endParaRPr lang="en-US" sz="2800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81184709-1444-B925-71DD-D50845F066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7A0B571C-F630-0630-5B6F-ED404A0CBD2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496" b="21698"/>
          <a:stretch>
            <a:fillRect/>
          </a:stretch>
        </p:blipFill>
        <p:spPr>
          <a:xfrm>
            <a:off x="1463039" y="1097280"/>
            <a:ext cx="9498427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469029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BB3B77-C2B2-C3AD-0707-606552655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C782D77-761A-7FF0-A86A-122D4CF40ED5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E6671DB-CF0B-00B5-ECA6-A998920E58CE}"/>
              </a:ext>
            </a:extLst>
          </p:cNvPr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0BD7FB8-D298-212D-EC27-C973B49F136B}"/>
              </a:ext>
            </a:extLst>
          </p:cNvPr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FF08485-C6C4-C417-0A60-482F3A7CE39E}"/>
              </a:ext>
            </a:extLst>
          </p:cNvPr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122</a:t>
            </a:r>
            <a:endParaRPr lang="en-US" sz="75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D6E70A9-8347-245D-7F27-FB767BC304E1}"/>
              </a:ext>
            </a:extLst>
          </p:cNvPr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8</a:t>
            </a:r>
            <a:endParaRPr lang="en-US" sz="7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2BB4B5D-17CF-1F03-E488-31F02B2FDC4E}"/>
              </a:ext>
            </a:extLst>
          </p:cNvPr>
          <p:cNvSpPr/>
          <p:nvPr/>
        </p:nvSpPr>
        <p:spPr>
          <a:xfrm>
            <a:off x="502920" y="502920"/>
            <a:ext cx="110642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C4E80"/>
                </a:solidFill>
                <a:latin typeface="Aptos Display" pitchFamily="34" charset="0"/>
              </a:rPr>
              <a:t>¿</a:t>
            </a:r>
            <a:r>
              <a:rPr lang="en-US" sz="2800" b="1" dirty="0" err="1">
                <a:solidFill>
                  <a:srgbClr val="1C4E80"/>
                </a:solidFill>
                <a:latin typeface="Aptos Display" pitchFamily="34" charset="0"/>
              </a:rPr>
              <a:t>Qué</a:t>
            </a:r>
            <a:r>
              <a:rPr lang="en-US" sz="2800" b="1" dirty="0">
                <a:solidFill>
                  <a:srgbClr val="1C4E80"/>
                </a:solidFill>
                <a:latin typeface="Aptos Display" pitchFamily="34" charset="0"/>
              </a:rPr>
              <a:t> es una base de datos </a:t>
            </a:r>
            <a:r>
              <a:rPr lang="en-US" sz="2800" b="1" dirty="0" err="1">
                <a:solidFill>
                  <a:srgbClr val="1C4E80"/>
                </a:solidFill>
                <a:latin typeface="Aptos Display" pitchFamily="34" charset="0"/>
              </a:rPr>
              <a:t>relacional</a:t>
            </a:r>
            <a:r>
              <a:rPr lang="en-US" sz="2800" b="1" dirty="0">
                <a:solidFill>
                  <a:srgbClr val="1C4E80"/>
                </a:solidFill>
                <a:latin typeface="Aptos Display" pitchFamily="34" charset="0"/>
              </a:rPr>
              <a:t>?</a:t>
            </a:r>
            <a:endParaRPr lang="en-US" sz="2800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CA83E8BC-BAC6-F14B-28B7-78F95E603B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  <p:grpSp>
        <p:nvGrpSpPr>
          <p:cNvPr id="10" name="Grupo 9">
            <a:extLst>
              <a:ext uri="{FF2B5EF4-FFF2-40B4-BE49-F238E27FC236}">
                <a16:creationId xmlns:a16="http://schemas.microsoft.com/office/drawing/2014/main" id="{9D7224E9-C28C-5B17-D4E3-3B5C51CEB00D}"/>
              </a:ext>
            </a:extLst>
          </p:cNvPr>
          <p:cNvGrpSpPr/>
          <p:nvPr/>
        </p:nvGrpSpPr>
        <p:grpSpPr>
          <a:xfrm>
            <a:off x="2518921" y="1097280"/>
            <a:ext cx="7154157" cy="5365618"/>
            <a:chOff x="2518921" y="1097280"/>
            <a:chExt cx="7154157" cy="5365618"/>
          </a:xfrm>
        </p:grpSpPr>
        <p:pic>
          <p:nvPicPr>
            <p:cNvPr id="9" name="Imagen 8">
              <a:extLst>
                <a:ext uri="{FF2B5EF4-FFF2-40B4-BE49-F238E27FC236}">
                  <a16:creationId xmlns:a16="http://schemas.microsoft.com/office/drawing/2014/main" id="{DD37A698-1F64-74D6-142B-41F5E4B9A0E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518921" y="1097280"/>
              <a:ext cx="7154157" cy="5365618"/>
            </a:xfrm>
            <a:prstGeom prst="rect">
              <a:avLst/>
            </a:prstGeom>
          </p:spPr>
        </p:pic>
        <p:sp>
          <p:nvSpPr>
            <p:cNvPr id="8" name="Rectángulo 7">
              <a:extLst>
                <a:ext uri="{FF2B5EF4-FFF2-40B4-BE49-F238E27FC236}">
                  <a16:creationId xmlns:a16="http://schemas.microsoft.com/office/drawing/2014/main" id="{A75297AE-56EA-988E-1771-BD921E64B2E3}"/>
                </a:ext>
              </a:extLst>
            </p:cNvPr>
            <p:cNvSpPr/>
            <p:nvPr/>
          </p:nvSpPr>
          <p:spPr>
            <a:xfrm>
              <a:off x="7931164" y="2737924"/>
              <a:ext cx="1494190" cy="310394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sz="1100" dirty="0">
                  <a:solidFill>
                    <a:schemeClr val="accent1">
                      <a:lumMod val="75000"/>
                    </a:schemeClr>
                  </a:solidFill>
                </a:rPr>
                <a:t>Correo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00788444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7EC7A9-BA14-7F5B-2E5A-14322F552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A31D91E-06FC-095B-0213-3A8F5A930A04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C7FE16D-AB15-CAE8-A1F0-9E1CC7AA12AB}"/>
              </a:ext>
            </a:extLst>
          </p:cNvPr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D53AA5F-285C-B2F3-DE6C-724E152C23DB}"/>
              </a:ext>
            </a:extLst>
          </p:cNvPr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A16B146-2296-9A60-8542-2D2435E538D3}"/>
              </a:ext>
            </a:extLst>
          </p:cNvPr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122</a:t>
            </a:r>
            <a:endParaRPr lang="en-US" sz="75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0057FA2-D50B-6C5F-73AC-76DA591134EE}"/>
              </a:ext>
            </a:extLst>
          </p:cNvPr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8</a:t>
            </a:r>
            <a:endParaRPr lang="en-US" sz="7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DC145952-C40A-A57B-04D0-A203A29E1006}"/>
              </a:ext>
            </a:extLst>
          </p:cNvPr>
          <p:cNvSpPr/>
          <p:nvPr/>
        </p:nvSpPr>
        <p:spPr>
          <a:xfrm>
            <a:off x="502920" y="502920"/>
            <a:ext cx="110642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C4E80"/>
                </a:solidFill>
                <a:latin typeface="Aptos Display" pitchFamily="34" charset="0"/>
              </a:rPr>
              <a:t>¿</a:t>
            </a:r>
            <a:r>
              <a:rPr lang="en-US" sz="2800" b="1" dirty="0" err="1">
                <a:solidFill>
                  <a:srgbClr val="1C4E80"/>
                </a:solidFill>
                <a:latin typeface="Aptos Display" pitchFamily="34" charset="0"/>
              </a:rPr>
              <a:t>Qué</a:t>
            </a:r>
            <a:r>
              <a:rPr lang="en-US" sz="2800" b="1" dirty="0">
                <a:solidFill>
                  <a:srgbClr val="1C4E80"/>
                </a:solidFill>
                <a:latin typeface="Aptos Display" pitchFamily="34" charset="0"/>
              </a:rPr>
              <a:t> es una base de datos NO </a:t>
            </a:r>
            <a:r>
              <a:rPr lang="en-US" sz="2800" b="1" dirty="0" err="1">
                <a:solidFill>
                  <a:srgbClr val="1C4E80"/>
                </a:solidFill>
                <a:latin typeface="Aptos Display" pitchFamily="34" charset="0"/>
              </a:rPr>
              <a:t>relacional</a:t>
            </a:r>
            <a:r>
              <a:rPr lang="en-US" sz="2800" b="1" dirty="0">
                <a:solidFill>
                  <a:srgbClr val="1C4E80"/>
                </a:solidFill>
                <a:latin typeface="Aptos Display" pitchFamily="34" charset="0"/>
              </a:rPr>
              <a:t>?</a:t>
            </a:r>
            <a:endParaRPr lang="en-US" sz="2800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67CE335C-9A5D-ED56-DB11-2E9F101A49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7A6D95AB-E483-24E6-843C-34086A53966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811" t="9552" r="2786" b="2401"/>
          <a:stretch>
            <a:fillRect/>
          </a:stretch>
        </p:blipFill>
        <p:spPr>
          <a:xfrm>
            <a:off x="2240962" y="1103690"/>
            <a:ext cx="7394357" cy="5461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0534257"/>
      </p:ext>
    </p:extLst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46A67A-059B-3038-8EFB-844DDD3F8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08B7284-E48B-1AA6-9D0E-BF9918DEFFF9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7D0D960-37DB-FA2F-DE09-52FC5D648D37}"/>
              </a:ext>
            </a:extLst>
          </p:cNvPr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4C8FFA5-6052-3BE8-F70D-12691F8509D7}"/>
              </a:ext>
            </a:extLst>
          </p:cNvPr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C07F45D-70E1-0BE7-B9E0-FF0739D845F5}"/>
              </a:ext>
            </a:extLst>
          </p:cNvPr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122</a:t>
            </a:r>
            <a:endParaRPr lang="en-US" sz="75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930484C-B490-23A1-F379-33B3051CFEC1}"/>
              </a:ext>
            </a:extLst>
          </p:cNvPr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8</a:t>
            </a:r>
            <a:endParaRPr lang="en-US" sz="7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93E39EB1-8F95-16A5-7CF6-2A99CF9B2E5F}"/>
              </a:ext>
            </a:extLst>
          </p:cNvPr>
          <p:cNvSpPr/>
          <p:nvPr/>
        </p:nvSpPr>
        <p:spPr>
          <a:xfrm>
            <a:off x="502920" y="502920"/>
            <a:ext cx="110642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1C4E80"/>
                </a:solidFill>
                <a:latin typeface="Aptos Display" pitchFamily="34" charset="0"/>
              </a:rPr>
              <a:t>Comparativa</a:t>
            </a:r>
            <a:r>
              <a:rPr lang="en-US" sz="2800" b="1" dirty="0">
                <a:solidFill>
                  <a:srgbClr val="1C4E80"/>
                </a:solidFill>
                <a:latin typeface="Aptos Display" pitchFamily="34" charset="0"/>
              </a:rPr>
              <a:t> entre ambas </a:t>
            </a:r>
            <a:r>
              <a:rPr lang="en-US" sz="2800" b="1" dirty="0" err="1">
                <a:solidFill>
                  <a:srgbClr val="1C4E80"/>
                </a:solidFill>
                <a:latin typeface="Aptos Display" pitchFamily="34" charset="0"/>
              </a:rPr>
              <a:t>estructuras</a:t>
            </a:r>
            <a:endParaRPr lang="en-US" sz="2800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D55F62CD-0F71-89DD-C61A-1E181E0FAC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F2E1776A-F76C-A0C7-EE2F-36B25111D9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6764" y="1196227"/>
            <a:ext cx="6878471" cy="5158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346527"/>
      </p:ext>
    </p:extLst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6BD528-AE1F-81E3-3C0C-777E53D39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5405FDA-EFBE-B17E-36BA-069D160C2A10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20AA56B-04B8-10D9-0A5C-5B09373A95DB}"/>
              </a:ext>
            </a:extLst>
          </p:cNvPr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98E513C-3949-6BCB-4947-AAA7E95004D8}"/>
              </a:ext>
            </a:extLst>
          </p:cNvPr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195B15F-67E6-CB59-8B88-7AF523ECAF66}"/>
              </a:ext>
            </a:extLst>
          </p:cNvPr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122</a:t>
            </a:r>
            <a:endParaRPr lang="en-US" sz="75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31680C7-F97E-64DB-A3F7-53851D760C8A}"/>
              </a:ext>
            </a:extLst>
          </p:cNvPr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8</a:t>
            </a:r>
            <a:endParaRPr lang="en-US" sz="7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479729F-1F13-D909-8DC0-2FE4952E1EBE}"/>
              </a:ext>
            </a:extLst>
          </p:cNvPr>
          <p:cNvSpPr/>
          <p:nvPr/>
        </p:nvSpPr>
        <p:spPr>
          <a:xfrm>
            <a:off x="502920" y="502920"/>
            <a:ext cx="110642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C4E80"/>
                </a:solidFill>
                <a:latin typeface="Aptos Display" pitchFamily="34" charset="0"/>
              </a:rPr>
              <a:t>SQLite</a:t>
            </a:r>
            <a:endParaRPr lang="en-US" sz="2800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18E56890-9D7D-1C7B-0E99-D81930CBDE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B84E936E-9262-7276-214E-A577519F48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8467" y="1091821"/>
            <a:ext cx="7033146" cy="5274860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1FDEE523-6AE3-8E2F-91D8-0B0D4D79E8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51613" y="5249110"/>
            <a:ext cx="2557917" cy="1211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882372"/>
      </p:ext>
    </p:extLst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0359BA-5530-3E62-B7F9-54DE2D252A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82F013D-97F1-2900-7C45-A74A3B47582D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85CBF7D-AEEF-7A00-BAE8-01C82AC21939}"/>
              </a:ext>
            </a:extLst>
          </p:cNvPr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E201227-224D-04C5-44F1-CB431BF99BF3}"/>
              </a:ext>
            </a:extLst>
          </p:cNvPr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1C9AC26-FC30-6F4F-D7A8-C2AA84905EDB}"/>
              </a:ext>
            </a:extLst>
          </p:cNvPr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122</a:t>
            </a:r>
            <a:endParaRPr lang="en-US" sz="75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1B6CA5A-D26C-8033-1870-0812AA849860}"/>
              </a:ext>
            </a:extLst>
          </p:cNvPr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8</a:t>
            </a:r>
            <a:endParaRPr lang="en-US" sz="7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97B396B-2474-F15D-E49F-D2A84C288B94}"/>
              </a:ext>
            </a:extLst>
          </p:cNvPr>
          <p:cNvSpPr/>
          <p:nvPr/>
        </p:nvSpPr>
        <p:spPr>
          <a:xfrm>
            <a:off x="502920" y="502920"/>
            <a:ext cx="110642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C4E80"/>
                </a:solidFill>
                <a:latin typeface="Aptos Display" pitchFamily="34" charset="0"/>
              </a:rPr>
              <a:t>PostgreSQL</a:t>
            </a:r>
            <a:endParaRPr lang="en-US" sz="2800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1A7DE69F-ED79-9B87-2E4E-415676AF5A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09F6BE92-800A-86E7-EF55-EFF00A21AAC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628" t="11346" r="12218" b="18438"/>
          <a:stretch>
            <a:fillRect/>
          </a:stretch>
        </p:blipFill>
        <p:spPr>
          <a:xfrm>
            <a:off x="10263116" y="4503761"/>
            <a:ext cx="1746914" cy="1569493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68402A35-D2AA-7DA8-C417-19A94AD7A13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000" t="13348" r="3982" b="8198"/>
          <a:stretch>
            <a:fillRect/>
          </a:stretch>
        </p:blipFill>
        <p:spPr>
          <a:xfrm>
            <a:off x="2047164" y="1097280"/>
            <a:ext cx="8065827" cy="5214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6047620"/>
      </p:ext>
    </p:extLst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C60D24-4D90-38E0-868C-005D5B09C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060B81B-EC63-418C-45AD-4DE06626872A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0DF78CD-CB4F-2E08-2390-D359A19E54A3}"/>
              </a:ext>
            </a:extLst>
          </p:cNvPr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C548DC2-8EE4-16A9-5323-22CEFF7B2AF3}"/>
              </a:ext>
            </a:extLst>
          </p:cNvPr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3E75025-3A65-92B8-6C59-3C47595428B0}"/>
              </a:ext>
            </a:extLst>
          </p:cNvPr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122</a:t>
            </a:r>
            <a:endParaRPr lang="en-US" sz="75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313FD73-B8B6-9B2B-93B3-66812C4AE1BD}"/>
              </a:ext>
            </a:extLst>
          </p:cNvPr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8</a:t>
            </a:r>
            <a:endParaRPr lang="en-US" sz="7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CFFCCE9-16BA-4CA6-5219-2373014D0A04}"/>
              </a:ext>
            </a:extLst>
          </p:cNvPr>
          <p:cNvSpPr/>
          <p:nvPr/>
        </p:nvSpPr>
        <p:spPr>
          <a:xfrm>
            <a:off x="502920" y="502920"/>
            <a:ext cx="110642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C4E80"/>
                </a:solidFill>
                <a:latin typeface="Aptos Display" pitchFamily="34" charset="0"/>
              </a:rPr>
              <a:t>MongoDB</a:t>
            </a:r>
            <a:endParaRPr lang="en-US" sz="2800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8EC85BBF-B4F3-92B8-79B9-123B3CD061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CE0743FA-A203-898F-6226-493DF07454E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7574" b="7929"/>
          <a:stretch>
            <a:fillRect/>
          </a:stretch>
        </p:blipFill>
        <p:spPr>
          <a:xfrm>
            <a:off x="1857777" y="1097280"/>
            <a:ext cx="8476445" cy="5371759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5B4D1175-67C3-59A0-7D08-5D4B3DE161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25662" y="5532425"/>
            <a:ext cx="1665092" cy="936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289052"/>
      </p:ext>
    </p:extLst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53DCDB-4DD5-E78D-76B4-2C61C15F4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8A2CC12-CCF2-F9BB-3318-255491FEDA7C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37786FB-AB0D-70FE-6A43-F10781DD5E4F}"/>
              </a:ext>
            </a:extLst>
          </p:cNvPr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20A284D-FD5F-755A-695A-279871D4669E}"/>
              </a:ext>
            </a:extLst>
          </p:cNvPr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212FB12-580E-FF1A-02B9-AF1932823B48}"/>
              </a:ext>
            </a:extLst>
          </p:cNvPr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122</a:t>
            </a:r>
            <a:endParaRPr lang="en-US" sz="75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C9B2B28-079B-C769-4FD1-5ECC1FAC4E22}"/>
              </a:ext>
            </a:extLst>
          </p:cNvPr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8</a:t>
            </a:r>
            <a:endParaRPr lang="en-US" sz="7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EDF53D3-1E9A-E265-45C8-CAEF03CE8694}"/>
              </a:ext>
            </a:extLst>
          </p:cNvPr>
          <p:cNvSpPr/>
          <p:nvPr/>
        </p:nvSpPr>
        <p:spPr>
          <a:xfrm>
            <a:off x="502920" y="502920"/>
            <a:ext cx="110642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C4E80"/>
                </a:solidFill>
                <a:latin typeface="Aptos Display" pitchFamily="34" charset="0"/>
              </a:rPr>
              <a:t>SQL </a:t>
            </a:r>
            <a:endParaRPr lang="en-US" sz="2800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3DD8E67B-63C2-4FFF-E71A-C45427D9F8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CC5F6040-BA42-CE51-F260-3FE4BE6213F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7697"/>
          <a:stretch>
            <a:fillRect/>
          </a:stretch>
        </p:blipFill>
        <p:spPr>
          <a:xfrm>
            <a:off x="2074914" y="707499"/>
            <a:ext cx="8322622" cy="5761539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C9C41A61-37BD-05D4-79D8-919706AC7DA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5041" t="8756" r="14667" b="10316"/>
          <a:stretch>
            <a:fillRect/>
          </a:stretch>
        </p:blipFill>
        <p:spPr>
          <a:xfrm>
            <a:off x="10631827" y="4792558"/>
            <a:ext cx="1309743" cy="1507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9601611"/>
      </p:ext>
    </p:extLst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963680-715D-EEB9-1B12-40A31F89A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B9E1B74-AD7E-BA83-B26E-73DF149DBD91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61D8AC4-67E8-E418-1277-7AE5BE173E32}"/>
              </a:ext>
            </a:extLst>
          </p:cNvPr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28511DB-08AF-1677-8E29-10B7C87B1601}"/>
              </a:ext>
            </a:extLst>
          </p:cNvPr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EAD1D0E-170B-3818-F242-A87D25AD2BC2}"/>
              </a:ext>
            </a:extLst>
          </p:cNvPr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122</a:t>
            </a:r>
            <a:endParaRPr lang="en-US" sz="75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1859ABF-1D03-AF64-017F-692E282EE3CC}"/>
              </a:ext>
            </a:extLst>
          </p:cNvPr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8</a:t>
            </a:r>
            <a:endParaRPr lang="en-US" sz="7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3C09C1A-A35C-F47A-DD15-F9AAD1CEF883}"/>
              </a:ext>
            </a:extLst>
          </p:cNvPr>
          <p:cNvSpPr/>
          <p:nvPr/>
        </p:nvSpPr>
        <p:spPr>
          <a:xfrm>
            <a:off x="502920" y="502920"/>
            <a:ext cx="110642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C4E80"/>
                </a:solidFill>
                <a:latin typeface="Aptos Display" pitchFamily="34" charset="0"/>
              </a:rPr>
              <a:t>CREATE </a:t>
            </a:r>
            <a:endParaRPr lang="en-US" sz="2800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73AC45FB-74D0-72A6-D574-CD812B2397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7A8283B2-E166-C519-0129-A0FAE18C45C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5041" t="8756" r="14667" b="10316"/>
          <a:stretch>
            <a:fillRect/>
          </a:stretch>
        </p:blipFill>
        <p:spPr>
          <a:xfrm>
            <a:off x="10631827" y="4792558"/>
            <a:ext cx="1309743" cy="1507914"/>
          </a:xfrm>
          <a:prstGeom prst="rect">
            <a:avLst/>
          </a:prstGeom>
        </p:spPr>
      </p:pic>
      <p:sp>
        <p:nvSpPr>
          <p:cNvPr id="10" name="Text 6">
            <a:extLst>
              <a:ext uri="{FF2B5EF4-FFF2-40B4-BE49-F238E27FC236}">
                <a16:creationId xmlns:a16="http://schemas.microsoft.com/office/drawing/2014/main" id="{5D366F0A-FFA1-A458-DE55-49FC46AC93F8}"/>
              </a:ext>
            </a:extLst>
          </p:cNvPr>
          <p:cNvSpPr/>
          <p:nvPr/>
        </p:nvSpPr>
        <p:spPr>
          <a:xfrm>
            <a:off x="777240" y="1325880"/>
            <a:ext cx="10515600" cy="4800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s-MX" sz="2800" dirty="0">
                <a:solidFill>
                  <a:srgbClr val="FF0000"/>
                </a:solidFill>
              </a:rPr>
              <a:t>CREATE TABLE </a:t>
            </a:r>
            <a:r>
              <a:rPr lang="es-MX" sz="2800" dirty="0"/>
              <a:t>dispositivos (    </a:t>
            </a:r>
          </a:p>
          <a:p>
            <a:r>
              <a:rPr lang="es-MX" sz="2800" dirty="0"/>
              <a:t>	id </a:t>
            </a:r>
            <a:r>
              <a:rPr lang="es-MX" sz="2800" dirty="0">
                <a:solidFill>
                  <a:schemeClr val="accent1"/>
                </a:solidFill>
              </a:rPr>
              <a:t>INTEGER </a:t>
            </a:r>
            <a:r>
              <a:rPr lang="es-MX" sz="2800" dirty="0">
                <a:solidFill>
                  <a:srgbClr val="7030A0"/>
                </a:solidFill>
              </a:rPr>
              <a:t>PRIMARY KEY</a:t>
            </a:r>
            <a:r>
              <a:rPr lang="es-MX" sz="2800" dirty="0"/>
              <a:t>,    </a:t>
            </a:r>
          </a:p>
          <a:p>
            <a:r>
              <a:rPr lang="es-MX" sz="2800" dirty="0"/>
              <a:t>	nombre </a:t>
            </a:r>
            <a:r>
              <a:rPr lang="es-MX" sz="2800" dirty="0">
                <a:solidFill>
                  <a:schemeClr val="accent1"/>
                </a:solidFill>
              </a:rPr>
              <a:t>VARCHAR</a:t>
            </a:r>
            <a:r>
              <a:rPr lang="es-MX" sz="2800" dirty="0"/>
              <a:t>(</a:t>
            </a:r>
            <a:r>
              <a:rPr lang="es-MX" sz="2800" dirty="0">
                <a:solidFill>
                  <a:srgbClr val="FF0000"/>
                </a:solidFill>
              </a:rPr>
              <a:t>100</a:t>
            </a:r>
            <a:r>
              <a:rPr lang="es-MX" sz="2800" dirty="0"/>
              <a:t>) </a:t>
            </a:r>
            <a:r>
              <a:rPr lang="es-MX" sz="2800" dirty="0">
                <a:solidFill>
                  <a:srgbClr val="7030A0"/>
                </a:solidFill>
              </a:rPr>
              <a:t>NOT NULL</a:t>
            </a:r>
            <a:r>
              <a:rPr lang="es-MX" sz="2800" dirty="0"/>
              <a:t>,    </a:t>
            </a:r>
          </a:p>
          <a:p>
            <a:r>
              <a:rPr lang="es-MX" sz="2800" dirty="0"/>
              <a:t>	</a:t>
            </a:r>
            <a:r>
              <a:rPr lang="es-MX" sz="2800" dirty="0" err="1"/>
              <a:t>direccion_ip</a:t>
            </a:r>
            <a:r>
              <a:rPr lang="es-MX" sz="2800" dirty="0"/>
              <a:t> </a:t>
            </a:r>
            <a:r>
              <a:rPr lang="es-MX" sz="2800" dirty="0">
                <a:solidFill>
                  <a:schemeClr val="accent1"/>
                </a:solidFill>
              </a:rPr>
              <a:t>VARCHAR</a:t>
            </a:r>
            <a:r>
              <a:rPr lang="es-MX" sz="2800" dirty="0"/>
              <a:t>(</a:t>
            </a:r>
            <a:r>
              <a:rPr lang="es-MX" sz="2800" dirty="0">
                <a:solidFill>
                  <a:srgbClr val="FF0000"/>
                </a:solidFill>
              </a:rPr>
              <a:t>15</a:t>
            </a:r>
            <a:r>
              <a:rPr lang="es-MX" sz="2800" dirty="0"/>
              <a:t>),    </a:t>
            </a:r>
          </a:p>
          <a:p>
            <a:r>
              <a:rPr lang="es-MX" sz="2800" dirty="0"/>
              <a:t>	latencia </a:t>
            </a:r>
            <a:r>
              <a:rPr lang="es-MX" sz="2800" dirty="0">
                <a:solidFill>
                  <a:schemeClr val="accent1"/>
                </a:solidFill>
              </a:rPr>
              <a:t>DECIMAL</a:t>
            </a:r>
            <a:r>
              <a:rPr lang="es-MX" sz="2800" dirty="0"/>
              <a:t>(10, 2),    </a:t>
            </a:r>
          </a:p>
          <a:p>
            <a:r>
              <a:rPr lang="es-MX" sz="2800" dirty="0"/>
              <a:t>	errores </a:t>
            </a:r>
            <a:r>
              <a:rPr lang="es-MX" sz="2800" dirty="0">
                <a:solidFill>
                  <a:schemeClr val="accent1"/>
                </a:solidFill>
              </a:rPr>
              <a:t>INTEGER</a:t>
            </a:r>
          </a:p>
          <a:p>
            <a:r>
              <a:rPr lang="es-MX" sz="2800" dirty="0"/>
              <a:t>);</a:t>
            </a:r>
          </a:p>
          <a:p>
            <a:endParaRPr lang="es-MX" sz="2000" dirty="0"/>
          </a:p>
          <a:p>
            <a:endParaRPr lang="en-US" sz="2000" dirty="0">
              <a:solidFill>
                <a:srgbClr val="0F172A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20089392"/>
      </p:ext>
    </p:extLst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8FC6B9-EFE0-BD67-6B41-685BEF873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E658FA9-418F-A3E7-06B2-95AFA5E512AF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9D5EA98-BAC1-8A85-6467-7A4A7D40E13B}"/>
              </a:ext>
            </a:extLst>
          </p:cNvPr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FC85D35-89B9-0D02-CC4B-25120B7178D0}"/>
              </a:ext>
            </a:extLst>
          </p:cNvPr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93A61DE-B00A-AA7A-50A8-1360B78D805C}"/>
              </a:ext>
            </a:extLst>
          </p:cNvPr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122</a:t>
            </a:r>
            <a:endParaRPr lang="en-US" sz="75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1A744E5-F280-58C5-F9E9-C06A345D9E01}"/>
              </a:ext>
            </a:extLst>
          </p:cNvPr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8</a:t>
            </a:r>
            <a:endParaRPr lang="en-US" sz="7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9DF414E-4DAD-C463-3917-A6F188610ADC}"/>
              </a:ext>
            </a:extLst>
          </p:cNvPr>
          <p:cNvSpPr/>
          <p:nvPr/>
        </p:nvSpPr>
        <p:spPr>
          <a:xfrm>
            <a:off x="502920" y="502920"/>
            <a:ext cx="110642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C4E80"/>
                </a:solidFill>
                <a:latin typeface="Aptos Display" pitchFamily="34" charset="0"/>
              </a:rPr>
              <a:t>INSERT </a:t>
            </a:r>
            <a:endParaRPr lang="en-US" sz="2800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034265DF-681B-4858-BDBB-8C87777656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6F695A0D-56AD-2F7C-F500-FFA2C9F28E1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5041" t="8756" r="14667" b="10316"/>
          <a:stretch>
            <a:fillRect/>
          </a:stretch>
        </p:blipFill>
        <p:spPr>
          <a:xfrm>
            <a:off x="10631827" y="4792558"/>
            <a:ext cx="1309743" cy="1507914"/>
          </a:xfrm>
          <a:prstGeom prst="rect">
            <a:avLst/>
          </a:prstGeom>
        </p:spPr>
      </p:pic>
      <p:sp>
        <p:nvSpPr>
          <p:cNvPr id="10" name="Text 6">
            <a:extLst>
              <a:ext uri="{FF2B5EF4-FFF2-40B4-BE49-F238E27FC236}">
                <a16:creationId xmlns:a16="http://schemas.microsoft.com/office/drawing/2014/main" id="{412DB752-C49F-546C-CD3D-DD064894BAEA}"/>
              </a:ext>
            </a:extLst>
          </p:cNvPr>
          <p:cNvSpPr/>
          <p:nvPr/>
        </p:nvSpPr>
        <p:spPr>
          <a:xfrm>
            <a:off x="777240" y="1325880"/>
            <a:ext cx="10515600" cy="4800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s-MX" sz="2400" dirty="0">
                <a:solidFill>
                  <a:srgbClr val="FF0000"/>
                </a:solidFill>
              </a:rPr>
              <a:t>INSERT INTO </a:t>
            </a:r>
            <a:r>
              <a:rPr lang="es-MX" sz="2400" dirty="0"/>
              <a:t>dispositivos (    </a:t>
            </a:r>
          </a:p>
          <a:p>
            <a:r>
              <a:rPr lang="es-MX" sz="2400" dirty="0"/>
              <a:t>	id,    </a:t>
            </a:r>
          </a:p>
          <a:p>
            <a:r>
              <a:rPr lang="es-MX" sz="2400" dirty="0"/>
              <a:t>	nombre,    </a:t>
            </a:r>
          </a:p>
          <a:p>
            <a:r>
              <a:rPr lang="es-MX" sz="2400" dirty="0"/>
              <a:t>	</a:t>
            </a:r>
            <a:r>
              <a:rPr lang="es-MX" sz="2400" dirty="0" err="1"/>
              <a:t>direccion_ip</a:t>
            </a:r>
            <a:r>
              <a:rPr lang="es-MX" sz="2400" dirty="0"/>
              <a:t>,</a:t>
            </a:r>
          </a:p>
          <a:p>
            <a:r>
              <a:rPr lang="es-MX" sz="2400" dirty="0"/>
              <a:t>	latencia,    </a:t>
            </a:r>
          </a:p>
          <a:p>
            <a:r>
              <a:rPr lang="es-MX" sz="2400" dirty="0"/>
              <a:t>	errores</a:t>
            </a:r>
            <a:endParaRPr lang="es-MX" sz="2400" dirty="0">
              <a:solidFill>
                <a:schemeClr val="accent1"/>
              </a:solidFill>
            </a:endParaRPr>
          </a:p>
          <a:p>
            <a:r>
              <a:rPr lang="es-MX" sz="2400" dirty="0"/>
              <a:t>)</a:t>
            </a:r>
          </a:p>
          <a:p>
            <a:r>
              <a:rPr lang="es-MX" sz="2400" dirty="0">
                <a:solidFill>
                  <a:srgbClr val="7030A0"/>
                </a:solidFill>
              </a:rPr>
              <a:t>VALUES</a:t>
            </a:r>
          </a:p>
          <a:p>
            <a:r>
              <a:rPr lang="es-MX" sz="2400" dirty="0">
                <a:solidFill>
                  <a:srgbClr val="7030A0"/>
                </a:solidFill>
              </a:rPr>
              <a:t>	</a:t>
            </a:r>
            <a:r>
              <a:rPr lang="es-MX" sz="2400" dirty="0"/>
              <a:t>(</a:t>
            </a:r>
            <a:r>
              <a:rPr lang="es-MX" sz="2400" dirty="0">
                <a:solidFill>
                  <a:srgbClr val="FF0000"/>
                </a:solidFill>
              </a:rPr>
              <a:t>1</a:t>
            </a:r>
            <a:r>
              <a:rPr lang="es-MX" sz="2400" dirty="0"/>
              <a:t>, </a:t>
            </a:r>
            <a:r>
              <a:rPr lang="es-MX" sz="2400" dirty="0">
                <a:solidFill>
                  <a:schemeClr val="accent6">
                    <a:lumMod val="75000"/>
                  </a:schemeClr>
                </a:solidFill>
              </a:rPr>
              <a:t>‘</a:t>
            </a:r>
            <a:r>
              <a:rPr lang="es-MX" sz="2400" dirty="0" err="1">
                <a:solidFill>
                  <a:schemeClr val="accent6">
                    <a:lumMod val="75000"/>
                  </a:schemeClr>
                </a:solidFill>
              </a:rPr>
              <a:t>Router</a:t>
            </a:r>
            <a:r>
              <a:rPr lang="es-MX" sz="2400" dirty="0">
                <a:solidFill>
                  <a:schemeClr val="accent6">
                    <a:lumMod val="75000"/>
                  </a:schemeClr>
                </a:solidFill>
              </a:rPr>
              <a:t> principal'</a:t>
            </a:r>
            <a:r>
              <a:rPr lang="es-MX" sz="2400" dirty="0"/>
              <a:t>, </a:t>
            </a:r>
            <a:r>
              <a:rPr lang="es-MX" sz="2400" dirty="0">
                <a:solidFill>
                  <a:schemeClr val="accent6">
                    <a:lumMod val="75000"/>
                  </a:schemeClr>
                </a:solidFill>
              </a:rPr>
              <a:t>'192.168.1.1’</a:t>
            </a:r>
            <a:r>
              <a:rPr lang="es-MX" sz="2400" dirty="0"/>
              <a:t>, </a:t>
            </a:r>
            <a:r>
              <a:rPr lang="es-MX" sz="2400" dirty="0">
                <a:solidFill>
                  <a:srgbClr val="FF0000"/>
                </a:solidFill>
              </a:rPr>
              <a:t>25.5</a:t>
            </a:r>
            <a:r>
              <a:rPr lang="es-MX" sz="2400" dirty="0"/>
              <a:t>, </a:t>
            </a:r>
            <a:r>
              <a:rPr lang="es-MX" sz="2400" dirty="0">
                <a:solidFill>
                  <a:srgbClr val="FF0000"/>
                </a:solidFill>
              </a:rPr>
              <a:t>0</a:t>
            </a:r>
            <a:r>
              <a:rPr lang="es-MX" sz="2400" dirty="0"/>
              <a:t>);</a:t>
            </a:r>
            <a:endParaRPr lang="es-MX" sz="2000" dirty="0"/>
          </a:p>
          <a:p>
            <a:endParaRPr lang="en-US" sz="2000" dirty="0">
              <a:solidFill>
                <a:srgbClr val="0F172A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AF265AE3-01E7-4FEA-DABC-2253D3E95A94}"/>
              </a:ext>
            </a:extLst>
          </p:cNvPr>
          <p:cNvSpPr/>
          <p:nvPr/>
        </p:nvSpPr>
        <p:spPr>
          <a:xfrm>
            <a:off x="2532185" y="1205802"/>
            <a:ext cx="1597688" cy="492369"/>
          </a:xfrm>
          <a:prstGeom prst="round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14" name="Conector: angular 13">
            <a:extLst>
              <a:ext uri="{FF2B5EF4-FFF2-40B4-BE49-F238E27FC236}">
                <a16:creationId xmlns:a16="http://schemas.microsoft.com/office/drawing/2014/main" id="{B978EAB8-E5A2-4172-916C-5D911256CF59}"/>
              </a:ext>
            </a:extLst>
          </p:cNvPr>
          <p:cNvCxnSpPr>
            <a:cxnSpLocks/>
            <a:stCxn id="9" idx="0"/>
          </p:cNvCxnSpPr>
          <p:nvPr/>
        </p:nvCxnSpPr>
        <p:spPr>
          <a:xfrm rot="5400000" flipH="1" flipV="1">
            <a:off x="4147457" y="37682"/>
            <a:ext cx="351692" cy="198454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ángulo 16">
            <a:extLst>
              <a:ext uri="{FF2B5EF4-FFF2-40B4-BE49-F238E27FC236}">
                <a16:creationId xmlns:a16="http://schemas.microsoft.com/office/drawing/2014/main" id="{018FD88C-BCA8-F3A0-4632-DF906E7CDAA1}"/>
              </a:ext>
            </a:extLst>
          </p:cNvPr>
          <p:cNvSpPr/>
          <p:nvPr/>
        </p:nvSpPr>
        <p:spPr>
          <a:xfrm>
            <a:off x="5436159" y="681379"/>
            <a:ext cx="2632668" cy="3516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Nombre de la tabla</a:t>
            </a:r>
          </a:p>
        </p:txBody>
      </p:sp>
      <p:sp>
        <p:nvSpPr>
          <p:cNvPr id="18" name="Cerrar llave 17">
            <a:extLst>
              <a:ext uri="{FF2B5EF4-FFF2-40B4-BE49-F238E27FC236}">
                <a16:creationId xmlns:a16="http://schemas.microsoft.com/office/drawing/2014/main" id="{FEFEE3C7-6571-EF5D-BDAD-3B990056A654}"/>
              </a:ext>
            </a:extLst>
          </p:cNvPr>
          <p:cNvSpPr/>
          <p:nvPr/>
        </p:nvSpPr>
        <p:spPr>
          <a:xfrm>
            <a:off x="3788229" y="1778558"/>
            <a:ext cx="472272" cy="1650442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3572C0F9-8783-B1EA-AECC-9041B1537F18}"/>
              </a:ext>
            </a:extLst>
          </p:cNvPr>
          <p:cNvSpPr/>
          <p:nvPr/>
        </p:nvSpPr>
        <p:spPr>
          <a:xfrm>
            <a:off x="7870370" y="4244924"/>
            <a:ext cx="2991897" cy="3516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Valores para cada campo</a:t>
            </a:r>
          </a:p>
        </p:txBody>
      </p:sp>
      <p:sp>
        <p:nvSpPr>
          <p:cNvPr id="22" name="Cerrar llave 21">
            <a:extLst>
              <a:ext uri="{FF2B5EF4-FFF2-40B4-BE49-F238E27FC236}">
                <a16:creationId xmlns:a16="http://schemas.microsoft.com/office/drawing/2014/main" id="{8554CAE5-5FB9-A028-E834-8710017E2F96}"/>
              </a:ext>
            </a:extLst>
          </p:cNvPr>
          <p:cNvSpPr/>
          <p:nvPr/>
        </p:nvSpPr>
        <p:spPr>
          <a:xfrm>
            <a:off x="7214717" y="4099222"/>
            <a:ext cx="492369" cy="643096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0370402"/>
      </p:ext>
    </p:extLst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82CB49-32E2-0684-E03A-405166F1F9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0E86E52-6F27-11D9-E2EF-DBA99AF00343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A51486D-B808-1CE7-760E-29353EDE0D63}"/>
              </a:ext>
            </a:extLst>
          </p:cNvPr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812D3ED-81F9-6022-772F-59E91F2B9C74}"/>
              </a:ext>
            </a:extLst>
          </p:cNvPr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9E620FF-1707-0D61-1A62-DF24EC179B4E}"/>
              </a:ext>
            </a:extLst>
          </p:cNvPr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122</a:t>
            </a:r>
            <a:endParaRPr lang="en-US" sz="75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AE4E44F-F0EA-5023-7974-6A363E795C0B}"/>
              </a:ext>
            </a:extLst>
          </p:cNvPr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8</a:t>
            </a:r>
            <a:endParaRPr lang="en-US" sz="7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2F867B6-90FE-022E-DC96-39633D44A95F}"/>
              </a:ext>
            </a:extLst>
          </p:cNvPr>
          <p:cNvSpPr/>
          <p:nvPr/>
        </p:nvSpPr>
        <p:spPr>
          <a:xfrm>
            <a:off x="502920" y="502920"/>
            <a:ext cx="110642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C4E80"/>
                </a:solidFill>
                <a:latin typeface="Aptos Display" pitchFamily="34" charset="0"/>
              </a:rPr>
              <a:t>INSERT </a:t>
            </a:r>
            <a:endParaRPr lang="en-US" sz="2800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1799BD91-EBAD-0521-5FB1-60C2383543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E557DB4C-541C-90B6-EDB7-DE185D749CF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5041" t="8756" r="14667" b="10316"/>
          <a:stretch>
            <a:fillRect/>
          </a:stretch>
        </p:blipFill>
        <p:spPr>
          <a:xfrm>
            <a:off x="10631827" y="4792558"/>
            <a:ext cx="1309743" cy="1507914"/>
          </a:xfrm>
          <a:prstGeom prst="rect">
            <a:avLst/>
          </a:prstGeom>
        </p:spPr>
      </p:pic>
      <p:sp>
        <p:nvSpPr>
          <p:cNvPr id="10" name="Text 6">
            <a:extLst>
              <a:ext uri="{FF2B5EF4-FFF2-40B4-BE49-F238E27FC236}">
                <a16:creationId xmlns:a16="http://schemas.microsoft.com/office/drawing/2014/main" id="{B5EC54B6-635F-6BA7-DA73-B938B9A4C727}"/>
              </a:ext>
            </a:extLst>
          </p:cNvPr>
          <p:cNvSpPr/>
          <p:nvPr/>
        </p:nvSpPr>
        <p:spPr>
          <a:xfrm>
            <a:off x="777240" y="1325880"/>
            <a:ext cx="10515600" cy="4800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s-MX" sz="2400" dirty="0">
                <a:solidFill>
                  <a:srgbClr val="FF0000"/>
                </a:solidFill>
              </a:rPr>
              <a:t>INSERT INTO </a:t>
            </a:r>
            <a:r>
              <a:rPr lang="es-MX" sz="2400" dirty="0"/>
              <a:t>dispositivos (    </a:t>
            </a:r>
          </a:p>
          <a:p>
            <a:r>
              <a:rPr lang="es-MX" sz="2400" dirty="0"/>
              <a:t>	id,    </a:t>
            </a:r>
          </a:p>
          <a:p>
            <a:r>
              <a:rPr lang="es-MX" sz="2400" dirty="0"/>
              <a:t>	nombre,    </a:t>
            </a:r>
          </a:p>
          <a:p>
            <a:r>
              <a:rPr lang="es-MX" sz="2400" dirty="0"/>
              <a:t>	</a:t>
            </a:r>
            <a:r>
              <a:rPr lang="es-MX" sz="2400" dirty="0" err="1"/>
              <a:t>direccion_ip</a:t>
            </a:r>
            <a:r>
              <a:rPr lang="es-MX" sz="2400" dirty="0"/>
              <a:t>,</a:t>
            </a:r>
          </a:p>
          <a:p>
            <a:r>
              <a:rPr lang="es-MX" sz="2400" dirty="0"/>
              <a:t>	latencia,</a:t>
            </a:r>
          </a:p>
          <a:p>
            <a:r>
              <a:rPr lang="es-MX" sz="2400" dirty="0"/>
              <a:t>	errores</a:t>
            </a:r>
            <a:endParaRPr lang="es-MX" sz="2400" dirty="0">
              <a:solidFill>
                <a:schemeClr val="accent1"/>
              </a:solidFill>
            </a:endParaRPr>
          </a:p>
          <a:p>
            <a:r>
              <a:rPr lang="es-MX" sz="2400" dirty="0"/>
              <a:t>)</a:t>
            </a:r>
          </a:p>
          <a:p>
            <a:r>
              <a:rPr lang="es-MX" sz="2400" dirty="0">
                <a:solidFill>
                  <a:srgbClr val="7030A0"/>
                </a:solidFill>
              </a:rPr>
              <a:t>VALUES</a:t>
            </a:r>
          </a:p>
          <a:p>
            <a:r>
              <a:rPr lang="es-MX" sz="2400" dirty="0">
                <a:solidFill>
                  <a:srgbClr val="7030A0"/>
                </a:solidFill>
              </a:rPr>
              <a:t>	</a:t>
            </a:r>
            <a:r>
              <a:rPr lang="es-MX" sz="2400" dirty="0"/>
              <a:t>(</a:t>
            </a:r>
            <a:r>
              <a:rPr lang="es-MX" sz="2400" dirty="0">
                <a:solidFill>
                  <a:srgbClr val="FF0000"/>
                </a:solidFill>
              </a:rPr>
              <a:t>2</a:t>
            </a:r>
            <a:r>
              <a:rPr lang="es-MX" sz="2400" dirty="0"/>
              <a:t>, </a:t>
            </a:r>
            <a:r>
              <a:rPr lang="es-MX" sz="2400" dirty="0">
                <a:solidFill>
                  <a:schemeClr val="accent6">
                    <a:lumMod val="75000"/>
                  </a:schemeClr>
                </a:solidFill>
              </a:rPr>
              <a:t>'Switch'</a:t>
            </a:r>
            <a:r>
              <a:rPr lang="es-MX" sz="2400" dirty="0"/>
              <a:t>, </a:t>
            </a:r>
            <a:r>
              <a:rPr lang="es-MX" sz="2400" dirty="0">
                <a:solidFill>
                  <a:schemeClr val="accent6">
                    <a:lumMod val="75000"/>
                  </a:schemeClr>
                </a:solidFill>
              </a:rPr>
              <a:t>'192.168.1.2'</a:t>
            </a:r>
            <a:r>
              <a:rPr lang="es-MX" sz="2400" dirty="0"/>
              <a:t>, </a:t>
            </a:r>
            <a:r>
              <a:rPr lang="es-MX" sz="2400" dirty="0">
                <a:solidFill>
                  <a:srgbClr val="FF0000"/>
                </a:solidFill>
              </a:rPr>
              <a:t>15.2</a:t>
            </a:r>
            <a:r>
              <a:rPr lang="es-MX" sz="2400" dirty="0"/>
              <a:t>, </a:t>
            </a:r>
            <a:r>
              <a:rPr lang="es-MX" sz="2400" dirty="0">
                <a:solidFill>
                  <a:srgbClr val="FF0000"/>
                </a:solidFill>
              </a:rPr>
              <a:t>1</a:t>
            </a:r>
            <a:r>
              <a:rPr lang="es-MX" sz="2400" dirty="0"/>
              <a:t>), </a:t>
            </a:r>
          </a:p>
          <a:p>
            <a:r>
              <a:rPr lang="es-MX" sz="2400" dirty="0"/>
              <a:t>	(</a:t>
            </a:r>
            <a:r>
              <a:rPr lang="es-MX" sz="2400" dirty="0">
                <a:solidFill>
                  <a:srgbClr val="FF0000"/>
                </a:solidFill>
              </a:rPr>
              <a:t>3, </a:t>
            </a:r>
            <a:r>
              <a:rPr lang="es-MX" sz="2400" dirty="0">
                <a:solidFill>
                  <a:schemeClr val="accent6">
                    <a:lumMod val="75000"/>
                  </a:schemeClr>
                </a:solidFill>
              </a:rPr>
              <a:t>'Servidor', '192.168.1.3', </a:t>
            </a:r>
            <a:r>
              <a:rPr lang="es-MX" sz="2400" dirty="0">
                <a:solidFill>
                  <a:srgbClr val="FF0000"/>
                </a:solidFill>
              </a:rPr>
              <a:t>8.7</a:t>
            </a:r>
            <a:r>
              <a:rPr lang="es-MX" sz="2400" dirty="0"/>
              <a:t>, </a:t>
            </a:r>
            <a:r>
              <a:rPr lang="es-MX" sz="2400" dirty="0">
                <a:solidFill>
                  <a:srgbClr val="FF0000"/>
                </a:solidFill>
              </a:rPr>
              <a:t>0</a:t>
            </a:r>
            <a:r>
              <a:rPr lang="es-MX" sz="2400" dirty="0"/>
              <a:t>);</a:t>
            </a:r>
          </a:p>
          <a:p>
            <a:endParaRPr lang="es-MX" sz="2000" dirty="0"/>
          </a:p>
          <a:p>
            <a:endParaRPr lang="en-US" sz="2000" dirty="0">
              <a:solidFill>
                <a:srgbClr val="0F172A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21093212"/>
      </p:ext>
    </p:extLst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D8515F-A52B-1C35-F32C-A50797435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CCC0D43-73EF-1EAB-E513-609AE38575FE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36610A2-273C-9FDD-88A7-22A8B74CADEA}"/>
              </a:ext>
            </a:extLst>
          </p:cNvPr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825DD38-8C40-087A-9A66-6AF3AAF9B656}"/>
              </a:ext>
            </a:extLst>
          </p:cNvPr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B05B0B2-01CE-FFF5-A841-BB1C2527EBA1}"/>
              </a:ext>
            </a:extLst>
          </p:cNvPr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122</a:t>
            </a:r>
            <a:endParaRPr lang="en-US" sz="75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27EBAC3-9522-1B39-6C9A-4115265215A7}"/>
              </a:ext>
            </a:extLst>
          </p:cNvPr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8</a:t>
            </a:r>
            <a:endParaRPr lang="en-US" sz="7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98B1CBC-FFD8-33BA-4A45-8F96B86C7FAE}"/>
              </a:ext>
            </a:extLst>
          </p:cNvPr>
          <p:cNvSpPr/>
          <p:nvPr/>
        </p:nvSpPr>
        <p:spPr>
          <a:xfrm>
            <a:off x="502920" y="502920"/>
            <a:ext cx="110642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C4E80"/>
                </a:solidFill>
                <a:latin typeface="Aptos Display" pitchFamily="34" charset="0"/>
              </a:rPr>
              <a:t>READ 	 </a:t>
            </a:r>
            <a:endParaRPr lang="en-US" sz="2800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0B767A30-085B-074C-A511-97994ECA47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A6DDD00E-D751-3EF7-55EB-B713C5A3DB2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5041" t="8756" r="14667" b="10316"/>
          <a:stretch>
            <a:fillRect/>
          </a:stretch>
        </p:blipFill>
        <p:spPr>
          <a:xfrm>
            <a:off x="10631827" y="4792558"/>
            <a:ext cx="1309743" cy="1507914"/>
          </a:xfrm>
          <a:prstGeom prst="rect">
            <a:avLst/>
          </a:prstGeom>
        </p:spPr>
      </p:pic>
      <p:sp>
        <p:nvSpPr>
          <p:cNvPr id="10" name="Text 6">
            <a:extLst>
              <a:ext uri="{FF2B5EF4-FFF2-40B4-BE49-F238E27FC236}">
                <a16:creationId xmlns:a16="http://schemas.microsoft.com/office/drawing/2014/main" id="{A970584E-8DAA-4BA9-4371-0D4B916AF0E2}"/>
              </a:ext>
            </a:extLst>
          </p:cNvPr>
          <p:cNvSpPr/>
          <p:nvPr/>
        </p:nvSpPr>
        <p:spPr>
          <a:xfrm>
            <a:off x="777240" y="1325880"/>
            <a:ext cx="10515600" cy="4800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s-MX" sz="2400" dirty="0">
                <a:solidFill>
                  <a:srgbClr val="FF0000"/>
                </a:solidFill>
              </a:rPr>
              <a:t>SELECT * FROM </a:t>
            </a:r>
            <a:r>
              <a:rPr lang="es-MX" sz="2400" dirty="0"/>
              <a:t>dispositivos;     # Muestra todos los registros</a:t>
            </a:r>
          </a:p>
          <a:p>
            <a:endParaRPr lang="es-MX" sz="2400" dirty="0"/>
          </a:p>
          <a:p>
            <a:r>
              <a:rPr lang="es-MX" sz="2400" dirty="0">
                <a:solidFill>
                  <a:srgbClr val="FF0000"/>
                </a:solidFill>
              </a:rPr>
              <a:t>SELECT </a:t>
            </a:r>
            <a:r>
              <a:rPr lang="es-MX" sz="2400" dirty="0"/>
              <a:t>nombre, </a:t>
            </a:r>
            <a:r>
              <a:rPr lang="es-MX" sz="2400" dirty="0" err="1"/>
              <a:t>direccion_ip</a:t>
            </a:r>
            <a:r>
              <a:rPr lang="es-MX" sz="2400" dirty="0"/>
              <a:t>, latencia;     # Muestra determinadas columnas</a:t>
            </a:r>
          </a:p>
          <a:p>
            <a:endParaRPr lang="es-MX" sz="2400" dirty="0"/>
          </a:p>
          <a:p>
            <a:r>
              <a:rPr lang="es-MX" sz="2400" dirty="0">
                <a:solidFill>
                  <a:srgbClr val="FF0000"/>
                </a:solidFill>
              </a:rPr>
              <a:t>SELECT * FROM </a:t>
            </a:r>
            <a:r>
              <a:rPr lang="es-MX" sz="2400" dirty="0"/>
              <a:t>dispositivo    # Buscar un registro específico.</a:t>
            </a:r>
          </a:p>
          <a:p>
            <a:r>
              <a:rPr lang="es-MX" sz="2400" dirty="0"/>
              <a:t>WHERE latencia </a:t>
            </a:r>
            <a:r>
              <a:rPr lang="es-MX" sz="2400" dirty="0">
                <a:solidFill>
                  <a:schemeClr val="accent2"/>
                </a:solidFill>
              </a:rPr>
              <a:t>&gt; 20</a:t>
            </a:r>
            <a:r>
              <a:rPr lang="es-MX" sz="2400" dirty="0"/>
              <a:t>;</a:t>
            </a:r>
          </a:p>
          <a:p>
            <a:endParaRPr lang="es-MX" sz="2400" dirty="0"/>
          </a:p>
          <a:p>
            <a:endParaRPr lang="es-MX" sz="2400" dirty="0"/>
          </a:p>
          <a:p>
            <a:endParaRPr lang="es-MX" sz="2400" dirty="0"/>
          </a:p>
          <a:p>
            <a:endParaRPr lang="es-MX" sz="2400" dirty="0"/>
          </a:p>
          <a:p>
            <a:endParaRPr lang="es-MX" sz="2000" dirty="0"/>
          </a:p>
          <a:p>
            <a:endParaRPr lang="en-US" sz="2000" dirty="0">
              <a:solidFill>
                <a:srgbClr val="0F172A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CDFC6233-625F-A327-3DAB-2BCA1D4B7FFB}"/>
              </a:ext>
            </a:extLst>
          </p:cNvPr>
          <p:cNvSpPr/>
          <p:nvPr/>
        </p:nvSpPr>
        <p:spPr>
          <a:xfrm>
            <a:off x="1736639" y="727483"/>
            <a:ext cx="4359208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1C4E80"/>
                </a:solidFill>
                <a:latin typeface="Aptos Display" pitchFamily="34" charset="0"/>
              </a:rPr>
              <a:t>Mostrar</a:t>
            </a:r>
            <a:r>
              <a:rPr lang="en-US" sz="2800" b="1" dirty="0">
                <a:solidFill>
                  <a:srgbClr val="1C4E80"/>
                </a:solidFill>
                <a:latin typeface="Aptos Display" pitchFamily="34" charset="0"/>
              </a:rPr>
              <a:t> </a:t>
            </a:r>
            <a:r>
              <a:rPr lang="en-US" sz="2800" b="1" dirty="0" err="1">
                <a:solidFill>
                  <a:srgbClr val="1C4E80"/>
                </a:solidFill>
                <a:latin typeface="Aptos Display" pitchFamily="34" charset="0"/>
              </a:rPr>
              <a:t>todos</a:t>
            </a:r>
            <a:r>
              <a:rPr lang="en-US" sz="2800" b="1" dirty="0">
                <a:solidFill>
                  <a:srgbClr val="1C4E80"/>
                </a:solidFill>
                <a:latin typeface="Aptos Display" pitchFamily="34" charset="0"/>
              </a:rPr>
              <a:t> </a:t>
            </a:r>
            <a:r>
              <a:rPr lang="en-US" sz="2800" b="1" dirty="0" err="1">
                <a:solidFill>
                  <a:srgbClr val="1C4E80"/>
                </a:solidFill>
                <a:latin typeface="Aptos Display" pitchFamily="34" charset="0"/>
              </a:rPr>
              <a:t>los</a:t>
            </a:r>
            <a:r>
              <a:rPr lang="en-US" sz="2800" b="1" dirty="0">
                <a:solidFill>
                  <a:srgbClr val="1C4E80"/>
                </a:solidFill>
                <a:latin typeface="Aptos Display" pitchFamily="34" charset="0"/>
              </a:rPr>
              <a:t> </a:t>
            </a:r>
            <a:r>
              <a:rPr lang="en-US" sz="2800" b="1" dirty="0" err="1">
                <a:solidFill>
                  <a:srgbClr val="1C4E80"/>
                </a:solidFill>
                <a:latin typeface="Aptos Display" pitchFamily="34" charset="0"/>
              </a:rPr>
              <a:t>registros</a:t>
            </a:r>
            <a:r>
              <a:rPr lang="en-US" sz="2800" b="1" dirty="0">
                <a:solidFill>
                  <a:srgbClr val="1C4E80"/>
                </a:solidFill>
                <a:latin typeface="Aptos Display" pitchFamily="34" charset="0"/>
              </a:rPr>
              <a:t>	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36477405"/>
      </p:ext>
    </p:extLst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2384FA-0AAE-535A-ED51-62323ABF0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3C0FD28-9623-2A90-ADEE-AA9F79655AC4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2ACEA06-9FC4-BFCB-0EC1-1623FAB1BB55}"/>
              </a:ext>
            </a:extLst>
          </p:cNvPr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F13EDBC-5518-A908-F902-47610569E26A}"/>
              </a:ext>
            </a:extLst>
          </p:cNvPr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C3A4048-A669-5A77-2F9F-3E6E26181A91}"/>
              </a:ext>
            </a:extLst>
          </p:cNvPr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122</a:t>
            </a:r>
            <a:endParaRPr lang="en-US" sz="75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8A462BF-30D6-2AD7-D2F7-C31D5ABE5D1F}"/>
              </a:ext>
            </a:extLst>
          </p:cNvPr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8</a:t>
            </a:r>
            <a:endParaRPr lang="en-US" sz="7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C973C08-7C04-F8D0-051D-480B72B91657}"/>
              </a:ext>
            </a:extLst>
          </p:cNvPr>
          <p:cNvSpPr/>
          <p:nvPr/>
        </p:nvSpPr>
        <p:spPr>
          <a:xfrm>
            <a:off x="502920" y="502920"/>
            <a:ext cx="110642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C4E80"/>
                </a:solidFill>
                <a:latin typeface="Aptos Display" pitchFamily="34" charset="0"/>
              </a:rPr>
              <a:t>UPDATE </a:t>
            </a:r>
            <a:endParaRPr lang="en-US" sz="2800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E44C9B0B-E989-A483-EC92-7E70738826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697DB495-989A-A77F-7280-F1844659CDB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5041" t="8756" r="14667" b="10316"/>
          <a:stretch>
            <a:fillRect/>
          </a:stretch>
        </p:blipFill>
        <p:spPr>
          <a:xfrm>
            <a:off x="10631827" y="4792558"/>
            <a:ext cx="1309743" cy="1507914"/>
          </a:xfrm>
          <a:prstGeom prst="rect">
            <a:avLst/>
          </a:prstGeom>
        </p:spPr>
      </p:pic>
      <p:sp>
        <p:nvSpPr>
          <p:cNvPr id="10" name="Text 6">
            <a:extLst>
              <a:ext uri="{FF2B5EF4-FFF2-40B4-BE49-F238E27FC236}">
                <a16:creationId xmlns:a16="http://schemas.microsoft.com/office/drawing/2014/main" id="{6B0BF7B8-4B50-36D9-6A20-4034E4AB68A9}"/>
              </a:ext>
            </a:extLst>
          </p:cNvPr>
          <p:cNvSpPr/>
          <p:nvPr/>
        </p:nvSpPr>
        <p:spPr>
          <a:xfrm>
            <a:off x="777240" y="1325880"/>
            <a:ext cx="10515600" cy="4800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s-MX" sz="2800" dirty="0">
                <a:solidFill>
                  <a:srgbClr val="FF0000"/>
                </a:solidFill>
              </a:rPr>
              <a:t>UPDATE </a:t>
            </a:r>
            <a:r>
              <a:rPr lang="es-MX" sz="2800" dirty="0"/>
              <a:t>dispositivos     </a:t>
            </a:r>
          </a:p>
          <a:p>
            <a:r>
              <a:rPr lang="es-MX" sz="2800" dirty="0">
                <a:solidFill>
                  <a:srgbClr val="7030A0"/>
                </a:solidFill>
              </a:rPr>
              <a:t>SET </a:t>
            </a:r>
            <a:r>
              <a:rPr lang="es-MX" sz="2800" dirty="0"/>
              <a:t>latencia</a:t>
            </a:r>
            <a:r>
              <a:rPr lang="es-MX" sz="2800" dirty="0">
                <a:solidFill>
                  <a:srgbClr val="7030A0"/>
                </a:solidFill>
              </a:rPr>
              <a:t> </a:t>
            </a:r>
            <a:r>
              <a:rPr lang="es-MX" sz="2800" dirty="0">
                <a:solidFill>
                  <a:srgbClr val="FF0000"/>
                </a:solidFill>
              </a:rPr>
              <a:t>=</a:t>
            </a:r>
            <a:r>
              <a:rPr lang="es-MX" sz="2800" dirty="0">
                <a:solidFill>
                  <a:srgbClr val="7030A0"/>
                </a:solidFill>
              </a:rPr>
              <a:t> </a:t>
            </a:r>
            <a:r>
              <a:rPr lang="es-MX" sz="2800" dirty="0">
                <a:solidFill>
                  <a:srgbClr val="FF0000"/>
                </a:solidFill>
              </a:rPr>
              <a:t>18.5</a:t>
            </a:r>
            <a:r>
              <a:rPr lang="es-MX" sz="2800" dirty="0"/>
              <a:t>,    </a:t>
            </a:r>
          </a:p>
          <a:p>
            <a:r>
              <a:rPr lang="es-MX" sz="2800" dirty="0"/>
              <a:t>         errores </a:t>
            </a:r>
            <a:r>
              <a:rPr lang="es-MX" sz="2800" dirty="0">
                <a:solidFill>
                  <a:srgbClr val="FF0000"/>
                </a:solidFill>
              </a:rPr>
              <a:t>= 2</a:t>
            </a:r>
            <a:r>
              <a:rPr lang="es-MX" sz="2800" dirty="0"/>
              <a:t>,    </a:t>
            </a:r>
          </a:p>
          <a:p>
            <a:r>
              <a:rPr lang="es-MX" sz="2800" dirty="0">
                <a:solidFill>
                  <a:srgbClr val="7030A0"/>
                </a:solidFill>
              </a:rPr>
              <a:t>WHERE</a:t>
            </a:r>
            <a:r>
              <a:rPr lang="es-MX" sz="2800" dirty="0">
                <a:solidFill>
                  <a:schemeClr val="accent1"/>
                </a:solidFill>
              </a:rPr>
              <a:t> </a:t>
            </a:r>
            <a:r>
              <a:rPr lang="es-MX" sz="2800" dirty="0"/>
              <a:t>id</a:t>
            </a:r>
            <a:r>
              <a:rPr lang="es-MX" sz="2800" dirty="0">
                <a:solidFill>
                  <a:schemeClr val="accent1"/>
                </a:solidFill>
              </a:rPr>
              <a:t> </a:t>
            </a:r>
            <a:r>
              <a:rPr lang="es-MX" sz="2800" dirty="0">
                <a:solidFill>
                  <a:srgbClr val="FF0000"/>
                </a:solidFill>
              </a:rPr>
              <a:t>= 1</a:t>
            </a:r>
            <a:r>
              <a:rPr lang="es-MX" sz="2800" dirty="0"/>
              <a:t>;</a:t>
            </a:r>
          </a:p>
          <a:p>
            <a:endParaRPr lang="es-MX" sz="2800" dirty="0"/>
          </a:p>
          <a:p>
            <a:endParaRPr lang="es-MX" sz="2800" dirty="0"/>
          </a:p>
          <a:p>
            <a:endParaRPr lang="es-MX" sz="2000" dirty="0"/>
          </a:p>
          <a:p>
            <a:endParaRPr lang="en-US" sz="2000" dirty="0">
              <a:solidFill>
                <a:srgbClr val="0F172A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96890578"/>
      </p:ext>
    </p:extLst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9C5759-131E-B548-B579-D7B645B1D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F0DEB06-8AA1-07A1-AA00-6A1581FD2F3A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4F4230A-0EE4-E334-725C-F8A578DA5BA4}"/>
              </a:ext>
            </a:extLst>
          </p:cNvPr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67FF01E-1A1B-8D56-3853-D72623E6F6F2}"/>
              </a:ext>
            </a:extLst>
          </p:cNvPr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7890C82-A90C-A11D-CBDA-7E3620573DAA}"/>
              </a:ext>
            </a:extLst>
          </p:cNvPr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122</a:t>
            </a:r>
            <a:endParaRPr lang="en-US" sz="75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55D030B-EC58-9202-FA09-29DE0BD70ED6}"/>
              </a:ext>
            </a:extLst>
          </p:cNvPr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8</a:t>
            </a:r>
            <a:endParaRPr lang="en-US" sz="7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D421F4A-6B59-2748-BB2E-7792B3819962}"/>
              </a:ext>
            </a:extLst>
          </p:cNvPr>
          <p:cNvSpPr/>
          <p:nvPr/>
        </p:nvSpPr>
        <p:spPr>
          <a:xfrm>
            <a:off x="502920" y="502920"/>
            <a:ext cx="110642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C4E80"/>
                </a:solidFill>
                <a:latin typeface="Aptos Display" pitchFamily="34" charset="0"/>
              </a:rPr>
              <a:t>DELETE </a:t>
            </a:r>
            <a:endParaRPr lang="en-US" sz="2800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C77F2093-9DBC-6BDA-21B0-9C63F502C1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FD9D8723-E92E-B950-A101-974B1B242BB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5041" t="8756" r="14667" b="10316"/>
          <a:stretch>
            <a:fillRect/>
          </a:stretch>
        </p:blipFill>
        <p:spPr>
          <a:xfrm>
            <a:off x="10631827" y="4792558"/>
            <a:ext cx="1309743" cy="1507914"/>
          </a:xfrm>
          <a:prstGeom prst="rect">
            <a:avLst/>
          </a:prstGeom>
        </p:spPr>
      </p:pic>
      <p:sp>
        <p:nvSpPr>
          <p:cNvPr id="10" name="Text 6">
            <a:extLst>
              <a:ext uri="{FF2B5EF4-FFF2-40B4-BE49-F238E27FC236}">
                <a16:creationId xmlns:a16="http://schemas.microsoft.com/office/drawing/2014/main" id="{C9308456-9E6F-EA74-8310-127101BB4E3E}"/>
              </a:ext>
            </a:extLst>
          </p:cNvPr>
          <p:cNvSpPr/>
          <p:nvPr/>
        </p:nvSpPr>
        <p:spPr>
          <a:xfrm>
            <a:off x="777240" y="1325880"/>
            <a:ext cx="10515600" cy="4800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s-MX" sz="2800" dirty="0">
                <a:solidFill>
                  <a:srgbClr val="FF0000"/>
                </a:solidFill>
              </a:rPr>
              <a:t>DELETE FROM </a:t>
            </a:r>
            <a:r>
              <a:rPr lang="es-MX" sz="2800" dirty="0"/>
              <a:t>dispositivos    </a:t>
            </a:r>
          </a:p>
          <a:p>
            <a:r>
              <a:rPr lang="es-MX" sz="2800" dirty="0">
                <a:solidFill>
                  <a:srgbClr val="7030A0"/>
                </a:solidFill>
              </a:rPr>
              <a:t>WHERE </a:t>
            </a:r>
            <a:r>
              <a:rPr lang="es-MX" sz="2800" dirty="0"/>
              <a:t>id</a:t>
            </a:r>
            <a:r>
              <a:rPr lang="es-MX" sz="2800" dirty="0">
                <a:solidFill>
                  <a:srgbClr val="7030A0"/>
                </a:solidFill>
              </a:rPr>
              <a:t> </a:t>
            </a:r>
            <a:r>
              <a:rPr lang="es-MX" sz="2800" dirty="0">
                <a:solidFill>
                  <a:srgbClr val="FF0000"/>
                </a:solidFill>
              </a:rPr>
              <a:t>= 1</a:t>
            </a:r>
            <a:r>
              <a:rPr lang="es-MX" sz="2800" dirty="0"/>
              <a:t>;</a:t>
            </a:r>
          </a:p>
          <a:p>
            <a:endParaRPr lang="es-MX" sz="2800" dirty="0"/>
          </a:p>
          <a:p>
            <a:r>
              <a:rPr lang="es-MX" sz="2800" dirty="0">
                <a:solidFill>
                  <a:schemeClr val="bg2">
                    <a:lumMod val="75000"/>
                  </a:schemeClr>
                </a:solidFill>
              </a:rPr>
              <a:t>#ELIMINAR un registro específico</a:t>
            </a:r>
            <a:endParaRPr lang="es-MX" sz="2800" dirty="0"/>
          </a:p>
          <a:p>
            <a:endParaRPr lang="en-US" sz="2000" dirty="0">
              <a:solidFill>
                <a:srgbClr val="0F172A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31131416"/>
      </p:ext>
    </p:extLst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CD168C-F525-2914-FD46-DA6D71563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CD9CCC7-D2CB-1412-0C33-88C6EA8DFB5F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E2A241F-1194-45C9-3EB9-62F22313EBE5}"/>
              </a:ext>
            </a:extLst>
          </p:cNvPr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7E124B3-696A-A4A5-7993-4543CD82C8F9}"/>
              </a:ext>
            </a:extLst>
          </p:cNvPr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E9E607E-0719-2DE0-6F97-8E7B5B2A843C}"/>
              </a:ext>
            </a:extLst>
          </p:cNvPr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122</a:t>
            </a:r>
            <a:endParaRPr lang="en-US" sz="75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433360A-8607-CF07-C1A5-DE3ACF35FF32}"/>
              </a:ext>
            </a:extLst>
          </p:cNvPr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8</a:t>
            </a:r>
            <a:endParaRPr lang="en-US" sz="7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89445B8-9626-651A-E968-01BFE8C6A9EC}"/>
              </a:ext>
            </a:extLst>
          </p:cNvPr>
          <p:cNvSpPr/>
          <p:nvPr/>
        </p:nvSpPr>
        <p:spPr>
          <a:xfrm>
            <a:off x="502920" y="502920"/>
            <a:ext cx="110642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C4E80"/>
                </a:solidFill>
                <a:latin typeface="Aptos Display" pitchFamily="34" charset="0"/>
              </a:rPr>
              <a:t>DELETE </a:t>
            </a:r>
            <a:endParaRPr lang="en-US" sz="2800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895603CD-E561-5286-C50B-5064A386BA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2CC328B7-3E96-0048-1536-9F068171752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5041" t="8756" r="14667" b="10316"/>
          <a:stretch>
            <a:fillRect/>
          </a:stretch>
        </p:blipFill>
        <p:spPr>
          <a:xfrm>
            <a:off x="10631827" y="4792558"/>
            <a:ext cx="1309743" cy="1507914"/>
          </a:xfrm>
          <a:prstGeom prst="rect">
            <a:avLst/>
          </a:prstGeom>
        </p:spPr>
      </p:pic>
      <p:sp>
        <p:nvSpPr>
          <p:cNvPr id="10" name="Text 6">
            <a:extLst>
              <a:ext uri="{FF2B5EF4-FFF2-40B4-BE49-F238E27FC236}">
                <a16:creationId xmlns:a16="http://schemas.microsoft.com/office/drawing/2014/main" id="{89D34767-BF62-D01B-8C03-85640E46D490}"/>
              </a:ext>
            </a:extLst>
          </p:cNvPr>
          <p:cNvSpPr/>
          <p:nvPr/>
        </p:nvSpPr>
        <p:spPr>
          <a:xfrm>
            <a:off x="777240" y="1325880"/>
            <a:ext cx="10515600" cy="4800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s-MX" sz="2800" dirty="0">
                <a:solidFill>
                  <a:srgbClr val="FF0000"/>
                </a:solidFill>
              </a:rPr>
              <a:t>DELETE FROM </a:t>
            </a:r>
            <a:r>
              <a:rPr lang="es-MX" sz="2800" dirty="0"/>
              <a:t>dispositivos</a:t>
            </a:r>
          </a:p>
          <a:p>
            <a:r>
              <a:rPr lang="es-MX" sz="2800" dirty="0">
                <a:solidFill>
                  <a:srgbClr val="7030A0"/>
                </a:solidFill>
              </a:rPr>
              <a:t>WHERE </a:t>
            </a:r>
            <a:r>
              <a:rPr lang="es-MX" sz="2800" dirty="0"/>
              <a:t>errores</a:t>
            </a:r>
            <a:r>
              <a:rPr lang="es-MX" sz="2800" dirty="0">
                <a:solidFill>
                  <a:srgbClr val="7030A0"/>
                </a:solidFill>
              </a:rPr>
              <a:t> </a:t>
            </a:r>
            <a:r>
              <a:rPr lang="es-MX" sz="2800" dirty="0">
                <a:solidFill>
                  <a:srgbClr val="FF0000"/>
                </a:solidFill>
              </a:rPr>
              <a:t>&gt;</a:t>
            </a:r>
            <a:r>
              <a:rPr lang="es-MX" sz="2800" dirty="0">
                <a:solidFill>
                  <a:srgbClr val="7030A0"/>
                </a:solidFill>
              </a:rPr>
              <a:t> </a:t>
            </a:r>
            <a:r>
              <a:rPr lang="es-MX" sz="2800" dirty="0">
                <a:solidFill>
                  <a:srgbClr val="FF0000"/>
                </a:solidFill>
              </a:rPr>
              <a:t> 10</a:t>
            </a:r>
            <a:r>
              <a:rPr lang="es-MX" sz="2800" dirty="0"/>
              <a:t>;</a:t>
            </a:r>
          </a:p>
          <a:p>
            <a:endParaRPr lang="es-MX" sz="2800" dirty="0"/>
          </a:p>
          <a:p>
            <a:endParaRPr lang="es-MX" sz="2800" dirty="0"/>
          </a:p>
          <a:p>
            <a:r>
              <a:rPr lang="es-MX" sz="2800" dirty="0">
                <a:solidFill>
                  <a:schemeClr val="bg2">
                    <a:lumMod val="75000"/>
                  </a:schemeClr>
                </a:solidFill>
              </a:rPr>
              <a:t>#ELIMINAR todos los registros que cumplan la condición</a:t>
            </a:r>
            <a:endParaRPr lang="es-MX" sz="2800" dirty="0"/>
          </a:p>
          <a:p>
            <a:endParaRPr lang="en-US" sz="2000" dirty="0">
              <a:solidFill>
                <a:srgbClr val="0F172A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83925383"/>
      </p:ext>
    </p:extLst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1EBF1C-8A13-7A4E-739A-344D5B49B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76FBC03-2373-3A81-1DA2-DF728B7B67CD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B142BFD-F667-0D46-54AF-584B2FBFCF73}"/>
              </a:ext>
            </a:extLst>
          </p:cNvPr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B6A1CE2-DE5A-BADC-ED80-FC1E14316C07}"/>
              </a:ext>
            </a:extLst>
          </p:cNvPr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191226B-0357-BEC5-3B2E-5A8F62AAE275}"/>
              </a:ext>
            </a:extLst>
          </p:cNvPr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122</a:t>
            </a:r>
            <a:endParaRPr lang="en-US" sz="75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8E589F8-A0C1-F1E8-70B0-C90998812163}"/>
              </a:ext>
            </a:extLst>
          </p:cNvPr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8</a:t>
            </a:r>
            <a:endParaRPr lang="en-US" sz="7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7E2D469-E382-49B3-7025-68E24D0EB238}"/>
              </a:ext>
            </a:extLst>
          </p:cNvPr>
          <p:cNvSpPr/>
          <p:nvPr/>
        </p:nvSpPr>
        <p:spPr>
          <a:xfrm>
            <a:off x="502920" y="502920"/>
            <a:ext cx="110642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C4E80"/>
                </a:solidFill>
                <a:latin typeface="Aptos Display" pitchFamily="34" charset="0"/>
              </a:rPr>
              <a:t>DELETE </a:t>
            </a:r>
            <a:endParaRPr lang="en-US" sz="2800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94EFD612-19BA-74C9-003B-EF285D331D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D9C4C820-04F4-D178-CFE6-433DC04C948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5041" t="8756" r="14667" b="10316"/>
          <a:stretch>
            <a:fillRect/>
          </a:stretch>
        </p:blipFill>
        <p:spPr>
          <a:xfrm>
            <a:off x="10631827" y="4792558"/>
            <a:ext cx="1309743" cy="1507914"/>
          </a:xfrm>
          <a:prstGeom prst="rect">
            <a:avLst/>
          </a:prstGeom>
        </p:spPr>
      </p:pic>
      <p:sp>
        <p:nvSpPr>
          <p:cNvPr id="10" name="Text 6">
            <a:extLst>
              <a:ext uri="{FF2B5EF4-FFF2-40B4-BE49-F238E27FC236}">
                <a16:creationId xmlns:a16="http://schemas.microsoft.com/office/drawing/2014/main" id="{7D1D4211-3443-EDE2-F5B2-8E47C5F5BDFF}"/>
              </a:ext>
            </a:extLst>
          </p:cNvPr>
          <p:cNvSpPr/>
          <p:nvPr/>
        </p:nvSpPr>
        <p:spPr>
          <a:xfrm>
            <a:off x="777240" y="1362200"/>
            <a:ext cx="10515600" cy="4800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s-MX" sz="2800" dirty="0">
                <a:solidFill>
                  <a:srgbClr val="FF0000"/>
                </a:solidFill>
              </a:rPr>
              <a:t>DELETE FROM </a:t>
            </a:r>
            <a:r>
              <a:rPr lang="es-MX" sz="2800" dirty="0"/>
              <a:t>dispositivos;  </a:t>
            </a:r>
            <a:r>
              <a:rPr lang="es-MX" sz="2800" dirty="0">
                <a:solidFill>
                  <a:schemeClr val="bg2">
                    <a:lumMod val="75000"/>
                  </a:schemeClr>
                </a:solidFill>
              </a:rPr>
              <a:t>#ELIMINAR todos los registros</a:t>
            </a:r>
          </a:p>
          <a:p>
            <a:r>
              <a:rPr lang="es-MX" sz="2800" dirty="0">
                <a:solidFill>
                  <a:schemeClr val="bg2">
                    <a:lumMod val="75000"/>
                  </a:schemeClr>
                </a:solidFill>
              </a:rPr>
              <a:t>				         # de la tabla dispositivos </a:t>
            </a:r>
            <a:r>
              <a:rPr lang="es-MX" sz="2800" dirty="0"/>
              <a:t>   </a:t>
            </a:r>
            <a:endParaRPr lang="es-MX" sz="2000" dirty="0"/>
          </a:p>
          <a:p>
            <a:endParaRPr lang="en-US" sz="2000" dirty="0">
              <a:solidFill>
                <a:srgbClr val="0F172A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726599656"/>
      </p:ext>
    </p:extLst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B486BD-122E-D8DC-F9A1-2B13AD635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D72F4BC-B9B3-FF59-A439-94BD88486947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DEADF9B-57A2-F278-9D79-D04A0CA86E68}"/>
              </a:ext>
            </a:extLst>
          </p:cNvPr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A638337-8119-5F9D-5434-A86761D8E8D9}"/>
              </a:ext>
            </a:extLst>
          </p:cNvPr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1930F25-BC43-C630-6BD0-507A0F5371B8}"/>
              </a:ext>
            </a:extLst>
          </p:cNvPr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122</a:t>
            </a:r>
            <a:endParaRPr lang="en-US" sz="75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F4F5F28-A72A-EE4E-8D57-03088112E167}"/>
              </a:ext>
            </a:extLst>
          </p:cNvPr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8</a:t>
            </a:r>
            <a:endParaRPr lang="en-US" sz="7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7C11D2A-7D40-6B61-D57E-836A82F357B4}"/>
              </a:ext>
            </a:extLst>
          </p:cNvPr>
          <p:cNvSpPr/>
          <p:nvPr/>
        </p:nvSpPr>
        <p:spPr>
          <a:xfrm>
            <a:off x="502920" y="502920"/>
            <a:ext cx="110642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C4E80"/>
                </a:solidFill>
                <a:latin typeface="Aptos Display" pitchFamily="34" charset="0"/>
              </a:rPr>
              <a:t>DELETE </a:t>
            </a:r>
            <a:endParaRPr lang="en-US" sz="2800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770D9DF3-224D-F0E9-77FC-E927565A9A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AF79C6BE-37E0-0889-62DD-35593E2CA5A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5041" t="8756" r="14667" b="10316"/>
          <a:stretch>
            <a:fillRect/>
          </a:stretch>
        </p:blipFill>
        <p:spPr>
          <a:xfrm>
            <a:off x="10631827" y="4792558"/>
            <a:ext cx="1309743" cy="1507914"/>
          </a:xfrm>
          <a:prstGeom prst="rect">
            <a:avLst/>
          </a:prstGeom>
        </p:spPr>
      </p:pic>
      <p:sp>
        <p:nvSpPr>
          <p:cNvPr id="10" name="Text 6">
            <a:extLst>
              <a:ext uri="{FF2B5EF4-FFF2-40B4-BE49-F238E27FC236}">
                <a16:creationId xmlns:a16="http://schemas.microsoft.com/office/drawing/2014/main" id="{5A5DFA3B-9BF6-2736-7FC3-B7349DE99B06}"/>
              </a:ext>
            </a:extLst>
          </p:cNvPr>
          <p:cNvSpPr/>
          <p:nvPr/>
        </p:nvSpPr>
        <p:spPr>
          <a:xfrm>
            <a:off x="777240" y="1362200"/>
            <a:ext cx="10515600" cy="4800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s-MX" sz="2800" dirty="0">
                <a:solidFill>
                  <a:srgbClr val="FF0000"/>
                </a:solidFill>
              </a:rPr>
              <a:t>DROP TABLE </a:t>
            </a:r>
            <a:r>
              <a:rPr lang="es-MX" sz="2800" dirty="0"/>
              <a:t>dispositivos;  </a:t>
            </a:r>
            <a:r>
              <a:rPr lang="es-MX" sz="2800" dirty="0">
                <a:solidFill>
                  <a:schemeClr val="bg2">
                    <a:lumMod val="75000"/>
                  </a:schemeClr>
                </a:solidFill>
              </a:rPr>
              <a:t>#ELIMINAR toda la tabla</a:t>
            </a:r>
            <a:r>
              <a:rPr lang="es-MX" sz="2800" dirty="0"/>
              <a:t>    </a:t>
            </a:r>
            <a:endParaRPr lang="es-MX" sz="2000" dirty="0"/>
          </a:p>
          <a:p>
            <a:endParaRPr lang="en-US" sz="2000" dirty="0">
              <a:solidFill>
                <a:srgbClr val="0F172A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39434553"/>
      </p:ext>
    </p:extLst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EABE9E-BE24-757E-010A-A2FF817D96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6E7410E-73B8-C645-0860-37385D4E445A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FAB74E5-CAF1-C09D-70D7-63806C60824D}"/>
              </a:ext>
            </a:extLst>
          </p:cNvPr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7958521-15B0-1A94-637D-8739BBEAC0F2}"/>
              </a:ext>
            </a:extLst>
          </p:cNvPr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2939D7A-3012-9264-36F1-7034FC14EA80}"/>
              </a:ext>
            </a:extLst>
          </p:cNvPr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122</a:t>
            </a:r>
            <a:endParaRPr lang="en-US" sz="75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21B4E73-4D42-C1DD-CEB9-0C53C47AC20D}"/>
              </a:ext>
            </a:extLst>
          </p:cNvPr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8</a:t>
            </a:r>
            <a:endParaRPr lang="en-US" sz="7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8CBEF171-F23E-8D2E-8D9D-0894CC8C82E4}"/>
              </a:ext>
            </a:extLst>
          </p:cNvPr>
          <p:cNvSpPr/>
          <p:nvPr/>
        </p:nvSpPr>
        <p:spPr>
          <a:xfrm>
            <a:off x="502920" y="502920"/>
            <a:ext cx="110642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C4E80"/>
                </a:solidFill>
                <a:latin typeface="Aptos Display" pitchFamily="34" charset="0"/>
              </a:rPr>
              <a:t>CRUD SQL </a:t>
            </a:r>
            <a:endParaRPr lang="en-US" sz="2800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15F6BE47-D363-F6A6-9301-9E977DDE4D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8197" y="308397"/>
            <a:ext cx="1053803" cy="1053803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06B51184-D470-9918-297E-88FDB9991BF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33135"/>
          <a:stretch>
            <a:fillRect/>
          </a:stretch>
        </p:blipFill>
        <p:spPr>
          <a:xfrm>
            <a:off x="727906" y="1318060"/>
            <a:ext cx="10203951" cy="5117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5064589"/>
      </p:ext>
    </p:extLst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126</a:t>
            </a:r>
            <a:endParaRPr lang="en-US" sz="750"/>
          </a:p>
        </p:txBody>
      </p:sp>
      <p:sp>
        <p:nvSpPr>
          <p:cNvPr id="6" name="Text 4"/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8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457200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 err="1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Tablas</a:t>
            </a:r>
            <a:r>
              <a:rPr lang="en-US" sz="2600" b="1" dirty="0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para una base de datos de </a:t>
            </a:r>
            <a:r>
              <a:rPr lang="en-US" sz="2600" b="1" dirty="0" err="1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monitoreo</a:t>
            </a:r>
            <a:r>
              <a:rPr lang="en-US" sz="2600" b="1" dirty="0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de red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640080" y="1193748"/>
            <a:ext cx="10927080" cy="5207052"/>
          </a:xfrm>
          <a:prstGeom prst="roundRect">
            <a:avLst>
              <a:gd name="adj" fmla="val 1649"/>
            </a:avLst>
          </a:prstGeom>
          <a:solidFill>
            <a:srgbClr val="F8FAFC"/>
          </a:solidFill>
          <a:ln w="13970">
            <a:solidFill>
              <a:srgbClr val="306998"/>
            </a:solidFill>
            <a:prstDash val="solid"/>
          </a:ln>
        </p:spPr>
        <p:txBody>
          <a:bodyPr/>
          <a:lstStyle/>
          <a:p>
            <a:r>
              <a:rPr lang="es-MX" sz="1300" dirty="0"/>
              <a:t>CREATE TABLE dispositivos (    </a:t>
            </a:r>
          </a:p>
          <a:p>
            <a:r>
              <a:rPr lang="es-MX" sz="1300" dirty="0"/>
              <a:t>	</a:t>
            </a:r>
            <a:r>
              <a:rPr lang="es-MX" sz="1300" dirty="0" err="1"/>
              <a:t>id_dispositivo</a:t>
            </a:r>
            <a:r>
              <a:rPr lang="es-MX" sz="1300" dirty="0"/>
              <a:t> INTEGER PRIMARY KEY,   </a:t>
            </a:r>
          </a:p>
          <a:p>
            <a:r>
              <a:rPr lang="es-MX" sz="1300" dirty="0"/>
              <a:t>	nombre TEXT NOT NULL,    </a:t>
            </a:r>
          </a:p>
          <a:p>
            <a:r>
              <a:rPr lang="es-MX" sz="1300" dirty="0"/>
              <a:t>	</a:t>
            </a:r>
            <a:r>
              <a:rPr lang="es-MX" sz="1300" dirty="0" err="1"/>
              <a:t>direccion_ip</a:t>
            </a:r>
            <a:r>
              <a:rPr lang="es-MX" sz="1300" dirty="0"/>
              <a:t> TEXT UNIQUE NOT NULL</a:t>
            </a:r>
          </a:p>
          <a:p>
            <a:r>
              <a:rPr lang="es-MX" sz="1300" dirty="0"/>
              <a:t>);</a:t>
            </a:r>
          </a:p>
          <a:p>
            <a:endParaRPr lang="es-MX" sz="1300" dirty="0"/>
          </a:p>
          <a:p>
            <a:r>
              <a:rPr lang="es-MX" sz="1300" dirty="0"/>
              <a:t>CREATE TABLE redes (    </a:t>
            </a:r>
          </a:p>
          <a:p>
            <a:r>
              <a:rPr lang="es-MX" sz="1300" dirty="0"/>
              <a:t>	</a:t>
            </a:r>
            <a:r>
              <a:rPr lang="es-MX" sz="1300" dirty="0" err="1"/>
              <a:t>id_red</a:t>
            </a:r>
            <a:r>
              <a:rPr lang="es-MX" sz="1300" dirty="0"/>
              <a:t> INTEGER PRIMARY KEY,    </a:t>
            </a:r>
          </a:p>
          <a:p>
            <a:r>
              <a:rPr lang="es-MX" sz="1300" dirty="0"/>
              <a:t>	nombre TEXT NOT NULL,    </a:t>
            </a:r>
          </a:p>
          <a:p>
            <a:r>
              <a:rPr lang="es-MX" sz="1300" dirty="0"/>
              <a:t>	</a:t>
            </a:r>
            <a:r>
              <a:rPr lang="es-MX" sz="1300" dirty="0" err="1"/>
              <a:t>segmento_ip</a:t>
            </a:r>
            <a:r>
              <a:rPr lang="es-MX" sz="1300" dirty="0"/>
              <a:t> TEXT NOT NULL</a:t>
            </a:r>
          </a:p>
          <a:p>
            <a:r>
              <a:rPr lang="es-MX" sz="1300" dirty="0"/>
              <a:t>);</a:t>
            </a:r>
          </a:p>
          <a:p>
            <a:endParaRPr lang="es-MX" sz="1300" dirty="0"/>
          </a:p>
          <a:p>
            <a:r>
              <a:rPr lang="es-MX" sz="1300" dirty="0"/>
              <a:t>CREATE TABLE monitoreos (    </a:t>
            </a:r>
          </a:p>
          <a:p>
            <a:r>
              <a:rPr lang="es-MX" sz="1300" dirty="0"/>
              <a:t>	</a:t>
            </a:r>
            <a:r>
              <a:rPr lang="es-MX" sz="1300" dirty="0" err="1"/>
              <a:t>id_monitoreo</a:t>
            </a:r>
            <a:r>
              <a:rPr lang="es-MX" sz="1300" dirty="0"/>
              <a:t> INTEGER PRIMARY KEY,    </a:t>
            </a:r>
          </a:p>
          <a:p>
            <a:r>
              <a:rPr lang="es-MX" sz="1300" dirty="0"/>
              <a:t>	</a:t>
            </a:r>
            <a:r>
              <a:rPr lang="es-MX" sz="1300" dirty="0" err="1"/>
              <a:t>dispositivo_id</a:t>
            </a:r>
            <a:r>
              <a:rPr lang="es-MX" sz="1300" dirty="0"/>
              <a:t> INTEGER NOT NULL,    </a:t>
            </a:r>
          </a:p>
          <a:p>
            <a:r>
              <a:rPr lang="es-MX" sz="1300" dirty="0"/>
              <a:t>	</a:t>
            </a:r>
            <a:r>
              <a:rPr lang="es-MX" sz="1300" dirty="0" err="1"/>
              <a:t>red_id</a:t>
            </a:r>
            <a:r>
              <a:rPr lang="es-MX" sz="1300" dirty="0"/>
              <a:t> INTEGER NOT NULL,    </a:t>
            </a:r>
          </a:p>
          <a:p>
            <a:r>
              <a:rPr lang="es-MX" sz="1300" dirty="0"/>
              <a:t>	</a:t>
            </a:r>
            <a:r>
              <a:rPr lang="es-MX" sz="1300" dirty="0" err="1"/>
              <a:t>latencia_ms</a:t>
            </a:r>
            <a:r>
              <a:rPr lang="es-MX" sz="1300" dirty="0"/>
              <a:t> REAL,    </a:t>
            </a:r>
          </a:p>
          <a:p>
            <a:r>
              <a:rPr lang="es-MX" sz="1300" dirty="0"/>
              <a:t>	errores INTEGER,    </a:t>
            </a:r>
          </a:p>
          <a:p>
            <a:r>
              <a:rPr lang="es-MX" sz="1300" dirty="0"/>
              <a:t>	</a:t>
            </a:r>
            <a:r>
              <a:rPr lang="es-MX" sz="1300" dirty="0" err="1"/>
              <a:t>fecha_hora</a:t>
            </a:r>
            <a:r>
              <a:rPr lang="es-MX" sz="1300" dirty="0"/>
              <a:t> TEXT,    </a:t>
            </a:r>
          </a:p>
          <a:p>
            <a:endParaRPr lang="es-MX" sz="1300" dirty="0"/>
          </a:p>
          <a:p>
            <a:r>
              <a:rPr lang="es-MX" sz="1300" dirty="0"/>
              <a:t>	FOREIGN KEY (</a:t>
            </a:r>
            <a:r>
              <a:rPr lang="es-MX" sz="1300" dirty="0" err="1"/>
              <a:t>dispositivo_id</a:t>
            </a:r>
            <a:r>
              <a:rPr lang="es-MX" sz="1300" dirty="0"/>
              <a:t>)        </a:t>
            </a:r>
          </a:p>
          <a:p>
            <a:r>
              <a:rPr lang="es-MX" sz="1300" dirty="0"/>
              <a:t>		REFERENCES dispositivos(</a:t>
            </a:r>
            <a:r>
              <a:rPr lang="es-MX" sz="1300" dirty="0" err="1"/>
              <a:t>id_dispositivo</a:t>
            </a:r>
            <a:r>
              <a:rPr lang="es-MX" sz="1300" dirty="0"/>
              <a:t>),   </a:t>
            </a:r>
          </a:p>
          <a:p>
            <a:r>
              <a:rPr lang="es-MX" sz="1300" dirty="0"/>
              <a:t>	 FOREIGN KEY (</a:t>
            </a:r>
            <a:r>
              <a:rPr lang="es-MX" sz="1300" dirty="0" err="1"/>
              <a:t>red_id</a:t>
            </a:r>
            <a:r>
              <a:rPr lang="es-MX" sz="1300" dirty="0"/>
              <a:t>)        </a:t>
            </a:r>
          </a:p>
          <a:p>
            <a:r>
              <a:rPr lang="es-MX" sz="1300" dirty="0"/>
              <a:t>		REFERENCES redes(</a:t>
            </a:r>
            <a:r>
              <a:rPr lang="es-MX" sz="1300" dirty="0" err="1"/>
              <a:t>id_red</a:t>
            </a:r>
            <a:r>
              <a:rPr lang="es-MX" sz="1300" dirty="0"/>
              <a:t>)</a:t>
            </a:r>
          </a:p>
          <a:p>
            <a:r>
              <a:rPr lang="es-MX" sz="1400" dirty="0"/>
              <a:t>);</a:t>
            </a:r>
          </a:p>
        </p:txBody>
      </p:sp>
      <p:sp>
        <p:nvSpPr>
          <p:cNvPr id="10" name="Text 8"/>
          <p:cNvSpPr/>
          <p:nvPr/>
        </p:nvSpPr>
        <p:spPr>
          <a:xfrm>
            <a:off x="868680" y="1810512"/>
            <a:ext cx="10469880" cy="4105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116049D6-2AD6-C5DF-ACE7-5BAAF63FC19E}"/>
              </a:ext>
            </a:extLst>
          </p:cNvPr>
          <p:cNvSpPr/>
          <p:nvPr/>
        </p:nvSpPr>
        <p:spPr>
          <a:xfrm>
            <a:off x="1021080" y="1962912"/>
            <a:ext cx="10469880" cy="4105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127</a:t>
            </a:r>
            <a:endParaRPr lang="en-US" sz="750"/>
          </a:p>
        </p:txBody>
      </p:sp>
      <p:sp>
        <p:nvSpPr>
          <p:cNvPr id="6" name="Text 4"/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8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457200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Crear SQLite </a:t>
            </a:r>
            <a:r>
              <a:rPr lang="en-US" sz="2600" b="1" dirty="0" err="1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desde</a:t>
            </a:r>
            <a:r>
              <a:rPr lang="en-US" sz="2600" b="1" dirty="0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Python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85800" y="1097280"/>
            <a:ext cx="107899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sqlite3 viene con Python.</a:t>
            </a:r>
            <a:endParaRPr lang="en-US" sz="1600"/>
          </a:p>
        </p:txBody>
      </p:sp>
      <p:sp>
        <p:nvSpPr>
          <p:cNvPr id="9" name="Shape 7"/>
          <p:cNvSpPr/>
          <p:nvPr/>
        </p:nvSpPr>
        <p:spPr>
          <a:xfrm>
            <a:off x="640080" y="1645920"/>
            <a:ext cx="10927080" cy="4434840"/>
          </a:xfrm>
          <a:prstGeom prst="roundRect">
            <a:avLst>
              <a:gd name="adj" fmla="val 1649"/>
            </a:avLst>
          </a:prstGeom>
          <a:solidFill>
            <a:srgbClr val="F8FAFC"/>
          </a:solidFill>
          <a:ln w="1397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868680" y="1810512"/>
            <a:ext cx="10469880" cy="4105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sqlite3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conexion</a:t>
            </a:r>
            <a:r>
              <a:rPr lang="en-US" sz="14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sqlite3.connect("</a:t>
            </a:r>
            <a:r>
              <a:rPr lang="en-US" sz="140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academico.db</a:t>
            </a:r>
            <a:r>
              <a:rPr lang="en-US" sz="14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cursor = </a:t>
            </a:r>
            <a:r>
              <a:rPr lang="en-US" sz="140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conexion.cursor</a:t>
            </a:r>
            <a:r>
              <a:rPr lang="en-US" sz="14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cursor.execute</a:t>
            </a:r>
            <a:r>
              <a:rPr lang="en-US" sz="14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("""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IF NOT EXISTS </a:t>
            </a:r>
            <a:r>
              <a:rPr lang="en-US" sz="140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estudiantes</a:t>
            </a:r>
            <a:r>
              <a:rPr lang="en-US" sz="14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 INTEGER PRIMARY KEY AUTOINCREMENT,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40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</a:t>
            </a:r>
            <a:r>
              <a:rPr lang="en-US" sz="14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TEXT NOT NULL,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40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promedio</a:t>
            </a:r>
            <a:r>
              <a:rPr lang="en-US" sz="14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REAL NOT NULL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""")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conexion.commit</a:t>
            </a:r>
            <a:r>
              <a:rPr lang="en-US" sz="14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400" dirty="0"/>
          </a:p>
          <a:p>
            <a:pPr marL="0" indent="0">
              <a:buNone/>
            </a:pPr>
            <a:r>
              <a:rPr lang="en-US" sz="140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conexion.close</a:t>
            </a:r>
            <a:r>
              <a:rPr lang="en-US" sz="14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400" dirty="0"/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5166360"/>
            <a:ext cx="12191695" cy="169164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94360" y="64008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>
                <a:solidFill>
                  <a:srgbClr val="FFD4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09</a:t>
            </a:r>
            <a:endParaRPr lang="en-US" sz="580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1078992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Sesión 9: SQL </a:t>
            </a:r>
            <a:r>
              <a:rPr lang="en-US" sz="4000" b="1" dirty="0" err="1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profesional</a:t>
            </a: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, </a:t>
            </a:r>
            <a:r>
              <a:rPr lang="en-US" sz="4000" b="1" dirty="0" err="1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reportes</a:t>
            </a: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y MongoDB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3063240"/>
            <a:ext cx="987552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20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Profundizar consultas, generar reportes y conocer bases documentales.</a:t>
            </a:r>
            <a:endParaRPr lang="en-US" sz="2200"/>
          </a:p>
        </p:txBody>
      </p:sp>
      <p:sp>
        <p:nvSpPr>
          <p:cNvPr id="7" name="Text 5"/>
          <p:cNvSpPr/>
          <p:nvPr/>
        </p:nvSpPr>
        <p:spPr>
          <a:xfrm>
            <a:off x="685800" y="5715000"/>
            <a:ext cx="7772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4E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Curso de Programación con Python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1201400" y="62910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1C4E80"/>
                </a:solidFill>
              </a:rPr>
              <a:t>134</a:t>
            </a:r>
            <a:endParaRPr lang="en-US" sz="800"/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135</a:t>
            </a:r>
            <a:endParaRPr lang="en-US" sz="750"/>
          </a:p>
        </p:txBody>
      </p:sp>
      <p:sp>
        <p:nvSpPr>
          <p:cNvPr id="6" name="Text 4"/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9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502920"/>
            <a:ext cx="110642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Sesión 9 | Objetivo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77240" y="1325880"/>
            <a:ext cx="10515600" cy="4800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Profundizar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consultas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generar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reportes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y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conocer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bases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documentales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Conectar el concepto con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tareas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docentes reales.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Construir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una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parte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del proyecto integrador.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Cerrar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con una evidencia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ejecutable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136</a:t>
            </a:r>
            <a:endParaRPr lang="en-US" sz="750"/>
          </a:p>
        </p:txBody>
      </p:sp>
      <p:sp>
        <p:nvSpPr>
          <p:cNvPr id="6" name="Text 4"/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9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502920"/>
            <a:ext cx="110642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Sesión 9 | Agenda de </a:t>
            </a:r>
            <a:r>
              <a:rPr lang="en-US" sz="2800" b="1" dirty="0" err="1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trabajo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77240" y="1325880"/>
            <a:ext cx="10515600" cy="4800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70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SELECT avanzado.</a:t>
            </a:r>
            <a:endParaRPr lang="en-US" sz="1700"/>
          </a:p>
          <a:p>
            <a:pPr marL="0" indent="0">
              <a:buNone/>
            </a:pPr>
            <a:r>
              <a:rPr lang="en-US" sz="170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WHERE, ORDER BY, GROUP BY.</a:t>
            </a:r>
            <a:endParaRPr lang="en-US" sz="1700"/>
          </a:p>
          <a:p>
            <a:pPr marL="0" indent="0">
              <a:buNone/>
            </a:pPr>
            <a:r>
              <a:rPr lang="en-US" sz="170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Joins.</a:t>
            </a:r>
            <a:endParaRPr lang="en-US" sz="1700"/>
          </a:p>
          <a:p>
            <a:pPr marL="0" indent="0">
              <a:buNone/>
            </a:pPr>
            <a:r>
              <a:rPr lang="en-US" sz="170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Agregaciones.</a:t>
            </a:r>
            <a:endParaRPr lang="en-US" sz="1700"/>
          </a:p>
          <a:p>
            <a:pPr marL="0" indent="0">
              <a:buNone/>
            </a:pPr>
            <a:r>
              <a:rPr lang="en-US" sz="170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pandas.</a:t>
            </a:r>
            <a:endParaRPr lang="en-US" sz="1700"/>
          </a:p>
          <a:p>
            <a:pPr marL="0" indent="0">
              <a:buNone/>
            </a:pPr>
            <a:r>
              <a:rPr lang="en-US" sz="170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MongoDB.</a:t>
            </a:r>
            <a:endParaRPr lang="en-US" sz="1700"/>
          </a:p>
          <a:p>
            <a:pPr marL="0" indent="0">
              <a:buNone/>
            </a:pPr>
            <a:r>
              <a:rPr lang="en-US" sz="170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CRUD documental.</a:t>
            </a:r>
            <a:endParaRPr lang="en-US" sz="1700"/>
          </a:p>
          <a:p>
            <a:pPr marL="0" indent="0">
              <a:buNone/>
            </a:pPr>
            <a:r>
              <a:rPr lang="en-US" sz="170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Índices.</a:t>
            </a:r>
            <a:endParaRPr lang="en-US" sz="1700"/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137</a:t>
            </a:r>
            <a:endParaRPr lang="en-US" sz="750"/>
          </a:p>
        </p:txBody>
      </p:sp>
      <p:sp>
        <p:nvSpPr>
          <p:cNvPr id="6" name="Text 4"/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9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502920"/>
            <a:ext cx="110642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Sesión 9 | Avance del proyecto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77240" y="1325880"/>
            <a:ext cx="10515600" cy="4069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Consultar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estudiantes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por curso.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Generar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reportes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con pandas.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Comparar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SQL y MongoDB.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Crear banco de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MongoDB.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777240" y="5806440"/>
            <a:ext cx="10515600" cy="411480"/>
          </a:xfrm>
          <a:prstGeom prst="rect">
            <a:avLst/>
          </a:prstGeom>
          <a:solidFill>
            <a:srgbClr val="F3F6FA"/>
          </a:solidFill>
          <a:ln w="1651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960120" y="5879592"/>
            <a:ext cx="10149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4E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Proyecto: Asistente Académico Docente con Python</a:t>
            </a:r>
            <a:endParaRPr lang="en-US" sz="1200" dirty="0"/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138</a:t>
            </a:r>
            <a:endParaRPr lang="en-US" sz="750"/>
          </a:p>
        </p:txBody>
      </p:sp>
      <p:sp>
        <p:nvSpPr>
          <p:cNvPr id="6" name="Text 4"/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9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502920"/>
            <a:ext cx="110642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Sesión 9 | Práctica guiada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77240" y="1325880"/>
            <a:ext cx="10515600" cy="4800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Crear consulta con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promedio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por curso.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Exportar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reporte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a Excel.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Crear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documento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de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académica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Buscar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por tema o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dificultad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139</a:t>
            </a:r>
            <a:endParaRPr lang="en-US" sz="750"/>
          </a:p>
        </p:txBody>
      </p:sp>
      <p:sp>
        <p:nvSpPr>
          <p:cNvPr id="6" name="Text 4"/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9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502920"/>
            <a:ext cx="110642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SQL para análisis académico</a:t>
            </a:r>
            <a:endParaRPr lang="en-US" sz="2800"/>
          </a:p>
        </p:txBody>
      </p:sp>
      <p:sp>
        <p:nvSpPr>
          <p:cNvPr id="8" name="Text 6"/>
          <p:cNvSpPr/>
          <p:nvPr/>
        </p:nvSpPr>
        <p:spPr>
          <a:xfrm>
            <a:off x="777240" y="1325880"/>
            <a:ext cx="10515600" cy="4800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SELECT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permite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transformar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datos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información.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WHERE filtra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registros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ORDER BY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ordena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resultados.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GROUP BY resume información.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JOIN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conecta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tablas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relacionadas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140</a:t>
            </a:r>
            <a:endParaRPr lang="en-US" sz="750"/>
          </a:p>
        </p:txBody>
      </p:sp>
      <p:sp>
        <p:nvSpPr>
          <p:cNvPr id="6" name="Text 4"/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9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457200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600" b="1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Consulta con filtro</a:t>
            </a:r>
            <a:endParaRPr lang="en-US" sz="2600"/>
          </a:p>
        </p:txBody>
      </p:sp>
      <p:sp>
        <p:nvSpPr>
          <p:cNvPr id="8" name="Text 6"/>
          <p:cNvSpPr/>
          <p:nvPr/>
        </p:nvSpPr>
        <p:spPr>
          <a:xfrm>
            <a:off x="685800" y="1097280"/>
            <a:ext cx="107899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Estudiantes aprobados.</a:t>
            </a:r>
            <a:endParaRPr lang="en-US" sz="1600"/>
          </a:p>
        </p:txBody>
      </p:sp>
      <p:sp>
        <p:nvSpPr>
          <p:cNvPr id="9" name="Shape 7"/>
          <p:cNvSpPr/>
          <p:nvPr/>
        </p:nvSpPr>
        <p:spPr>
          <a:xfrm>
            <a:off x="640080" y="1645920"/>
            <a:ext cx="10927080" cy="4434840"/>
          </a:xfrm>
          <a:prstGeom prst="roundRect">
            <a:avLst>
              <a:gd name="adj" fmla="val 1649"/>
            </a:avLst>
          </a:prstGeom>
          <a:solidFill>
            <a:srgbClr val="F8FAFC"/>
          </a:solidFill>
          <a:ln w="1397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868680" y="1810512"/>
            <a:ext cx="10469880" cy="4105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2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id, nombre, promedio</a:t>
            </a:r>
            <a:endParaRPr lang="en-US" sz="2200"/>
          </a:p>
          <a:p>
            <a:pPr marL="0" indent="0">
              <a:buNone/>
            </a:pPr>
            <a:r>
              <a:rPr lang="en-US" sz="22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estudiantes</a:t>
            </a:r>
            <a:endParaRPr lang="en-US" sz="2200"/>
          </a:p>
          <a:p>
            <a:pPr marL="0" indent="0">
              <a:buNone/>
            </a:pPr>
            <a:r>
              <a:rPr lang="en-US" sz="22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promedio &gt;= 7</a:t>
            </a:r>
            <a:endParaRPr lang="en-US" sz="2200"/>
          </a:p>
          <a:p>
            <a:pPr marL="0" indent="0">
              <a:buNone/>
            </a:pPr>
            <a:r>
              <a:rPr lang="en-US" sz="22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promedio DESC;</a:t>
            </a:r>
            <a:endParaRPr lang="en-US" sz="2200"/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141</a:t>
            </a:r>
            <a:endParaRPr lang="en-US" sz="750"/>
          </a:p>
        </p:txBody>
      </p:sp>
      <p:sp>
        <p:nvSpPr>
          <p:cNvPr id="6" name="Text 4"/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9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457200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600" b="1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Join académico</a:t>
            </a:r>
            <a:endParaRPr lang="en-US" sz="2600"/>
          </a:p>
        </p:txBody>
      </p:sp>
      <p:sp>
        <p:nvSpPr>
          <p:cNvPr id="8" name="Text 6"/>
          <p:cNvSpPr/>
          <p:nvPr/>
        </p:nvSpPr>
        <p:spPr>
          <a:xfrm>
            <a:off x="685800" y="1097280"/>
            <a:ext cx="107899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Relacionar estudiantes, cursos y matrículas.</a:t>
            </a:r>
            <a:endParaRPr lang="en-US" sz="1600"/>
          </a:p>
        </p:txBody>
      </p:sp>
      <p:sp>
        <p:nvSpPr>
          <p:cNvPr id="9" name="Shape 7"/>
          <p:cNvSpPr/>
          <p:nvPr/>
        </p:nvSpPr>
        <p:spPr>
          <a:xfrm>
            <a:off x="640080" y="1645920"/>
            <a:ext cx="10927080" cy="4434840"/>
          </a:xfrm>
          <a:prstGeom prst="roundRect">
            <a:avLst>
              <a:gd name="adj" fmla="val 1649"/>
            </a:avLst>
          </a:prstGeom>
          <a:solidFill>
            <a:srgbClr val="F8FAFC"/>
          </a:solidFill>
          <a:ln w="1397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868680" y="1810512"/>
            <a:ext cx="10469880" cy="4105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5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450"/>
          </a:p>
          <a:p>
            <a:pPr marL="0" indent="0">
              <a:buNone/>
            </a:pPr>
            <a:r>
              <a:rPr lang="en-US" sz="145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e.nombre AS estudiante,</a:t>
            </a:r>
            <a:endParaRPr lang="en-US" sz="1450"/>
          </a:p>
          <a:p>
            <a:pPr marL="0" indent="0">
              <a:buNone/>
            </a:pPr>
            <a:r>
              <a:rPr lang="en-US" sz="145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c.nombre AS curso,</a:t>
            </a:r>
            <a:endParaRPr lang="en-US" sz="1450"/>
          </a:p>
          <a:p>
            <a:pPr marL="0" indent="0">
              <a:buNone/>
            </a:pPr>
            <a:r>
              <a:rPr lang="en-US" sz="145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m.nota_final</a:t>
            </a:r>
            <a:endParaRPr lang="en-US" sz="1450"/>
          </a:p>
          <a:p>
            <a:pPr marL="0" indent="0">
              <a:buNone/>
            </a:pPr>
            <a:r>
              <a:rPr lang="en-US" sz="145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matriculas m</a:t>
            </a:r>
            <a:endParaRPr lang="en-US" sz="1450"/>
          </a:p>
          <a:p>
            <a:pPr marL="0" indent="0">
              <a:buNone/>
            </a:pPr>
            <a:r>
              <a:rPr lang="en-US" sz="145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estudiantes e ON e.id_estudiante = m.estudiante_id</a:t>
            </a:r>
            <a:endParaRPr lang="en-US" sz="1450"/>
          </a:p>
          <a:p>
            <a:pPr marL="0" indent="0">
              <a:buNone/>
            </a:pPr>
            <a:r>
              <a:rPr lang="en-US" sz="145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cursos c ON </a:t>
            </a:r>
            <a:r>
              <a:rPr lang="en-US" sz="145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c.id_curso</a:t>
            </a:r>
            <a:r>
              <a:rPr lang="en-US" sz="145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45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m.curso_id</a:t>
            </a:r>
            <a:endParaRPr lang="en-US" sz="1450"/>
          </a:p>
          <a:p>
            <a:pPr marL="0" indent="0">
              <a:buNone/>
            </a:pPr>
            <a:r>
              <a:rPr lang="en-US" sz="145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m.nota_final &gt;= 7</a:t>
            </a:r>
            <a:endParaRPr lang="en-US" sz="1450"/>
          </a:p>
          <a:p>
            <a:pPr marL="0" indent="0">
              <a:buNone/>
            </a:pPr>
            <a:r>
              <a:rPr lang="en-US" sz="145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m.nota_final DESC;</a:t>
            </a:r>
            <a:endParaRPr lang="en-US" sz="1450"/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142</a:t>
            </a:r>
            <a:endParaRPr lang="en-US" sz="750"/>
          </a:p>
        </p:txBody>
      </p:sp>
      <p:sp>
        <p:nvSpPr>
          <p:cNvPr id="6" name="Text 4"/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9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457200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600" b="1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Agregaciones</a:t>
            </a:r>
            <a:endParaRPr lang="en-US" sz="2600"/>
          </a:p>
        </p:txBody>
      </p:sp>
      <p:sp>
        <p:nvSpPr>
          <p:cNvPr id="8" name="Text 6"/>
          <p:cNvSpPr/>
          <p:nvPr/>
        </p:nvSpPr>
        <p:spPr>
          <a:xfrm>
            <a:off x="685800" y="1097280"/>
            <a:ext cx="107899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 err="1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Resumen</a:t>
            </a:r>
            <a:r>
              <a:rPr lang="en-US" sz="16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por curso.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1645920"/>
            <a:ext cx="10927080" cy="4434840"/>
          </a:xfrm>
          <a:prstGeom prst="roundRect">
            <a:avLst>
              <a:gd name="adj" fmla="val 1649"/>
            </a:avLst>
          </a:prstGeom>
          <a:solidFill>
            <a:srgbClr val="F8FAFC"/>
          </a:solidFill>
          <a:ln w="1397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868680" y="1810512"/>
            <a:ext cx="10469880" cy="4105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c.nombre AS curso,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COUNT(*) AS total_matriculados,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AVG(m.nota_final) AS </a:t>
            </a:r>
            <a:r>
              <a:rPr lang="en-US" sz="130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promedio_curso</a:t>
            </a:r>
            <a:r>
              <a:rPr lang="en-US" sz="13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MIN(m.nota_final) AS nota_minima,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MAX(m.nota_final) AS nota_maxima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matriculas m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cursos c ON </a:t>
            </a:r>
            <a:r>
              <a:rPr lang="en-US" sz="130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c.id_curso</a:t>
            </a:r>
            <a:r>
              <a:rPr lang="en-US" sz="13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30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m.curso_id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c.nombre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</a:t>
            </a:r>
            <a:r>
              <a:rPr lang="en-US" sz="130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promedio_curso</a:t>
            </a:r>
            <a:r>
              <a:rPr lang="en-US" sz="13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DESC;</a:t>
            </a:r>
            <a:endParaRPr lang="en-US" sz="1300"/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143</a:t>
            </a:r>
            <a:endParaRPr lang="en-US" sz="750"/>
          </a:p>
        </p:txBody>
      </p:sp>
      <p:sp>
        <p:nvSpPr>
          <p:cNvPr id="6" name="Text 4"/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9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502920"/>
            <a:ext cx="110642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Normalización básica</a:t>
            </a:r>
            <a:endParaRPr lang="en-US" sz="2800"/>
          </a:p>
        </p:txBody>
      </p:sp>
      <p:sp>
        <p:nvSpPr>
          <p:cNvPr id="8" name="Text 6"/>
          <p:cNvSpPr/>
          <p:nvPr/>
        </p:nvSpPr>
        <p:spPr>
          <a:xfrm>
            <a:off x="777240" y="1325880"/>
            <a:ext cx="10515600" cy="4800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Evitar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listas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dentro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de una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misma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celda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Separar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entidades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principales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Usar claves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primarias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Usar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relaciones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cuando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corresponda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Reducir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duplicidad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de datos.</a:t>
            </a:r>
            <a:endParaRPr lang="en-US" sz="2000" dirty="0"/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144</a:t>
            </a:r>
            <a:endParaRPr lang="en-US" sz="750"/>
          </a:p>
        </p:txBody>
      </p:sp>
      <p:sp>
        <p:nvSpPr>
          <p:cNvPr id="6" name="Text 4"/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9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502920"/>
            <a:ext cx="1106424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700" b="1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SQLite, PostgreSQL y MySQL</a:t>
            </a:r>
            <a:endParaRPr lang="en-US" sz="2700"/>
          </a:p>
        </p:txBody>
      </p:sp>
      <p:sp>
        <p:nvSpPr>
          <p:cNvPr id="8" name="Shape 6"/>
          <p:cNvSpPr/>
          <p:nvPr/>
        </p:nvSpPr>
        <p:spPr>
          <a:xfrm>
            <a:off x="658368" y="1298448"/>
            <a:ext cx="5257800" cy="411480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Shape 7"/>
          <p:cNvSpPr/>
          <p:nvPr/>
        </p:nvSpPr>
        <p:spPr>
          <a:xfrm>
            <a:off x="6263640" y="1298448"/>
            <a:ext cx="5257800" cy="41148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822960" y="1389888"/>
            <a:ext cx="4892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FFFFF"/>
                </a:solidFill>
              </a:rPr>
              <a:t>SQLite</a:t>
            </a:r>
            <a:endParaRPr lang="en-US" sz="1500"/>
          </a:p>
        </p:txBody>
      </p:sp>
      <p:sp>
        <p:nvSpPr>
          <p:cNvPr id="11" name="Text 9"/>
          <p:cNvSpPr/>
          <p:nvPr/>
        </p:nvSpPr>
        <p:spPr>
          <a:xfrm>
            <a:off x="6428232" y="1389888"/>
            <a:ext cx="4892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C4E80"/>
                </a:solidFill>
              </a:rPr>
              <a:t>PostgreSQL / MySQL</a:t>
            </a:r>
            <a:endParaRPr lang="en-US" sz="1500"/>
          </a:p>
        </p:txBody>
      </p:sp>
      <p:sp>
        <p:nvSpPr>
          <p:cNvPr id="12" name="Text 10"/>
          <p:cNvSpPr/>
          <p:nvPr/>
        </p:nvSpPr>
        <p:spPr>
          <a:xfrm>
            <a:off x="777240" y="1920240"/>
            <a:ext cx="5166360" cy="4069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700">
                <a:solidFill>
                  <a:srgbClr val="0F172A"/>
                </a:solidFill>
              </a:rPr>
              <a:t>• No requiere servidor.</a:t>
            </a:r>
            <a:endParaRPr lang="en-US" sz="1700"/>
          </a:p>
          <a:p>
            <a:pPr marL="0" indent="0">
              <a:buNone/>
            </a:pPr>
            <a:r>
              <a:rPr lang="en-US" sz="1700">
                <a:solidFill>
                  <a:srgbClr val="0F172A"/>
                </a:solidFill>
              </a:rPr>
              <a:t>• Excelente para clase.</a:t>
            </a:r>
            <a:endParaRPr lang="en-US" sz="1700"/>
          </a:p>
          <a:p>
            <a:pPr marL="0" indent="0">
              <a:buNone/>
            </a:pPr>
            <a:r>
              <a:rPr lang="en-US" sz="1700">
                <a:solidFill>
                  <a:srgbClr val="0F172A"/>
                </a:solidFill>
              </a:rPr>
              <a:t>• Archivo local.</a:t>
            </a:r>
            <a:endParaRPr lang="en-US" sz="1700"/>
          </a:p>
          <a:p>
            <a:pPr marL="0" indent="0">
              <a:buNone/>
            </a:pPr>
            <a:r>
              <a:rPr lang="en-US" sz="1700">
                <a:solidFill>
                  <a:srgbClr val="0F172A"/>
                </a:solidFill>
              </a:rPr>
              <a:t>• Ideal para prototipos.</a:t>
            </a:r>
            <a:endParaRPr lang="en-US" sz="1700"/>
          </a:p>
        </p:txBody>
      </p:sp>
      <p:sp>
        <p:nvSpPr>
          <p:cNvPr id="13" name="Text 11"/>
          <p:cNvSpPr/>
          <p:nvPr/>
        </p:nvSpPr>
        <p:spPr>
          <a:xfrm>
            <a:off x="6400800" y="1920240"/>
            <a:ext cx="5166360" cy="4069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700">
                <a:solidFill>
                  <a:srgbClr val="0F172A"/>
                </a:solidFill>
              </a:rPr>
              <a:t>• Motores de servidor.</a:t>
            </a:r>
            <a:endParaRPr lang="en-US" sz="1700"/>
          </a:p>
          <a:p>
            <a:pPr marL="0" indent="0">
              <a:buNone/>
            </a:pPr>
            <a:r>
              <a:rPr lang="en-US" sz="1700">
                <a:solidFill>
                  <a:srgbClr val="0F172A"/>
                </a:solidFill>
              </a:rPr>
              <a:t>• Uso profesional.</a:t>
            </a:r>
            <a:endParaRPr lang="en-US" sz="1700"/>
          </a:p>
          <a:p>
            <a:pPr marL="0" indent="0">
              <a:buNone/>
            </a:pPr>
            <a:r>
              <a:rPr lang="en-US" sz="1700">
                <a:solidFill>
                  <a:srgbClr val="0F172A"/>
                </a:solidFill>
              </a:rPr>
              <a:t>• Multiusuario.</a:t>
            </a:r>
            <a:endParaRPr lang="en-US" sz="1700"/>
          </a:p>
          <a:p>
            <a:pPr marL="0" indent="0">
              <a:buNone/>
            </a:pPr>
            <a:r>
              <a:rPr lang="en-US" sz="1700">
                <a:solidFill>
                  <a:srgbClr val="0F172A"/>
                </a:solidFill>
              </a:rPr>
              <a:t>• Más administración e instalación.</a:t>
            </a:r>
            <a:endParaRPr lang="en-US" sz="1700"/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145</a:t>
            </a:r>
            <a:endParaRPr lang="en-US" sz="750"/>
          </a:p>
        </p:txBody>
      </p:sp>
      <p:sp>
        <p:nvSpPr>
          <p:cNvPr id="6" name="Text 4"/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9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457200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600" b="1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Reporte con pandas</a:t>
            </a:r>
            <a:endParaRPr lang="en-US" sz="2600"/>
          </a:p>
        </p:txBody>
      </p:sp>
      <p:sp>
        <p:nvSpPr>
          <p:cNvPr id="8" name="Text 6"/>
          <p:cNvSpPr/>
          <p:nvPr/>
        </p:nvSpPr>
        <p:spPr>
          <a:xfrm>
            <a:off x="685800" y="1097280"/>
            <a:ext cx="107899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Exportar consulta a Excel.</a:t>
            </a:r>
            <a:endParaRPr lang="en-US" sz="1600"/>
          </a:p>
        </p:txBody>
      </p:sp>
      <p:sp>
        <p:nvSpPr>
          <p:cNvPr id="9" name="Shape 7"/>
          <p:cNvSpPr/>
          <p:nvPr/>
        </p:nvSpPr>
        <p:spPr>
          <a:xfrm>
            <a:off x="640080" y="1645920"/>
            <a:ext cx="10927080" cy="4434840"/>
          </a:xfrm>
          <a:prstGeom prst="roundRect">
            <a:avLst>
              <a:gd name="adj" fmla="val 1649"/>
            </a:avLst>
          </a:prstGeom>
          <a:solidFill>
            <a:srgbClr val="F8FAFC"/>
          </a:solidFill>
          <a:ln w="1397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868680" y="1810512"/>
            <a:ext cx="10469880" cy="4105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5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sqlite3</a:t>
            </a:r>
            <a:endParaRPr lang="en-US" sz="1550"/>
          </a:p>
          <a:p>
            <a:pPr marL="0" indent="0">
              <a:buNone/>
            </a:pPr>
            <a:r>
              <a:rPr lang="en-US" sz="155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</a:t>
            </a:r>
            <a:endParaRPr lang="en-US" sz="1550"/>
          </a:p>
          <a:p>
            <a:pPr marL="0" indent="0">
              <a:buNone/>
            </a:pPr>
            <a:endParaRPr lang="en-US" sz="1550"/>
          </a:p>
          <a:p>
            <a:pPr marL="0" indent="0">
              <a:buNone/>
            </a:pPr>
            <a:r>
              <a:rPr lang="en-US" sz="155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sqlite3.connect("academico.db") as con:</a:t>
            </a:r>
            <a:endParaRPr lang="en-US" sz="1550"/>
          </a:p>
          <a:p>
            <a:pPr marL="0" indent="0">
              <a:buNone/>
            </a:pPr>
            <a:r>
              <a:rPr lang="en-US" sz="155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df = pd.read_sql_query("SELECT * FROM estudiantes", con)</a:t>
            </a:r>
            <a:endParaRPr lang="en-US" sz="1550"/>
          </a:p>
          <a:p>
            <a:pPr marL="0" indent="0">
              <a:buNone/>
            </a:pPr>
            <a:endParaRPr lang="en-US" sz="1550"/>
          </a:p>
          <a:p>
            <a:pPr marL="0" indent="0">
              <a:buNone/>
            </a:pPr>
            <a:r>
              <a:rPr lang="en-US" sz="155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print(df.head())</a:t>
            </a:r>
            <a:endParaRPr lang="en-US" sz="1550"/>
          </a:p>
          <a:p>
            <a:pPr marL="0" indent="0">
              <a:buNone/>
            </a:pPr>
            <a:r>
              <a:rPr lang="en-US" sz="155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print(df.describe())</a:t>
            </a:r>
            <a:endParaRPr lang="en-US" sz="1550"/>
          </a:p>
          <a:p>
            <a:pPr marL="0" indent="0">
              <a:buNone/>
            </a:pPr>
            <a:r>
              <a:rPr lang="en-US" sz="155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df.to_excel("reportes/reporte_estudiantes.xlsx", index=False)</a:t>
            </a:r>
            <a:endParaRPr lang="en-US" sz="1550"/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146</a:t>
            </a:r>
            <a:endParaRPr lang="en-US" sz="750"/>
          </a:p>
        </p:txBody>
      </p:sp>
      <p:sp>
        <p:nvSpPr>
          <p:cNvPr id="6" name="Text 4"/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9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502920"/>
            <a:ext cx="110642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¿Qué es MongoDB?</a:t>
            </a:r>
            <a:endParaRPr lang="en-US" sz="2800"/>
          </a:p>
        </p:txBody>
      </p:sp>
      <p:sp>
        <p:nvSpPr>
          <p:cNvPr id="8" name="Text 6"/>
          <p:cNvSpPr/>
          <p:nvPr/>
        </p:nvSpPr>
        <p:spPr>
          <a:xfrm>
            <a:off x="777240" y="1325880"/>
            <a:ext cx="10515600" cy="4800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Base de datos documental.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Trabaja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con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documentos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similares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a JSON.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Los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documentos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viven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colecciones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El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esquema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es flexible.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Sirve para datos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semiestructurados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147</a:t>
            </a:r>
            <a:endParaRPr lang="en-US" sz="750"/>
          </a:p>
        </p:txBody>
      </p:sp>
      <p:sp>
        <p:nvSpPr>
          <p:cNvPr id="6" name="Text 4"/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9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502920"/>
            <a:ext cx="1106424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700" b="1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SQL vs MongoDB</a:t>
            </a:r>
            <a:endParaRPr lang="en-US" sz="2700"/>
          </a:p>
        </p:txBody>
      </p:sp>
      <p:sp>
        <p:nvSpPr>
          <p:cNvPr id="8" name="Shape 6"/>
          <p:cNvSpPr/>
          <p:nvPr/>
        </p:nvSpPr>
        <p:spPr>
          <a:xfrm>
            <a:off x="658368" y="1298448"/>
            <a:ext cx="5257800" cy="411480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Shape 7"/>
          <p:cNvSpPr/>
          <p:nvPr/>
        </p:nvSpPr>
        <p:spPr>
          <a:xfrm>
            <a:off x="6263640" y="1298448"/>
            <a:ext cx="5257800" cy="41148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822960" y="1389888"/>
            <a:ext cx="4892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FFFFF"/>
                </a:solidFill>
              </a:rPr>
              <a:t>Relacional</a:t>
            </a:r>
            <a:endParaRPr lang="en-US" sz="1500"/>
          </a:p>
        </p:txBody>
      </p:sp>
      <p:sp>
        <p:nvSpPr>
          <p:cNvPr id="11" name="Text 9"/>
          <p:cNvSpPr/>
          <p:nvPr/>
        </p:nvSpPr>
        <p:spPr>
          <a:xfrm>
            <a:off x="6428232" y="1389888"/>
            <a:ext cx="4892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C4E80"/>
                </a:solidFill>
              </a:rPr>
              <a:t>Documental</a:t>
            </a:r>
            <a:endParaRPr lang="en-US" sz="1500"/>
          </a:p>
        </p:txBody>
      </p:sp>
      <p:sp>
        <p:nvSpPr>
          <p:cNvPr id="12" name="Text 10"/>
          <p:cNvSpPr/>
          <p:nvPr/>
        </p:nvSpPr>
        <p:spPr>
          <a:xfrm>
            <a:off x="777240" y="1920240"/>
            <a:ext cx="5166360" cy="4069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700">
                <a:solidFill>
                  <a:srgbClr val="0F172A"/>
                </a:solidFill>
              </a:rPr>
              <a:t>• Tablas.</a:t>
            </a:r>
            <a:endParaRPr lang="en-US" sz="1700"/>
          </a:p>
          <a:p>
            <a:pPr marL="0" indent="0">
              <a:buNone/>
            </a:pPr>
            <a:r>
              <a:rPr lang="en-US" sz="1700">
                <a:solidFill>
                  <a:srgbClr val="0F172A"/>
                </a:solidFill>
              </a:rPr>
              <a:t>• Filas y columnas.</a:t>
            </a:r>
            <a:endParaRPr lang="en-US" sz="1700"/>
          </a:p>
          <a:p>
            <a:pPr marL="0" indent="0">
              <a:buNone/>
            </a:pPr>
            <a:r>
              <a:rPr lang="en-US" sz="1700">
                <a:solidFill>
                  <a:srgbClr val="0F172A"/>
                </a:solidFill>
              </a:rPr>
              <a:t>• Relaciones fuertes.</a:t>
            </a:r>
            <a:endParaRPr lang="en-US" sz="1700"/>
          </a:p>
          <a:p>
            <a:pPr marL="0" indent="0">
              <a:buNone/>
            </a:pPr>
            <a:r>
              <a:rPr lang="en-US" sz="1700">
                <a:solidFill>
                  <a:srgbClr val="0F172A"/>
                </a:solidFill>
              </a:rPr>
              <a:t>• JOIN.</a:t>
            </a:r>
            <a:endParaRPr lang="en-US" sz="1700"/>
          </a:p>
          <a:p>
            <a:pPr marL="0" indent="0">
              <a:buNone/>
            </a:pPr>
            <a:r>
              <a:rPr lang="en-US" sz="1700">
                <a:solidFill>
                  <a:srgbClr val="0F172A"/>
                </a:solidFill>
              </a:rPr>
              <a:t>• Transacciones e integridad.</a:t>
            </a:r>
            <a:endParaRPr lang="en-US" sz="1700"/>
          </a:p>
        </p:txBody>
      </p:sp>
      <p:sp>
        <p:nvSpPr>
          <p:cNvPr id="13" name="Text 11"/>
          <p:cNvSpPr/>
          <p:nvPr/>
        </p:nvSpPr>
        <p:spPr>
          <a:xfrm>
            <a:off x="6400800" y="1920240"/>
            <a:ext cx="5166360" cy="4069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0F172A"/>
                </a:solidFill>
              </a:rPr>
              <a:t>• </a:t>
            </a:r>
            <a:r>
              <a:rPr lang="en-US" sz="1700" dirty="0" err="1">
                <a:solidFill>
                  <a:srgbClr val="0F172A"/>
                </a:solidFill>
              </a:rPr>
              <a:t>Colecciones</a:t>
            </a:r>
            <a:r>
              <a:rPr lang="en-US" sz="1700" dirty="0">
                <a:solidFill>
                  <a:srgbClr val="0F172A"/>
                </a:solidFill>
              </a:rPr>
              <a:t>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0F172A"/>
                </a:solidFill>
              </a:rPr>
              <a:t>• </a:t>
            </a:r>
            <a:r>
              <a:rPr lang="en-US" sz="1700" dirty="0" err="1">
                <a:solidFill>
                  <a:srgbClr val="0F172A"/>
                </a:solidFill>
              </a:rPr>
              <a:t>Documentos</a:t>
            </a:r>
            <a:r>
              <a:rPr lang="en-US" sz="1700" dirty="0">
                <a:solidFill>
                  <a:srgbClr val="0F172A"/>
                </a:solidFill>
              </a:rPr>
              <a:t>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0F172A"/>
                </a:solidFill>
              </a:rPr>
              <a:t>• </a:t>
            </a:r>
            <a:r>
              <a:rPr lang="en-US" sz="1700" dirty="0" err="1">
                <a:solidFill>
                  <a:srgbClr val="0F172A"/>
                </a:solidFill>
              </a:rPr>
              <a:t>Estructura</a:t>
            </a:r>
            <a:r>
              <a:rPr lang="en-US" sz="1700" dirty="0">
                <a:solidFill>
                  <a:srgbClr val="0F172A"/>
                </a:solidFill>
              </a:rPr>
              <a:t> flexible.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0F172A"/>
                </a:solidFill>
              </a:rPr>
              <a:t>• Datos </a:t>
            </a:r>
            <a:r>
              <a:rPr lang="en-US" sz="1700" dirty="0" err="1">
                <a:solidFill>
                  <a:srgbClr val="0F172A"/>
                </a:solidFill>
              </a:rPr>
              <a:t>anidados</a:t>
            </a:r>
            <a:r>
              <a:rPr lang="en-US" sz="1700" dirty="0">
                <a:solidFill>
                  <a:srgbClr val="0F172A"/>
                </a:solidFill>
              </a:rPr>
              <a:t>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0F172A"/>
                </a:solidFill>
              </a:rPr>
              <a:t>• </a:t>
            </a:r>
            <a:r>
              <a:rPr lang="en-US" sz="1700" dirty="0" err="1">
                <a:solidFill>
                  <a:srgbClr val="0F172A"/>
                </a:solidFill>
              </a:rPr>
              <a:t>Agregaciones</a:t>
            </a:r>
            <a:r>
              <a:rPr lang="en-US" sz="1700" dirty="0">
                <a:solidFill>
                  <a:srgbClr val="0F172A"/>
                </a:solidFill>
              </a:rPr>
              <a:t> </a:t>
            </a:r>
            <a:r>
              <a:rPr lang="en-US" sz="1700" dirty="0" err="1">
                <a:solidFill>
                  <a:srgbClr val="0F172A"/>
                </a:solidFill>
              </a:rPr>
              <a:t>documentales</a:t>
            </a:r>
            <a:r>
              <a:rPr lang="en-US" sz="1700" dirty="0">
                <a:solidFill>
                  <a:srgbClr val="0F172A"/>
                </a:solidFill>
              </a:rPr>
              <a:t>.</a:t>
            </a:r>
            <a:endParaRPr lang="en-US" sz="1700" dirty="0"/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148</a:t>
            </a:r>
            <a:endParaRPr lang="en-US" sz="750"/>
          </a:p>
        </p:txBody>
      </p:sp>
      <p:sp>
        <p:nvSpPr>
          <p:cNvPr id="6" name="Text 4"/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9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457200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600" b="1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Documento de pregunta académica</a:t>
            </a:r>
            <a:endParaRPr lang="en-US" sz="2600"/>
          </a:p>
        </p:txBody>
      </p:sp>
      <p:sp>
        <p:nvSpPr>
          <p:cNvPr id="8" name="Text 6"/>
          <p:cNvSpPr/>
          <p:nvPr/>
        </p:nvSpPr>
        <p:spPr>
          <a:xfrm>
            <a:off x="685800" y="1097280"/>
            <a:ext cx="107899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Caso </a:t>
            </a:r>
            <a:r>
              <a:rPr lang="en-US" sz="1600" dirty="0" err="1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útil</a:t>
            </a:r>
            <a:r>
              <a:rPr lang="en-US" sz="16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para docentes.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1645920"/>
            <a:ext cx="10927080" cy="4434840"/>
          </a:xfrm>
          <a:prstGeom prst="roundRect">
            <a:avLst>
              <a:gd name="adj" fmla="val 1649"/>
            </a:avLst>
          </a:prstGeom>
          <a:solidFill>
            <a:srgbClr val="F8FAFC"/>
          </a:solidFill>
          <a:ln w="1397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868680" y="1810512"/>
            <a:ext cx="10469880" cy="4105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</a:t>
            </a:r>
            <a:r>
              <a:rPr lang="en-US" sz="160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asignatura</a:t>
            </a:r>
            <a:r>
              <a:rPr lang="en-US" sz="16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": "</a:t>
            </a:r>
            <a:r>
              <a:rPr lang="en-US" sz="160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Bioestadística</a:t>
            </a:r>
            <a:r>
              <a:rPr lang="en-US" sz="16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",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"tema": "</a:t>
            </a:r>
            <a:r>
              <a:rPr lang="en-US" sz="160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Medidas</a:t>
            </a:r>
            <a:r>
              <a:rPr lang="en-US" sz="16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de </a:t>
            </a:r>
            <a:r>
              <a:rPr lang="en-US" sz="160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tendencia</a:t>
            </a:r>
            <a:r>
              <a:rPr lang="en-US" sz="16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central",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</a:t>
            </a:r>
            <a:r>
              <a:rPr lang="en-US" sz="160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pregunta</a:t>
            </a:r>
            <a:r>
              <a:rPr lang="en-US" sz="16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": "¿</a:t>
            </a:r>
            <a:r>
              <a:rPr lang="en-US" sz="160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Qué</a:t>
            </a:r>
            <a:r>
              <a:rPr lang="en-US" sz="16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es la media </a:t>
            </a:r>
            <a:r>
              <a:rPr lang="en-US" sz="160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aritmética</a:t>
            </a:r>
            <a:r>
              <a:rPr lang="en-US" sz="16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?",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</a:t>
            </a:r>
            <a:r>
              <a:rPr lang="en-US" sz="160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opciones</a:t>
            </a:r>
            <a:r>
              <a:rPr lang="en-US" sz="16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": ["</a:t>
            </a:r>
            <a:r>
              <a:rPr lang="en-US" sz="160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Promedio</a:t>
            </a:r>
            <a:r>
              <a:rPr lang="en-US" sz="16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", "Moda", "Mediana", "</a:t>
            </a:r>
            <a:r>
              <a:rPr lang="en-US" sz="160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Varianza</a:t>
            </a:r>
            <a:r>
              <a:rPr lang="en-US" sz="16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"],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</a:t>
            </a:r>
            <a:r>
              <a:rPr lang="en-US" sz="160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respuesta_correcta</a:t>
            </a:r>
            <a:r>
              <a:rPr lang="en-US" sz="16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": "</a:t>
            </a:r>
            <a:r>
              <a:rPr lang="en-US" sz="160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Promedio</a:t>
            </a:r>
            <a:r>
              <a:rPr lang="en-US" sz="16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",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</a:t>
            </a:r>
            <a:r>
              <a:rPr lang="en-US" sz="160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dificultad</a:t>
            </a:r>
            <a:r>
              <a:rPr lang="en-US" sz="16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": "</a:t>
            </a:r>
            <a:r>
              <a:rPr lang="en-US" sz="160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básica</a:t>
            </a:r>
            <a:r>
              <a:rPr lang="en-US" sz="16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600" dirty="0"/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149</a:t>
            </a:r>
            <a:endParaRPr lang="en-US" sz="750"/>
          </a:p>
        </p:txBody>
      </p:sp>
      <p:sp>
        <p:nvSpPr>
          <p:cNvPr id="6" name="Text 4"/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9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457200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600" b="1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CRUD en MongoDB Shell</a:t>
            </a:r>
            <a:endParaRPr lang="en-US" sz="2600"/>
          </a:p>
        </p:txBody>
      </p:sp>
      <p:sp>
        <p:nvSpPr>
          <p:cNvPr id="8" name="Text 6"/>
          <p:cNvSpPr/>
          <p:nvPr/>
        </p:nvSpPr>
        <p:spPr>
          <a:xfrm>
            <a:off x="685800" y="1097280"/>
            <a:ext cx="107899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Operaciones básicas.</a:t>
            </a:r>
            <a:endParaRPr lang="en-US" sz="1600"/>
          </a:p>
        </p:txBody>
      </p:sp>
      <p:sp>
        <p:nvSpPr>
          <p:cNvPr id="9" name="Shape 7"/>
          <p:cNvSpPr/>
          <p:nvPr/>
        </p:nvSpPr>
        <p:spPr>
          <a:xfrm>
            <a:off x="640080" y="1645920"/>
            <a:ext cx="10927080" cy="4434840"/>
          </a:xfrm>
          <a:prstGeom prst="roundRect">
            <a:avLst>
              <a:gd name="adj" fmla="val 1649"/>
            </a:avLst>
          </a:prstGeom>
          <a:solidFill>
            <a:srgbClr val="F8FAFC"/>
          </a:solidFill>
          <a:ln w="1397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868680" y="1810512"/>
            <a:ext cx="10469880" cy="4105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</a:t>
            </a:r>
            <a:r>
              <a:rPr lang="en-US" sz="125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academico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db.preguntas.insertOne</a:t>
            </a:r>
            <a:r>
              <a:rPr lang="en-US" sz="12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5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asignatura</a:t>
            </a:r>
            <a:r>
              <a:rPr lang="en-US" sz="12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"</a:t>
            </a:r>
            <a:r>
              <a:rPr lang="en-US" sz="125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Bioestadística</a:t>
            </a:r>
            <a:r>
              <a:rPr lang="en-US" sz="12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",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tema: "</a:t>
            </a:r>
            <a:r>
              <a:rPr lang="en-US" sz="125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Promedios</a:t>
            </a:r>
            <a:r>
              <a:rPr lang="en-US" sz="12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",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5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dificultad</a:t>
            </a:r>
            <a:r>
              <a:rPr lang="en-US" sz="12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"</a:t>
            </a:r>
            <a:r>
              <a:rPr lang="en-US" sz="125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básica</a:t>
            </a:r>
            <a:r>
              <a:rPr lang="en-US" sz="12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db.preguntas.find</a:t>
            </a:r>
            <a:r>
              <a:rPr lang="en-US" sz="12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 </a:t>
            </a:r>
            <a:r>
              <a:rPr lang="en-US" sz="125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dificultad</a:t>
            </a:r>
            <a:r>
              <a:rPr lang="en-US" sz="12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"</a:t>
            </a:r>
            <a:r>
              <a:rPr lang="en-US" sz="125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básica</a:t>
            </a:r>
            <a:r>
              <a:rPr lang="en-US" sz="12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})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db.preguntas.updateOne</a:t>
            </a:r>
            <a:r>
              <a:rPr lang="en-US" sz="12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tema: "</a:t>
            </a:r>
            <a:r>
              <a:rPr lang="en-US" sz="125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Promedios</a:t>
            </a:r>
            <a:r>
              <a:rPr lang="en-US" sz="12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},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$set: { </a:t>
            </a:r>
            <a:r>
              <a:rPr lang="en-US" sz="125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dificultad</a:t>
            </a:r>
            <a:r>
              <a:rPr lang="en-US" sz="12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"media" } }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db.preguntas.deleteOne</a:t>
            </a:r>
            <a:r>
              <a:rPr lang="en-US" sz="12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 tema: "</a:t>
            </a:r>
            <a:r>
              <a:rPr lang="en-US" sz="125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Promedios</a:t>
            </a:r>
            <a:r>
              <a:rPr lang="en-US" sz="12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})</a:t>
            </a:r>
            <a:endParaRPr lang="en-US" sz="1250" dirty="0"/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150</a:t>
            </a:r>
            <a:endParaRPr lang="en-US" sz="750"/>
          </a:p>
        </p:txBody>
      </p:sp>
      <p:sp>
        <p:nvSpPr>
          <p:cNvPr id="6" name="Text 4"/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9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457200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600" b="1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Python con PyMongo</a:t>
            </a:r>
            <a:endParaRPr lang="en-US" sz="2600"/>
          </a:p>
        </p:txBody>
      </p:sp>
      <p:sp>
        <p:nvSpPr>
          <p:cNvPr id="8" name="Text 6"/>
          <p:cNvSpPr/>
          <p:nvPr/>
        </p:nvSpPr>
        <p:spPr>
          <a:xfrm>
            <a:off x="685800" y="1097280"/>
            <a:ext cx="107899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Conexión básica.</a:t>
            </a:r>
            <a:endParaRPr lang="en-US" sz="1600"/>
          </a:p>
        </p:txBody>
      </p:sp>
      <p:sp>
        <p:nvSpPr>
          <p:cNvPr id="9" name="Shape 7"/>
          <p:cNvSpPr/>
          <p:nvPr/>
        </p:nvSpPr>
        <p:spPr>
          <a:xfrm>
            <a:off x="640080" y="1645920"/>
            <a:ext cx="10927080" cy="4434840"/>
          </a:xfrm>
          <a:prstGeom prst="roundRect">
            <a:avLst>
              <a:gd name="adj" fmla="val 1649"/>
            </a:avLst>
          </a:prstGeom>
          <a:solidFill>
            <a:srgbClr val="F8FAFC"/>
          </a:solidFill>
          <a:ln w="1397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868680" y="1810512"/>
            <a:ext cx="10469880" cy="4105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</a:t>
            </a:r>
            <a:r>
              <a:rPr lang="en-US" sz="135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pymongo</a:t>
            </a:r>
            <a:r>
              <a:rPr lang="en-US" sz="13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import </a:t>
            </a:r>
            <a:r>
              <a:rPr lang="en-US" sz="135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MongoClient</a:t>
            </a:r>
            <a:endParaRPr lang="en-US" sz="1350" dirty="0"/>
          </a:p>
          <a:p>
            <a:pPr marL="0" indent="0">
              <a:buNone/>
            </a:pPr>
            <a:endParaRPr lang="en-US" sz="1350" dirty="0"/>
          </a:p>
          <a:p>
            <a:pPr marL="0" indent="0">
              <a:buNone/>
            </a:pPr>
            <a:r>
              <a:rPr lang="en-US" sz="135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</a:t>
            </a:r>
            <a:r>
              <a:rPr lang="en-US" sz="13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35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MongoClient</a:t>
            </a:r>
            <a:r>
              <a:rPr lang="en-US" sz="13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</a:t>
            </a:r>
            <a:r>
              <a:rPr lang="en-US" sz="135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mongodb</a:t>
            </a:r>
            <a:r>
              <a:rPr lang="en-US" sz="13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://localhost:27017")</a:t>
            </a:r>
            <a:endParaRPr lang="en-US" sz="1350" dirty="0"/>
          </a:p>
          <a:p>
            <a:pPr marL="0" indent="0">
              <a:buNone/>
            </a:pPr>
            <a:r>
              <a:rPr lang="en-US" sz="135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</a:t>
            </a:r>
            <a:r>
              <a:rPr lang="en-US" sz="13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35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</a:t>
            </a:r>
            <a:r>
              <a:rPr lang="en-US" sz="13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["</a:t>
            </a:r>
            <a:r>
              <a:rPr lang="en-US" sz="135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academico</a:t>
            </a:r>
            <a:r>
              <a:rPr lang="en-US" sz="13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"]</a:t>
            </a:r>
            <a:endParaRPr lang="en-US" sz="1350" dirty="0"/>
          </a:p>
          <a:p>
            <a:pPr marL="0" indent="0">
              <a:buNone/>
            </a:pPr>
            <a:r>
              <a:rPr lang="en-US" sz="135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coleccion</a:t>
            </a:r>
            <a:r>
              <a:rPr lang="en-US" sz="13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35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</a:t>
            </a:r>
            <a:r>
              <a:rPr lang="en-US" sz="13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["</a:t>
            </a:r>
            <a:r>
              <a:rPr lang="en-US" sz="135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preguntas</a:t>
            </a:r>
            <a:r>
              <a:rPr lang="en-US" sz="13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"]</a:t>
            </a:r>
            <a:endParaRPr lang="en-US" sz="1350" dirty="0"/>
          </a:p>
          <a:p>
            <a:pPr marL="0" indent="0">
              <a:buNone/>
            </a:pPr>
            <a:endParaRPr lang="en-US" sz="1350" dirty="0"/>
          </a:p>
          <a:p>
            <a:pPr marL="0" indent="0">
              <a:buNone/>
            </a:pPr>
            <a:r>
              <a:rPr lang="en-US" sz="135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coleccion.insert_one</a:t>
            </a:r>
            <a:r>
              <a:rPr lang="en-US" sz="13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</a:t>
            </a:r>
            <a:r>
              <a:rPr lang="en-US" sz="135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asignatura</a:t>
            </a:r>
            <a:r>
              <a:rPr lang="en-US" sz="13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": "</a:t>
            </a:r>
            <a:r>
              <a:rPr lang="en-US" sz="135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Bioestadística</a:t>
            </a:r>
            <a:r>
              <a:rPr lang="en-US" sz="13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",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"tema": "</a:t>
            </a:r>
            <a:r>
              <a:rPr lang="en-US" sz="135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Promedios</a:t>
            </a:r>
            <a:r>
              <a:rPr lang="en-US" sz="13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",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</a:t>
            </a:r>
            <a:r>
              <a:rPr lang="en-US" sz="135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dificultad</a:t>
            </a:r>
            <a:r>
              <a:rPr lang="en-US" sz="13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": "</a:t>
            </a:r>
            <a:r>
              <a:rPr lang="en-US" sz="135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básica</a:t>
            </a:r>
            <a:r>
              <a:rPr lang="en-US" sz="13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350" dirty="0"/>
          </a:p>
          <a:p>
            <a:pPr marL="0" indent="0">
              <a:buNone/>
            </a:pP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</a:t>
            </a:r>
            <a:r>
              <a:rPr lang="en-US" sz="135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pregunta</a:t>
            </a:r>
            <a:r>
              <a:rPr lang="en-US" sz="13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 </a:t>
            </a:r>
            <a:r>
              <a:rPr lang="en-US" sz="135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coleccion.find</a:t>
            </a:r>
            <a:r>
              <a:rPr lang="en-US" sz="13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({"</a:t>
            </a:r>
            <a:r>
              <a:rPr lang="en-US" sz="135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dificultad</a:t>
            </a:r>
            <a:r>
              <a:rPr lang="en-US" sz="13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": "</a:t>
            </a:r>
            <a:r>
              <a:rPr lang="en-US" sz="135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básica</a:t>
            </a:r>
            <a:r>
              <a:rPr lang="en-US" sz="13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"}):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</a:t>
            </a:r>
            <a:r>
              <a:rPr lang="en-US" sz="135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pregunta</a:t>
            </a:r>
            <a:r>
              <a:rPr lang="en-US" sz="13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["tema"])</a:t>
            </a:r>
            <a:endParaRPr lang="en-US" sz="1350" dirty="0"/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151</a:t>
            </a:r>
            <a:endParaRPr lang="en-US" sz="750"/>
          </a:p>
        </p:txBody>
      </p:sp>
      <p:sp>
        <p:nvSpPr>
          <p:cNvPr id="6" name="Text 4"/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9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457200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600" b="1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Agregación en MongoDB</a:t>
            </a:r>
            <a:endParaRPr lang="en-US" sz="2600"/>
          </a:p>
        </p:txBody>
      </p:sp>
      <p:sp>
        <p:nvSpPr>
          <p:cNvPr id="8" name="Text 6"/>
          <p:cNvSpPr/>
          <p:nvPr/>
        </p:nvSpPr>
        <p:spPr>
          <a:xfrm>
            <a:off x="685800" y="1097280"/>
            <a:ext cx="107899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 err="1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Resumen</a:t>
            </a:r>
            <a:r>
              <a:rPr lang="en-US" sz="16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por tema o </a:t>
            </a:r>
            <a:r>
              <a:rPr lang="en-US" sz="1600" dirty="0" err="1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dificultad</a:t>
            </a:r>
            <a:r>
              <a:rPr lang="en-US" sz="16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1645920"/>
            <a:ext cx="10927080" cy="4434840"/>
          </a:xfrm>
          <a:prstGeom prst="roundRect">
            <a:avLst>
              <a:gd name="adj" fmla="val 1649"/>
            </a:avLst>
          </a:prstGeom>
          <a:solidFill>
            <a:srgbClr val="F8FAFC"/>
          </a:solidFill>
          <a:ln w="1397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868680" y="1810512"/>
            <a:ext cx="10469880" cy="4105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0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db.preguntas.aggregate([</a:t>
            </a:r>
            <a:endParaRPr lang="en-US" sz="2000"/>
          </a:p>
          <a:p>
            <a:pPr marL="0" indent="0">
              <a:buNone/>
            </a:pPr>
            <a:r>
              <a:rPr lang="en-US" sz="20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$group: {</a:t>
            </a:r>
            <a:endParaRPr lang="en-US" sz="2000"/>
          </a:p>
          <a:p>
            <a:pPr marL="0" indent="0">
              <a:buNone/>
            </a:pPr>
            <a:r>
              <a:rPr lang="en-US" sz="20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_id: "$dificultad",</a:t>
            </a:r>
            <a:endParaRPr lang="en-US" sz="2000"/>
          </a:p>
          <a:p>
            <a:pPr marL="0" indent="0">
              <a:buNone/>
            </a:pPr>
            <a:r>
              <a:rPr lang="en-US" sz="20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total: { $sum: 1 }</a:t>
            </a:r>
            <a:endParaRPr lang="en-US" sz="2000"/>
          </a:p>
          <a:p>
            <a:pPr marL="0" indent="0">
              <a:buNone/>
            </a:pPr>
            <a:r>
              <a:rPr lang="en-US" sz="20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}},</a:t>
            </a:r>
            <a:endParaRPr lang="en-US" sz="2000"/>
          </a:p>
          <a:p>
            <a:pPr marL="0" indent="0">
              <a:buNone/>
            </a:pPr>
            <a:r>
              <a:rPr lang="en-US" sz="20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$sort: { total: -1 } }</a:t>
            </a:r>
            <a:endParaRPr lang="en-US" sz="2000"/>
          </a:p>
          <a:p>
            <a:pPr marL="0" indent="0">
              <a:buNone/>
            </a:pPr>
            <a:r>
              <a:rPr lang="en-US" sz="20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2000"/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152</a:t>
            </a:r>
            <a:endParaRPr lang="en-US" sz="750"/>
          </a:p>
        </p:txBody>
      </p:sp>
      <p:sp>
        <p:nvSpPr>
          <p:cNvPr id="6" name="Text 4"/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9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502920"/>
            <a:ext cx="110642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Índices en MongoDB</a:t>
            </a:r>
            <a:endParaRPr lang="en-US" sz="2800"/>
          </a:p>
        </p:txBody>
      </p:sp>
      <p:sp>
        <p:nvSpPr>
          <p:cNvPr id="8" name="Text 6"/>
          <p:cNvSpPr/>
          <p:nvPr/>
        </p:nvSpPr>
        <p:spPr>
          <a:xfrm>
            <a:off x="777240" y="1325880"/>
            <a:ext cx="10515600" cy="4800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Aceleran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búsquedas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frecuentes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Pueden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ser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únicos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Tienen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costo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de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escritura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y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almacenamiento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crean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según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consultas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reales.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Ejemplo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índice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por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código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o tema.</a:t>
            </a:r>
            <a:endParaRPr lang="en-US" sz="2000" dirty="0"/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153</a:t>
            </a:r>
            <a:endParaRPr lang="en-US" sz="750"/>
          </a:p>
        </p:txBody>
      </p:sp>
      <p:sp>
        <p:nvSpPr>
          <p:cNvPr id="6" name="Text 4"/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9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457200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Crear </a:t>
            </a:r>
            <a:r>
              <a:rPr lang="en-US" sz="2600" b="1" dirty="0" err="1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índices</a:t>
            </a:r>
            <a:r>
              <a:rPr lang="en-US" sz="2600" b="1" dirty="0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600" b="1" dirty="0" err="1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</a:t>
            </a:r>
            <a:r>
              <a:rPr lang="en-US" sz="2600" b="1" dirty="0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MongoDB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85800" y="1097280"/>
            <a:ext cx="107899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Ejemplos de índices.</a:t>
            </a:r>
            <a:endParaRPr lang="en-US" sz="1600"/>
          </a:p>
        </p:txBody>
      </p:sp>
      <p:sp>
        <p:nvSpPr>
          <p:cNvPr id="9" name="Shape 7"/>
          <p:cNvSpPr/>
          <p:nvPr/>
        </p:nvSpPr>
        <p:spPr>
          <a:xfrm>
            <a:off x="640080" y="1645920"/>
            <a:ext cx="10927080" cy="4434840"/>
          </a:xfrm>
          <a:prstGeom prst="roundRect">
            <a:avLst>
              <a:gd name="adj" fmla="val 1649"/>
            </a:avLst>
          </a:prstGeom>
          <a:solidFill>
            <a:srgbClr val="F8FAFC"/>
          </a:solidFill>
          <a:ln w="1397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868680" y="1810512"/>
            <a:ext cx="10469880" cy="4105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00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db.preguntas.createIndex</a:t>
            </a:r>
            <a:r>
              <a:rPr lang="en-US" sz="20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 tema: 1 })</a:t>
            </a:r>
            <a:endParaRPr lang="en-US" sz="2000" dirty="0"/>
          </a:p>
          <a:p>
            <a:pPr marL="0" indent="0">
              <a:buNone/>
            </a:pPr>
            <a:r>
              <a:rPr lang="en-US" sz="200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db.preguntas.createIndex</a:t>
            </a:r>
            <a:r>
              <a:rPr lang="en-US" sz="20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 </a:t>
            </a:r>
            <a:r>
              <a:rPr lang="en-US" sz="200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asignatura</a:t>
            </a:r>
            <a:r>
              <a:rPr lang="en-US" sz="20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1, </a:t>
            </a:r>
            <a:r>
              <a:rPr lang="en-US" sz="200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dificultad</a:t>
            </a:r>
            <a:r>
              <a:rPr lang="en-US" sz="20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1 })</a:t>
            </a:r>
            <a:endParaRPr lang="en-US" sz="2000" dirty="0"/>
          </a:p>
          <a:p>
            <a:pPr marL="0" indent="0">
              <a:buNone/>
            </a:pPr>
            <a:r>
              <a:rPr lang="en-US" sz="200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db.preguntas.createIndex</a:t>
            </a:r>
            <a:r>
              <a:rPr lang="en-US" sz="20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 </a:t>
            </a:r>
            <a:r>
              <a:rPr lang="en-US" sz="200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codigo</a:t>
            </a:r>
            <a:r>
              <a:rPr lang="en-US" sz="20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1 }, { unique: true })</a:t>
            </a:r>
            <a:endParaRPr lang="en-US" sz="2000" dirty="0"/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154</a:t>
            </a:r>
            <a:endParaRPr lang="en-US" sz="750"/>
          </a:p>
        </p:txBody>
      </p:sp>
      <p:sp>
        <p:nvSpPr>
          <p:cNvPr id="6" name="Text 4"/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9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502920"/>
            <a:ext cx="110642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Errores </a:t>
            </a:r>
            <a:r>
              <a:rPr lang="en-US" sz="2800" b="1" dirty="0" err="1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frecuentes</a:t>
            </a:r>
            <a:r>
              <a:rPr lang="en-US" sz="2800" b="1" dirty="0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del día 9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77240" y="1325880"/>
            <a:ext cx="10515600" cy="4800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Confundir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WHERE con HAVING.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Olvidar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GROUP BY al usar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agregaciones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Crear joins sin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condición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correcta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Pensar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MongoDB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reemplaza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siempre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a SQL.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No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diseñar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consultas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antes de crear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índices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155</a:t>
            </a:r>
            <a:endParaRPr lang="en-US" sz="750"/>
          </a:p>
        </p:txBody>
      </p:sp>
      <p:sp>
        <p:nvSpPr>
          <p:cNvPr id="6" name="Text 4"/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9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502920"/>
            <a:ext cx="110642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Cierre de la sesión 9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77240" y="1325880"/>
            <a:ext cx="10515600" cy="4800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El proyecto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puede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generar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reportes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comprenden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consultas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relacionales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conoce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el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modelo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documental.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El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docente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puede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elegir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herramienta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según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el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problema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5166360"/>
            <a:ext cx="12191695" cy="169164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94360" y="64008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>
                <a:solidFill>
                  <a:srgbClr val="FFD4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</a:t>
            </a:r>
            <a:endParaRPr lang="en-US" sz="580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1078992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Sesión 10: Django, FastAPI y proyecto final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3063240"/>
            <a:ext cx="987552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Reconocer rutas web, </a:t>
            </a:r>
            <a:r>
              <a:rPr lang="en-US" sz="2200" dirty="0" err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construir</a:t>
            </a:r>
            <a:r>
              <a:rPr lang="en-US" sz="2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una mini API y </a:t>
            </a:r>
            <a:r>
              <a:rPr lang="en-US" sz="2200" dirty="0" err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presentar</a:t>
            </a:r>
            <a:r>
              <a:rPr lang="en-US" sz="2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el proyecto.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5715000"/>
            <a:ext cx="7772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4E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Curso de Programación con Python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1201400" y="62910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1C4E80"/>
                </a:solidFill>
              </a:rPr>
              <a:t>156</a:t>
            </a:r>
            <a:endParaRPr lang="en-US" sz="800"/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157</a:t>
            </a:r>
            <a:endParaRPr lang="en-US" sz="750"/>
          </a:p>
        </p:txBody>
      </p:sp>
      <p:sp>
        <p:nvSpPr>
          <p:cNvPr id="6" name="Text 4"/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10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502920"/>
            <a:ext cx="110642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Sesión 10 | Objetivo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77240" y="1325880"/>
            <a:ext cx="10515600" cy="4800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Reconocer rutas web,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construir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una mini API y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presentar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el proyecto.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Conectar el concepto con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tareas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docentes reales.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Construir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una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parte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del proyecto integrador.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Cerrar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con una evidencia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ejecutable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158</a:t>
            </a:r>
            <a:endParaRPr lang="en-US" sz="750"/>
          </a:p>
        </p:txBody>
      </p:sp>
      <p:sp>
        <p:nvSpPr>
          <p:cNvPr id="6" name="Text 4"/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10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502920"/>
            <a:ext cx="110642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Sesión 10 | Agenda de </a:t>
            </a:r>
            <a:r>
              <a:rPr lang="en-US" sz="2800" b="1" dirty="0" err="1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trabajo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77240" y="1325880"/>
            <a:ext cx="10515600" cy="4800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Django.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Modelo MVT.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ORM y admin.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FastAPI.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Endpoints.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Validación</a:t>
            </a:r>
            <a:r>
              <a:rPr lang="en-US" sz="17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con </a:t>
            </a:r>
            <a:r>
              <a:rPr lang="en-US" sz="17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modelos</a:t>
            </a:r>
            <a:r>
              <a:rPr lang="en-US" sz="17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Proyecto final.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Presentación y </a:t>
            </a:r>
            <a:r>
              <a:rPr lang="en-US" sz="17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retroalimentación</a:t>
            </a:r>
            <a:r>
              <a:rPr lang="en-US" sz="17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1700" dirty="0"/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159</a:t>
            </a:r>
            <a:endParaRPr lang="en-US" sz="750"/>
          </a:p>
        </p:txBody>
      </p:sp>
      <p:sp>
        <p:nvSpPr>
          <p:cNvPr id="6" name="Text 4"/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10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502920"/>
            <a:ext cx="110642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Sesión 10 | Avance del proyecto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77240" y="1325880"/>
            <a:ext cx="10515600" cy="4069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Exponer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datos del proyecto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mediante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API.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Crear endpoints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básicos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Probar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documentación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automática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Presentar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avances y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mejoras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777240" y="5806440"/>
            <a:ext cx="10515600" cy="411480"/>
          </a:xfrm>
          <a:prstGeom prst="rect">
            <a:avLst/>
          </a:prstGeom>
          <a:solidFill>
            <a:srgbClr val="F3F6FA"/>
          </a:solidFill>
          <a:ln w="1651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960120" y="5879592"/>
            <a:ext cx="10149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4E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Proyecto: Asistente Académico Docente con Python</a:t>
            </a:r>
            <a:endParaRPr lang="en-US" sz="1200" dirty="0"/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160</a:t>
            </a:r>
            <a:endParaRPr lang="en-US" sz="750"/>
          </a:p>
        </p:txBody>
      </p:sp>
      <p:sp>
        <p:nvSpPr>
          <p:cNvPr id="6" name="Text 4"/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10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502920"/>
            <a:ext cx="110642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Sesión 10 | Práctica guiada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77240" y="1325880"/>
            <a:ext cx="10515600" cy="4800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Crear API de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estudiantes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Endpoint de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estudiantes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riesgo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Probar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/docs.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Presentar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proyecto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5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minutos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161</a:t>
            </a:r>
            <a:endParaRPr lang="en-US" sz="750"/>
          </a:p>
        </p:txBody>
      </p:sp>
      <p:sp>
        <p:nvSpPr>
          <p:cNvPr id="6" name="Text 4"/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10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502920"/>
            <a:ext cx="110642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Django </a:t>
            </a:r>
            <a:r>
              <a:rPr lang="en-US" sz="2800" b="1" dirty="0" err="1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</a:t>
            </a:r>
            <a:r>
              <a:rPr lang="en-US" sz="2800" b="1" dirty="0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una idea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77240" y="1325880"/>
            <a:ext cx="10515600" cy="4800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Framework web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completo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Incluye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ORM,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plantillas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y panel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administrativo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Ideal para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web con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usuarios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y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formularios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Tiene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estructura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más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amplia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desde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el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inicio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162</a:t>
            </a:r>
            <a:endParaRPr lang="en-US" sz="750"/>
          </a:p>
        </p:txBody>
      </p:sp>
      <p:sp>
        <p:nvSpPr>
          <p:cNvPr id="6" name="Text 4"/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10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502920"/>
            <a:ext cx="110642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Arquitectura MVT de Django</a:t>
            </a:r>
            <a:endParaRPr lang="en-US" sz="2800"/>
          </a:p>
        </p:txBody>
      </p:sp>
      <p:sp>
        <p:nvSpPr>
          <p:cNvPr id="8" name="Text 6"/>
          <p:cNvSpPr/>
          <p:nvPr/>
        </p:nvSpPr>
        <p:spPr>
          <a:xfrm>
            <a:off x="777240" y="1325880"/>
            <a:ext cx="10515600" cy="4800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Model: define datos y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persistencia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View: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recibe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la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petición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y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devuelve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respuesta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Template: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presenta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HTML.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URLconf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conecta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rutas con vistas.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Admin: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interfaz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administrativa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automática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163</a:t>
            </a:r>
            <a:endParaRPr lang="en-US" sz="750"/>
          </a:p>
        </p:txBody>
      </p:sp>
      <p:sp>
        <p:nvSpPr>
          <p:cNvPr id="6" name="Text 4"/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10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457200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Comandos </a:t>
            </a:r>
            <a:r>
              <a:rPr lang="en-US" sz="2600" b="1" dirty="0" err="1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básicos</a:t>
            </a:r>
            <a:r>
              <a:rPr lang="en-US" sz="2600" b="1" dirty="0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de Django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85800" y="1097280"/>
            <a:ext cx="107899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Ruta </a:t>
            </a:r>
            <a:r>
              <a:rPr lang="en-US" sz="1600" dirty="0" err="1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mínima</a:t>
            </a:r>
            <a:r>
              <a:rPr lang="en-US" sz="16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de </a:t>
            </a:r>
            <a:r>
              <a:rPr lang="en-US" sz="1600" dirty="0" err="1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demostración</a:t>
            </a:r>
            <a:r>
              <a:rPr lang="en-US" sz="16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1645920"/>
            <a:ext cx="10927080" cy="4434840"/>
          </a:xfrm>
          <a:prstGeom prst="roundRect">
            <a:avLst>
              <a:gd name="adj" fmla="val 1649"/>
            </a:avLst>
          </a:prstGeom>
          <a:solidFill>
            <a:srgbClr val="F8FAFC"/>
          </a:solidFill>
          <a:ln w="1397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868680" y="1810512"/>
            <a:ext cx="10469880" cy="4105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7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pip install django</a:t>
            </a:r>
            <a:endParaRPr lang="en-US" sz="1700"/>
          </a:p>
          <a:p>
            <a:pPr marL="0" indent="0">
              <a:buNone/>
            </a:pPr>
            <a:r>
              <a:rPr lang="en-US" sz="17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django-admin startproject universidad</a:t>
            </a:r>
            <a:endParaRPr lang="en-US" sz="1700"/>
          </a:p>
          <a:p>
            <a:pPr marL="0" indent="0">
              <a:buNone/>
            </a:pPr>
            <a:r>
              <a:rPr lang="en-US" sz="17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universidad</a:t>
            </a:r>
            <a:endParaRPr lang="en-US" sz="1700"/>
          </a:p>
          <a:p>
            <a:pPr marL="0" indent="0">
              <a:buNone/>
            </a:pPr>
            <a:r>
              <a:rPr lang="en-US" sz="17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manage.py startapp academico</a:t>
            </a:r>
            <a:endParaRPr lang="en-US" sz="1700"/>
          </a:p>
          <a:p>
            <a:pPr marL="0" indent="0">
              <a:buNone/>
            </a:pPr>
            <a:r>
              <a:rPr lang="en-US" sz="17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manage.py runserver</a:t>
            </a:r>
            <a:endParaRPr lang="en-US" sz="1700"/>
          </a:p>
          <a:p>
            <a:pPr marL="0" indent="0">
              <a:buNone/>
            </a:pPr>
            <a:r>
              <a:rPr lang="en-US" sz="17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manage.py makemigrations</a:t>
            </a:r>
            <a:endParaRPr lang="en-US" sz="1700"/>
          </a:p>
          <a:p>
            <a:pPr marL="0" indent="0">
              <a:buNone/>
            </a:pPr>
            <a:r>
              <a:rPr lang="en-US" sz="17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manage.py migrate</a:t>
            </a:r>
            <a:endParaRPr lang="en-US" sz="1700"/>
          </a:p>
          <a:p>
            <a:pPr marL="0" indent="0">
              <a:buNone/>
            </a:pPr>
            <a:r>
              <a:rPr lang="en-US" sz="17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manage.py createsuperuser</a:t>
            </a:r>
            <a:endParaRPr lang="en-US" sz="1700"/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164</a:t>
            </a:r>
            <a:endParaRPr lang="en-US" sz="750"/>
          </a:p>
        </p:txBody>
      </p:sp>
      <p:sp>
        <p:nvSpPr>
          <p:cNvPr id="6" name="Text 4"/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10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457200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600" b="1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Modelo Django</a:t>
            </a:r>
            <a:endParaRPr lang="en-US" sz="2600"/>
          </a:p>
        </p:txBody>
      </p:sp>
      <p:sp>
        <p:nvSpPr>
          <p:cNvPr id="8" name="Text 6"/>
          <p:cNvSpPr/>
          <p:nvPr/>
        </p:nvSpPr>
        <p:spPr>
          <a:xfrm>
            <a:off x="685800" y="1097280"/>
            <a:ext cx="107899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Ejemplo académico.</a:t>
            </a:r>
            <a:endParaRPr lang="en-US" sz="1600"/>
          </a:p>
        </p:txBody>
      </p:sp>
      <p:sp>
        <p:nvSpPr>
          <p:cNvPr id="9" name="Shape 7"/>
          <p:cNvSpPr/>
          <p:nvPr/>
        </p:nvSpPr>
        <p:spPr>
          <a:xfrm>
            <a:off x="640080" y="1645920"/>
            <a:ext cx="10927080" cy="4434840"/>
          </a:xfrm>
          <a:prstGeom prst="roundRect">
            <a:avLst>
              <a:gd name="adj" fmla="val 1649"/>
            </a:avLst>
          </a:prstGeom>
          <a:solidFill>
            <a:srgbClr val="F8FAFC"/>
          </a:solidFill>
          <a:ln w="1397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868680" y="1810512"/>
            <a:ext cx="10469880" cy="4105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django.db import models</a:t>
            </a:r>
            <a:endParaRPr lang="en-US" sz="1150"/>
          </a:p>
          <a:p>
            <a:pPr marL="0" indent="0">
              <a:buNone/>
            </a:pPr>
            <a:endParaRPr lang="en-US" sz="1150"/>
          </a:p>
          <a:p>
            <a:pPr marL="0" indent="0">
              <a:buNone/>
            </a:pPr>
            <a:r>
              <a:rPr lang="en-US" sz="115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Curso(models.Model):</a:t>
            </a:r>
            <a:endParaRPr lang="en-US" sz="1150"/>
          </a:p>
          <a:p>
            <a:pPr marL="0" indent="0">
              <a:buNone/>
            </a:pPr>
            <a:r>
              <a:rPr lang="en-US" sz="115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nombre = models.CharField(max_length=120)</a:t>
            </a:r>
            <a:endParaRPr lang="en-US" sz="1150"/>
          </a:p>
          <a:p>
            <a:pPr marL="0" indent="0">
              <a:buNone/>
            </a:pPr>
            <a:r>
              <a:rPr lang="en-US" sz="115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horas = models.PositiveIntegerField(default=40)</a:t>
            </a:r>
            <a:endParaRPr lang="en-US" sz="1150"/>
          </a:p>
          <a:p>
            <a:pPr marL="0" indent="0">
              <a:buNone/>
            </a:pPr>
            <a:r>
              <a:rPr lang="en-US" sz="115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activo = models.BooleanField(default=True)</a:t>
            </a:r>
            <a:endParaRPr lang="en-US" sz="1150"/>
          </a:p>
          <a:p>
            <a:pPr marL="0" indent="0">
              <a:buNone/>
            </a:pPr>
            <a:endParaRPr lang="en-US" sz="1150"/>
          </a:p>
          <a:p>
            <a:pPr marL="0" indent="0">
              <a:buNone/>
            </a:pPr>
            <a:r>
              <a:rPr lang="en-US" sz="115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__str__(self):</a:t>
            </a:r>
            <a:endParaRPr lang="en-US" sz="1150"/>
          </a:p>
          <a:p>
            <a:pPr marL="0" indent="0">
              <a:buNone/>
            </a:pPr>
            <a:r>
              <a:rPr lang="en-US" sz="115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self.nombre</a:t>
            </a:r>
            <a:endParaRPr lang="en-US" sz="1150"/>
          </a:p>
          <a:p>
            <a:pPr marL="0" indent="0">
              <a:buNone/>
            </a:pPr>
            <a:endParaRPr lang="en-US" sz="1150"/>
          </a:p>
          <a:p>
            <a:pPr marL="0" indent="0">
              <a:buNone/>
            </a:pPr>
            <a:r>
              <a:rPr lang="en-US" sz="115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Estudiante(models.Model):</a:t>
            </a:r>
            <a:endParaRPr lang="en-US" sz="1150"/>
          </a:p>
          <a:p>
            <a:pPr marL="0" indent="0">
              <a:buNone/>
            </a:pPr>
            <a:r>
              <a:rPr lang="en-US" sz="115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nombre = models.CharField(max_length=120)</a:t>
            </a:r>
            <a:endParaRPr lang="en-US" sz="1150"/>
          </a:p>
          <a:p>
            <a:pPr marL="0" indent="0">
              <a:buNone/>
            </a:pPr>
            <a:r>
              <a:rPr lang="en-US" sz="115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correo = models.EmailField(unique=True)</a:t>
            </a:r>
            <a:endParaRPr lang="en-US" sz="1150"/>
          </a:p>
          <a:p>
            <a:pPr marL="0" indent="0">
              <a:buNone/>
            </a:pPr>
            <a:r>
              <a:rPr lang="en-US" sz="115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curso = models.ForeignKey(Curso, on_delete=models.CASCADE)</a:t>
            </a:r>
            <a:endParaRPr lang="en-US" sz="1150"/>
          </a:p>
          <a:p>
            <a:pPr marL="0" indent="0">
              <a:buNone/>
            </a:pPr>
            <a:r>
              <a:rPr lang="en-US" sz="115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promedio = models.DecimalField(max_digits=4, decimal_places=2)</a:t>
            </a:r>
            <a:endParaRPr lang="en-US" sz="1150"/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165</a:t>
            </a:r>
            <a:endParaRPr lang="en-US" sz="750"/>
          </a:p>
        </p:txBody>
      </p:sp>
      <p:sp>
        <p:nvSpPr>
          <p:cNvPr id="6" name="Text 4"/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10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457200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600" b="1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Admin en Django</a:t>
            </a:r>
            <a:endParaRPr lang="en-US" sz="2600"/>
          </a:p>
        </p:txBody>
      </p:sp>
      <p:sp>
        <p:nvSpPr>
          <p:cNvPr id="8" name="Text 6"/>
          <p:cNvSpPr/>
          <p:nvPr/>
        </p:nvSpPr>
        <p:spPr>
          <a:xfrm>
            <a:off x="685800" y="1097280"/>
            <a:ext cx="107899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 err="1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Administrar</a:t>
            </a:r>
            <a:r>
              <a:rPr lang="en-US" sz="16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600" dirty="0" err="1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modelos</a:t>
            </a:r>
            <a:r>
              <a:rPr lang="en-US" sz="16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sin crear </a:t>
            </a:r>
            <a:r>
              <a:rPr lang="en-US" sz="1600" dirty="0" err="1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interfaz</a:t>
            </a:r>
            <a:r>
              <a:rPr lang="en-US" sz="16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600" dirty="0" err="1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desde</a:t>
            </a:r>
            <a:r>
              <a:rPr lang="en-US" sz="16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cero.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1645920"/>
            <a:ext cx="10927080" cy="4434840"/>
          </a:xfrm>
          <a:prstGeom prst="roundRect">
            <a:avLst>
              <a:gd name="adj" fmla="val 1649"/>
            </a:avLst>
          </a:prstGeom>
          <a:solidFill>
            <a:srgbClr val="F8FAFC"/>
          </a:solidFill>
          <a:ln w="1397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868680" y="1810512"/>
            <a:ext cx="10469880" cy="4105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5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django.contrib import admin</a:t>
            </a:r>
            <a:endParaRPr lang="en-US" sz="1250"/>
          </a:p>
          <a:p>
            <a:pPr marL="0" indent="0">
              <a:buNone/>
            </a:pPr>
            <a:r>
              <a:rPr lang="en-US" sz="125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.models import Curso, Estudiante</a:t>
            </a:r>
            <a:endParaRPr lang="en-US" sz="1250"/>
          </a:p>
          <a:p>
            <a:pPr marL="0" indent="0">
              <a:buNone/>
            </a:pPr>
            <a:endParaRPr lang="en-US" sz="1250"/>
          </a:p>
          <a:p>
            <a:pPr marL="0" indent="0">
              <a:buNone/>
            </a:pPr>
            <a:r>
              <a:rPr lang="en-US" sz="125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@admin.register(Curso)</a:t>
            </a:r>
            <a:endParaRPr lang="en-US" sz="1250"/>
          </a:p>
          <a:p>
            <a:pPr marL="0" indent="0">
              <a:buNone/>
            </a:pPr>
            <a:r>
              <a:rPr lang="en-US" sz="125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CursoAdmin(admin.ModelAdmin):</a:t>
            </a:r>
            <a:endParaRPr lang="en-US" sz="1250"/>
          </a:p>
          <a:p>
            <a:pPr marL="0" indent="0">
              <a:buNone/>
            </a:pPr>
            <a:r>
              <a:rPr lang="en-US" sz="125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list_display = ("nombre", "horas", "activo")</a:t>
            </a:r>
            <a:endParaRPr lang="en-US" sz="1250"/>
          </a:p>
          <a:p>
            <a:pPr marL="0" indent="0">
              <a:buNone/>
            </a:pPr>
            <a:r>
              <a:rPr lang="en-US" sz="125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search_fields = ("nombre",)</a:t>
            </a:r>
            <a:endParaRPr lang="en-US" sz="1250"/>
          </a:p>
          <a:p>
            <a:pPr marL="0" indent="0">
              <a:buNone/>
            </a:pPr>
            <a:endParaRPr lang="en-US" sz="1250"/>
          </a:p>
          <a:p>
            <a:pPr marL="0" indent="0">
              <a:buNone/>
            </a:pPr>
            <a:r>
              <a:rPr lang="en-US" sz="125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@admin.register(Estudiante)</a:t>
            </a:r>
            <a:endParaRPr lang="en-US" sz="1250"/>
          </a:p>
          <a:p>
            <a:pPr marL="0" indent="0">
              <a:buNone/>
            </a:pPr>
            <a:r>
              <a:rPr lang="en-US" sz="125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EstudianteAdmin(admin.ModelAdmin):</a:t>
            </a:r>
            <a:endParaRPr lang="en-US" sz="1250"/>
          </a:p>
          <a:p>
            <a:pPr marL="0" indent="0">
              <a:buNone/>
            </a:pPr>
            <a:r>
              <a:rPr lang="en-US" sz="125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list_display = ("nombre", "correo", "curso", "promedio")</a:t>
            </a:r>
            <a:endParaRPr lang="en-US" sz="1250"/>
          </a:p>
          <a:p>
            <a:pPr marL="0" indent="0">
              <a:buNone/>
            </a:pPr>
            <a:r>
              <a:rPr lang="en-US" sz="125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list_filter = ("curso",)</a:t>
            </a:r>
            <a:endParaRPr lang="en-US" sz="1250"/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166</a:t>
            </a:r>
            <a:endParaRPr lang="en-US" sz="750"/>
          </a:p>
        </p:txBody>
      </p:sp>
      <p:sp>
        <p:nvSpPr>
          <p:cNvPr id="6" name="Text 4"/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10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457200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600" b="1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Vista Django</a:t>
            </a:r>
            <a:endParaRPr lang="en-US" sz="2600"/>
          </a:p>
        </p:txBody>
      </p:sp>
      <p:sp>
        <p:nvSpPr>
          <p:cNvPr id="8" name="Text 6"/>
          <p:cNvSpPr/>
          <p:nvPr/>
        </p:nvSpPr>
        <p:spPr>
          <a:xfrm>
            <a:off x="685800" y="1097280"/>
            <a:ext cx="107899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Listar estudiantes.</a:t>
            </a:r>
            <a:endParaRPr lang="en-US" sz="1600"/>
          </a:p>
        </p:txBody>
      </p:sp>
      <p:sp>
        <p:nvSpPr>
          <p:cNvPr id="9" name="Shape 7"/>
          <p:cNvSpPr/>
          <p:nvPr/>
        </p:nvSpPr>
        <p:spPr>
          <a:xfrm>
            <a:off x="640080" y="1645920"/>
            <a:ext cx="10927080" cy="4434840"/>
          </a:xfrm>
          <a:prstGeom prst="roundRect">
            <a:avLst>
              <a:gd name="adj" fmla="val 1649"/>
            </a:avLst>
          </a:prstGeom>
          <a:solidFill>
            <a:srgbClr val="F8FAFC"/>
          </a:solidFill>
          <a:ln w="1397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868680" y="1810512"/>
            <a:ext cx="10469880" cy="4105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django.shortcuts import render</a:t>
            </a:r>
            <a:endParaRPr lang="en-US" sz="1500"/>
          </a:p>
          <a:p>
            <a:pPr marL="0" indent="0">
              <a:buNone/>
            </a:pPr>
            <a:r>
              <a:rPr lang="en-US" sz="15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.models import Estudiante</a:t>
            </a:r>
            <a:endParaRPr lang="en-US" sz="1500"/>
          </a:p>
          <a:p>
            <a:pPr marL="0" indent="0">
              <a:buNone/>
            </a:pPr>
            <a:endParaRPr lang="en-US" sz="1500"/>
          </a:p>
          <a:p>
            <a:pPr marL="0" indent="0">
              <a:buNone/>
            </a:pPr>
            <a:r>
              <a:rPr lang="en-US" sz="15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lista_estudiantes(request):</a:t>
            </a:r>
            <a:endParaRPr lang="en-US" sz="1500"/>
          </a:p>
          <a:p>
            <a:pPr marL="0" indent="0">
              <a:buNone/>
            </a:pPr>
            <a:r>
              <a:rPr lang="en-US" sz="15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estudiantes = Estudiante.objects.select_related("curso").order_by("nombre")</a:t>
            </a:r>
            <a:endParaRPr lang="en-US" sz="1500"/>
          </a:p>
          <a:p>
            <a:pPr marL="0" indent="0">
              <a:buNone/>
            </a:pPr>
            <a:r>
              <a:rPr lang="en-US" sz="15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render(</a:t>
            </a:r>
            <a:endParaRPr lang="en-US" sz="1500"/>
          </a:p>
          <a:p>
            <a:pPr marL="0" indent="0">
              <a:buNone/>
            </a:pPr>
            <a:r>
              <a:rPr lang="en-US" sz="15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request,</a:t>
            </a:r>
            <a:endParaRPr lang="en-US" sz="1500"/>
          </a:p>
          <a:p>
            <a:pPr marL="0" indent="0">
              <a:buNone/>
            </a:pPr>
            <a:r>
              <a:rPr lang="en-US" sz="15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"academico/estudiantes.html",</a:t>
            </a:r>
            <a:endParaRPr lang="en-US" sz="1500"/>
          </a:p>
          <a:p>
            <a:pPr marL="0" indent="0">
              <a:buNone/>
            </a:pPr>
            <a:r>
              <a:rPr lang="en-US" sz="15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{"estudiantes": estudiantes}</a:t>
            </a:r>
            <a:endParaRPr lang="en-US" sz="1500"/>
          </a:p>
          <a:p>
            <a:pPr marL="0" indent="0">
              <a:buNone/>
            </a:pPr>
            <a:r>
              <a:rPr lang="en-US" sz="150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</a:t>
            </a:r>
            <a:endParaRPr lang="en-US" sz="1500"/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167</a:t>
            </a:r>
            <a:endParaRPr lang="en-US" sz="750"/>
          </a:p>
        </p:txBody>
      </p:sp>
      <p:sp>
        <p:nvSpPr>
          <p:cNvPr id="6" name="Text 4"/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10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502920"/>
            <a:ext cx="110642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FastAPI </a:t>
            </a:r>
            <a:r>
              <a:rPr lang="en-US" sz="2800" b="1" dirty="0" err="1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</a:t>
            </a:r>
            <a:r>
              <a:rPr lang="en-US" sz="2800" b="1" dirty="0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una idea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77240" y="1325880"/>
            <a:ext cx="10515600" cy="4800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Framework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moderno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para crear APIs.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Usa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anotaciones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de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tipo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Valida datos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automáticamente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Genera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documentación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interactiva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Devuelve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JSON por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defecto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168</a:t>
            </a:r>
            <a:endParaRPr lang="en-US" sz="750"/>
          </a:p>
        </p:txBody>
      </p:sp>
      <p:sp>
        <p:nvSpPr>
          <p:cNvPr id="6" name="Text 4"/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10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457200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 err="1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Instalar</a:t>
            </a:r>
            <a:r>
              <a:rPr lang="en-US" sz="2600" b="1" dirty="0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y ejecutar FastAPI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85800" y="1097280"/>
            <a:ext cx="107899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Comandos base.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1645920"/>
            <a:ext cx="10927080" cy="4434840"/>
          </a:xfrm>
          <a:prstGeom prst="roundRect">
            <a:avLst>
              <a:gd name="adj" fmla="val 1649"/>
            </a:avLst>
          </a:prstGeom>
          <a:solidFill>
            <a:srgbClr val="F8FAFC"/>
          </a:solidFill>
          <a:ln w="1397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868680" y="1810512"/>
            <a:ext cx="10469880" cy="4105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pip install </a:t>
            </a:r>
            <a:r>
              <a:rPr lang="en-US" sz="200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fastapi</a:t>
            </a:r>
            <a:r>
              <a:rPr lang="en-US" sz="20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uvicorn</a:t>
            </a:r>
            <a:endParaRPr lang="en-US" sz="2000" dirty="0"/>
          </a:p>
          <a:p>
            <a:pPr marL="0" indent="0">
              <a:buNone/>
            </a:pPr>
            <a:r>
              <a:rPr lang="en-US" sz="200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uvicorn</a:t>
            </a:r>
            <a:r>
              <a:rPr lang="en-US" sz="20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main:app</a:t>
            </a:r>
            <a:r>
              <a:rPr lang="en-US" sz="20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--reload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Luego </a:t>
            </a:r>
            <a:r>
              <a:rPr lang="en-US" sz="200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abrir</a:t>
            </a:r>
            <a:r>
              <a:rPr lang="en-US" sz="20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r>
              <a:rPr lang="en-US" sz="20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el </a:t>
            </a:r>
            <a:r>
              <a:rPr lang="en-US" sz="200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navegador</a:t>
            </a:r>
            <a:r>
              <a:rPr lang="en-US" sz="20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http://127.0.0.1:8000/docs</a:t>
            </a:r>
            <a:endParaRPr lang="en-US" sz="2000" dirty="0"/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169</a:t>
            </a:r>
            <a:endParaRPr lang="en-US" sz="750"/>
          </a:p>
        </p:txBody>
      </p:sp>
      <p:sp>
        <p:nvSpPr>
          <p:cNvPr id="6" name="Text 4"/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10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457200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600" b="1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Primer endpoint</a:t>
            </a:r>
            <a:endParaRPr lang="en-US" sz="2600"/>
          </a:p>
        </p:txBody>
      </p:sp>
      <p:sp>
        <p:nvSpPr>
          <p:cNvPr id="8" name="Text 6"/>
          <p:cNvSpPr/>
          <p:nvPr/>
        </p:nvSpPr>
        <p:spPr>
          <a:xfrm>
            <a:off x="685800" y="1097280"/>
            <a:ext cx="107899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Archivo: main.py</a:t>
            </a:r>
            <a:endParaRPr lang="en-US" sz="1600"/>
          </a:p>
        </p:txBody>
      </p:sp>
      <p:sp>
        <p:nvSpPr>
          <p:cNvPr id="9" name="Shape 7"/>
          <p:cNvSpPr/>
          <p:nvPr/>
        </p:nvSpPr>
        <p:spPr>
          <a:xfrm>
            <a:off x="640080" y="1645920"/>
            <a:ext cx="10927080" cy="4434840"/>
          </a:xfrm>
          <a:prstGeom prst="roundRect">
            <a:avLst>
              <a:gd name="adj" fmla="val 1649"/>
            </a:avLst>
          </a:prstGeom>
          <a:solidFill>
            <a:srgbClr val="F8FAFC"/>
          </a:solidFill>
          <a:ln w="1397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868680" y="1810512"/>
            <a:ext cx="10469880" cy="4105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</a:t>
            </a:r>
            <a:r>
              <a:rPr lang="en-US" sz="190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fastapi</a:t>
            </a:r>
            <a:r>
              <a:rPr lang="en-US" sz="19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import FastAPI</a:t>
            </a:r>
            <a:endParaRPr lang="en-US" sz="1900" dirty="0"/>
          </a:p>
          <a:p>
            <a:pPr marL="0" indent="0">
              <a:buNone/>
            </a:pP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 = FastAPI(title="API </a:t>
            </a:r>
            <a:r>
              <a:rPr lang="en-US" sz="190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Académica</a:t>
            </a:r>
            <a:r>
              <a:rPr lang="en-US" sz="19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")</a:t>
            </a:r>
            <a:endParaRPr lang="en-US" sz="1900" dirty="0"/>
          </a:p>
          <a:p>
            <a:pPr marL="0" indent="0">
              <a:buNone/>
            </a:pP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@app.get("/")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</a:t>
            </a:r>
            <a:r>
              <a:rPr lang="en-US" sz="190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inicio</a:t>
            </a:r>
            <a:r>
              <a:rPr lang="en-US" sz="19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():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{"</a:t>
            </a:r>
            <a:r>
              <a:rPr lang="en-US" sz="190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mensaje</a:t>
            </a:r>
            <a:r>
              <a:rPr lang="en-US" sz="19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": "API de Programación con Python"}</a:t>
            </a:r>
            <a:endParaRPr lang="en-US" sz="1900" dirty="0"/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170</a:t>
            </a:r>
            <a:endParaRPr lang="en-US" sz="750"/>
          </a:p>
        </p:txBody>
      </p:sp>
      <p:sp>
        <p:nvSpPr>
          <p:cNvPr id="6" name="Text 4"/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10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457200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600" b="1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API de estudiantes</a:t>
            </a:r>
            <a:endParaRPr lang="en-US" sz="2600"/>
          </a:p>
        </p:txBody>
      </p:sp>
      <p:sp>
        <p:nvSpPr>
          <p:cNvPr id="8" name="Text 6"/>
          <p:cNvSpPr/>
          <p:nvPr/>
        </p:nvSpPr>
        <p:spPr>
          <a:xfrm>
            <a:off x="685800" y="1097280"/>
            <a:ext cx="107899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</a:t>
            </a:r>
            <a:r>
              <a:rPr lang="en-US" sz="1600" dirty="0" err="1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</a:t>
            </a:r>
            <a:r>
              <a:rPr lang="en-US" sz="16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memoria.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1645920"/>
            <a:ext cx="10927080" cy="4434840"/>
          </a:xfrm>
          <a:prstGeom prst="roundRect">
            <a:avLst>
              <a:gd name="adj" fmla="val 1649"/>
            </a:avLst>
          </a:prstGeom>
          <a:solidFill>
            <a:srgbClr val="F8FAFC"/>
          </a:solidFill>
          <a:ln w="1397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868680" y="1810512"/>
            <a:ext cx="10469880" cy="4105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</a:t>
            </a:r>
            <a:r>
              <a:rPr lang="en-US" sz="125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fastapi</a:t>
            </a:r>
            <a:r>
              <a:rPr lang="en-US" sz="12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import FastAPI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 = FastAPI()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estudiantes</a:t>
            </a:r>
            <a:r>
              <a:rPr lang="en-US" sz="12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[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{"id": 1, "</a:t>
            </a:r>
            <a:r>
              <a:rPr lang="en-US" sz="125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</a:t>
            </a:r>
            <a:r>
              <a:rPr lang="en-US" sz="12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": "Ana Torres", "</a:t>
            </a:r>
            <a:r>
              <a:rPr lang="en-US" sz="125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promedio</a:t>
            </a:r>
            <a:r>
              <a:rPr lang="en-US" sz="12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": 8.7},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{"id": 2, "</a:t>
            </a:r>
            <a:r>
              <a:rPr lang="en-US" sz="125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</a:t>
            </a:r>
            <a:r>
              <a:rPr lang="en-US" sz="12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": "Luis Mora", "</a:t>
            </a:r>
            <a:r>
              <a:rPr lang="en-US" sz="125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promedio</a:t>
            </a:r>
            <a:r>
              <a:rPr lang="en-US" sz="12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": 5.6}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@app.get("/estudiantes")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</a:t>
            </a:r>
            <a:r>
              <a:rPr lang="en-US" sz="125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listar_estudiantes</a:t>
            </a:r>
            <a:r>
              <a:rPr lang="en-US" sz="12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():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</a:t>
            </a:r>
            <a:r>
              <a:rPr lang="en-US" sz="125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estudiantes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@app.get("/estudiantes/riesgo")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</a:t>
            </a:r>
            <a:r>
              <a:rPr lang="en-US" sz="125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estudiantes_riesgo</a:t>
            </a:r>
            <a:r>
              <a:rPr lang="en-US" sz="12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():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[e for e in </a:t>
            </a:r>
            <a:r>
              <a:rPr lang="en-US" sz="125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estudiantes</a:t>
            </a:r>
            <a:r>
              <a:rPr lang="en-US" sz="12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if e["</a:t>
            </a:r>
            <a:r>
              <a:rPr lang="en-US" sz="125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promedio</a:t>
            </a:r>
            <a:r>
              <a:rPr lang="en-US" sz="12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"] &lt; 7]</a:t>
            </a:r>
            <a:endParaRPr lang="en-US" sz="1250" dirty="0"/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171</a:t>
            </a:r>
            <a:endParaRPr lang="en-US" sz="750"/>
          </a:p>
        </p:txBody>
      </p:sp>
      <p:sp>
        <p:nvSpPr>
          <p:cNvPr id="6" name="Text 4"/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10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457200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600" b="1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Validación con Pydantic</a:t>
            </a:r>
            <a:endParaRPr lang="en-US" sz="2600"/>
          </a:p>
        </p:txBody>
      </p:sp>
      <p:sp>
        <p:nvSpPr>
          <p:cNvPr id="8" name="Text 6"/>
          <p:cNvSpPr/>
          <p:nvPr/>
        </p:nvSpPr>
        <p:spPr>
          <a:xfrm>
            <a:off x="685800" y="1097280"/>
            <a:ext cx="107899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Modelo de entrada.</a:t>
            </a:r>
            <a:endParaRPr lang="en-US" sz="1600"/>
          </a:p>
        </p:txBody>
      </p:sp>
      <p:sp>
        <p:nvSpPr>
          <p:cNvPr id="9" name="Shape 7"/>
          <p:cNvSpPr/>
          <p:nvPr/>
        </p:nvSpPr>
        <p:spPr>
          <a:xfrm>
            <a:off x="640080" y="1645920"/>
            <a:ext cx="10927080" cy="4434840"/>
          </a:xfrm>
          <a:prstGeom prst="roundRect">
            <a:avLst>
              <a:gd name="adj" fmla="val 1649"/>
            </a:avLst>
          </a:prstGeom>
          <a:solidFill>
            <a:srgbClr val="F8FAFC"/>
          </a:solidFill>
          <a:ln w="1397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868680" y="1810512"/>
            <a:ext cx="10469880" cy="4105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</a:t>
            </a:r>
            <a:r>
              <a:rPr lang="en-US" sz="145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pydantic</a:t>
            </a:r>
            <a:r>
              <a:rPr lang="en-US" sz="14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import </a:t>
            </a:r>
            <a:r>
              <a:rPr lang="en-US" sz="145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BaseModel</a:t>
            </a:r>
            <a:r>
              <a:rPr lang="en-US" sz="14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Field</a:t>
            </a:r>
            <a:endParaRPr lang="en-US" sz="1450" dirty="0"/>
          </a:p>
          <a:p>
            <a:pPr marL="0" indent="0">
              <a:buNone/>
            </a:pP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</a:t>
            </a:r>
            <a:r>
              <a:rPr lang="en-US" sz="145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EstudianteIn</a:t>
            </a:r>
            <a:r>
              <a:rPr lang="en-US" sz="14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45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BaseModel</a:t>
            </a:r>
            <a:r>
              <a:rPr lang="en-US" sz="14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45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</a:t>
            </a:r>
            <a:r>
              <a:rPr lang="en-US" sz="14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str = Field(</a:t>
            </a:r>
            <a:r>
              <a:rPr lang="en-US" sz="145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min_length</a:t>
            </a:r>
            <a:r>
              <a:rPr lang="en-US" sz="14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=2, </a:t>
            </a:r>
            <a:r>
              <a:rPr lang="en-US" sz="145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max_length</a:t>
            </a:r>
            <a:r>
              <a:rPr lang="en-US" sz="14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=120)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45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promedio</a:t>
            </a:r>
            <a:r>
              <a:rPr lang="en-US" sz="14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float = Field(</a:t>
            </a:r>
            <a:r>
              <a:rPr lang="en-US" sz="145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</a:t>
            </a:r>
            <a:r>
              <a:rPr lang="en-US" sz="14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=0, le=10)</a:t>
            </a:r>
            <a:endParaRPr lang="en-US" sz="1450" dirty="0"/>
          </a:p>
          <a:p>
            <a:pPr marL="0" indent="0">
              <a:buNone/>
            </a:pP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@app.post("/estudiantes")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</a:t>
            </a:r>
            <a:r>
              <a:rPr lang="en-US" sz="145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crear_estudiante</a:t>
            </a:r>
            <a:r>
              <a:rPr lang="en-US" sz="14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45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estudiante</a:t>
            </a:r>
            <a:r>
              <a:rPr lang="en-US" sz="14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45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EstudianteIn</a:t>
            </a:r>
            <a:r>
              <a:rPr lang="en-US" sz="14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datos = </a:t>
            </a:r>
            <a:r>
              <a:rPr lang="en-US" sz="145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estudiante.model_dump</a:t>
            </a:r>
            <a:r>
              <a:rPr lang="en-US" sz="14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45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estudiantes.append</a:t>
            </a:r>
            <a:r>
              <a:rPr lang="en-US" sz="14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(datos)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datos</a:t>
            </a:r>
            <a:endParaRPr lang="en-US" sz="1450" dirty="0"/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172</a:t>
            </a:r>
            <a:endParaRPr lang="en-US" sz="750"/>
          </a:p>
        </p:txBody>
      </p:sp>
      <p:sp>
        <p:nvSpPr>
          <p:cNvPr id="6" name="Text 4"/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10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457200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 err="1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Dependencias</a:t>
            </a:r>
            <a:r>
              <a:rPr lang="en-US" sz="2600" b="1" dirty="0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600" b="1" dirty="0" err="1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</a:t>
            </a:r>
            <a:r>
              <a:rPr lang="en-US" sz="2600" b="1" dirty="0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FastAPI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85800" y="1097280"/>
            <a:ext cx="107899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Validación de token simple.</a:t>
            </a:r>
            <a:endParaRPr lang="en-US" sz="1600"/>
          </a:p>
        </p:txBody>
      </p:sp>
      <p:sp>
        <p:nvSpPr>
          <p:cNvPr id="9" name="Shape 7"/>
          <p:cNvSpPr/>
          <p:nvPr/>
        </p:nvSpPr>
        <p:spPr>
          <a:xfrm>
            <a:off x="640080" y="1645920"/>
            <a:ext cx="10927080" cy="4434840"/>
          </a:xfrm>
          <a:prstGeom prst="roundRect">
            <a:avLst>
              <a:gd name="adj" fmla="val 1649"/>
            </a:avLst>
          </a:prstGeom>
          <a:solidFill>
            <a:srgbClr val="F8FAFC"/>
          </a:solidFill>
          <a:ln w="1397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868680" y="1810512"/>
            <a:ext cx="10469880" cy="4105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</a:t>
            </a:r>
            <a:r>
              <a:rPr lang="en-US" sz="135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fastapi</a:t>
            </a:r>
            <a:r>
              <a:rPr lang="en-US" sz="13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import Depends, Header, </a:t>
            </a:r>
            <a:r>
              <a:rPr lang="en-US" sz="135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HTTPException</a:t>
            </a:r>
            <a:endParaRPr lang="en-US" sz="1350" dirty="0"/>
          </a:p>
          <a:p>
            <a:pPr marL="0" indent="0">
              <a:buNone/>
            </a:pP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</a:t>
            </a:r>
            <a:r>
              <a:rPr lang="en-US" sz="135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verificar_token</a:t>
            </a:r>
            <a:r>
              <a:rPr lang="en-US" sz="13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5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x_token</a:t>
            </a:r>
            <a:r>
              <a:rPr lang="en-US" sz="13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str = Header()):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</a:t>
            </a:r>
            <a:r>
              <a:rPr lang="en-US" sz="135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x_token</a:t>
            </a:r>
            <a:r>
              <a:rPr lang="en-US" sz="13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!= "</a:t>
            </a:r>
            <a:r>
              <a:rPr lang="en-US" sz="135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secreto-docente</a:t>
            </a:r>
            <a:r>
              <a:rPr lang="en-US" sz="13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":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raise </a:t>
            </a:r>
            <a:r>
              <a:rPr lang="en-US" sz="135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HTTPException</a:t>
            </a:r>
            <a:r>
              <a:rPr lang="en-US" sz="13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5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status_code</a:t>
            </a:r>
            <a:r>
              <a:rPr lang="en-US" sz="13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=401, detail="Token </a:t>
            </a:r>
            <a:r>
              <a:rPr lang="en-US" sz="135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inválido</a:t>
            </a:r>
            <a:r>
              <a:rPr lang="en-US" sz="13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")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</a:t>
            </a:r>
            <a:r>
              <a:rPr lang="en-US" sz="135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x_token</a:t>
            </a:r>
            <a:endParaRPr lang="en-US" sz="1350" dirty="0"/>
          </a:p>
          <a:p>
            <a:pPr marL="0" indent="0">
              <a:buNone/>
            </a:pP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@app.get("/reporte", dependencies=[Depends(</a:t>
            </a:r>
            <a:r>
              <a:rPr lang="en-US" sz="135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verificar_token</a:t>
            </a:r>
            <a:r>
              <a:rPr lang="en-US" sz="13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)])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</a:t>
            </a:r>
            <a:r>
              <a:rPr lang="en-US" sz="135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reporte</a:t>
            </a:r>
            <a:r>
              <a:rPr lang="en-US" sz="13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():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{"</a:t>
            </a:r>
            <a:r>
              <a:rPr lang="en-US" sz="135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estado</a:t>
            </a:r>
            <a:r>
              <a:rPr lang="en-US" sz="13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": "</a:t>
            </a:r>
            <a:r>
              <a:rPr lang="en-US" sz="135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acceso</a:t>
            </a:r>
            <a:r>
              <a:rPr lang="en-US" sz="13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autorizado</a:t>
            </a:r>
            <a:r>
              <a:rPr lang="en-US" sz="13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"}</a:t>
            </a:r>
            <a:endParaRPr lang="en-US" sz="1350" dirty="0"/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173</a:t>
            </a:r>
            <a:endParaRPr lang="en-US" sz="750"/>
          </a:p>
        </p:txBody>
      </p:sp>
      <p:sp>
        <p:nvSpPr>
          <p:cNvPr id="6" name="Text 4"/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10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502920"/>
            <a:ext cx="1106424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Django vs FastAPI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658368" y="1298448"/>
            <a:ext cx="5257800" cy="411480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Shape 7"/>
          <p:cNvSpPr/>
          <p:nvPr/>
        </p:nvSpPr>
        <p:spPr>
          <a:xfrm>
            <a:off x="6263640" y="1298448"/>
            <a:ext cx="5257800" cy="41148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822960" y="1389888"/>
            <a:ext cx="4892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FFFFF"/>
                </a:solidFill>
              </a:rPr>
              <a:t>Django</a:t>
            </a:r>
            <a:endParaRPr lang="en-US" sz="1500"/>
          </a:p>
        </p:txBody>
      </p:sp>
      <p:sp>
        <p:nvSpPr>
          <p:cNvPr id="11" name="Text 9"/>
          <p:cNvSpPr/>
          <p:nvPr/>
        </p:nvSpPr>
        <p:spPr>
          <a:xfrm>
            <a:off x="6428232" y="1389888"/>
            <a:ext cx="4892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4E80"/>
                </a:solidFill>
              </a:rPr>
              <a:t>FastAPI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7240" y="1920240"/>
            <a:ext cx="5166360" cy="4069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700">
                <a:solidFill>
                  <a:srgbClr val="0F172A"/>
                </a:solidFill>
              </a:rPr>
              <a:t>• Aplicaciones web completas.</a:t>
            </a:r>
            <a:endParaRPr lang="en-US" sz="1700"/>
          </a:p>
          <a:p>
            <a:pPr marL="0" indent="0">
              <a:buNone/>
            </a:pPr>
            <a:r>
              <a:rPr lang="en-US" sz="1700">
                <a:solidFill>
                  <a:srgbClr val="0F172A"/>
                </a:solidFill>
              </a:rPr>
              <a:t>• ORM integrado.</a:t>
            </a:r>
            <a:endParaRPr lang="en-US" sz="1700"/>
          </a:p>
          <a:p>
            <a:pPr marL="0" indent="0">
              <a:buNone/>
            </a:pPr>
            <a:r>
              <a:rPr lang="en-US" sz="1700">
                <a:solidFill>
                  <a:srgbClr val="0F172A"/>
                </a:solidFill>
              </a:rPr>
              <a:t>• Admin automático.</a:t>
            </a:r>
            <a:endParaRPr lang="en-US" sz="1700"/>
          </a:p>
          <a:p>
            <a:pPr marL="0" indent="0">
              <a:buNone/>
            </a:pPr>
            <a:r>
              <a:rPr lang="en-US" sz="1700">
                <a:solidFill>
                  <a:srgbClr val="0F172A"/>
                </a:solidFill>
              </a:rPr>
              <a:t>• Plantillas HTML.</a:t>
            </a:r>
            <a:endParaRPr lang="en-US" sz="1700"/>
          </a:p>
          <a:p>
            <a:pPr marL="0" indent="0">
              <a:buNone/>
            </a:pPr>
            <a:r>
              <a:rPr lang="en-US" sz="1700">
                <a:solidFill>
                  <a:srgbClr val="0F172A"/>
                </a:solidFill>
              </a:rPr>
              <a:t>• Más estructura inicial.</a:t>
            </a:r>
            <a:endParaRPr lang="en-US" sz="1700"/>
          </a:p>
        </p:txBody>
      </p:sp>
      <p:sp>
        <p:nvSpPr>
          <p:cNvPr id="13" name="Text 11"/>
          <p:cNvSpPr/>
          <p:nvPr/>
        </p:nvSpPr>
        <p:spPr>
          <a:xfrm>
            <a:off x="6400800" y="1920240"/>
            <a:ext cx="5166360" cy="4069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0F172A"/>
                </a:solidFill>
              </a:rPr>
              <a:t>• APIs </a:t>
            </a:r>
            <a:r>
              <a:rPr lang="en-US" sz="1700" dirty="0" err="1">
                <a:solidFill>
                  <a:srgbClr val="0F172A"/>
                </a:solidFill>
              </a:rPr>
              <a:t>modernas</a:t>
            </a:r>
            <a:r>
              <a:rPr lang="en-US" sz="1700" dirty="0">
                <a:solidFill>
                  <a:srgbClr val="0F172A"/>
                </a:solidFill>
              </a:rPr>
              <a:t>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0F172A"/>
                </a:solidFill>
              </a:rPr>
              <a:t>• JSON por </a:t>
            </a:r>
            <a:r>
              <a:rPr lang="en-US" sz="1700" dirty="0" err="1">
                <a:solidFill>
                  <a:srgbClr val="0F172A"/>
                </a:solidFill>
              </a:rPr>
              <a:t>defecto</a:t>
            </a:r>
            <a:r>
              <a:rPr lang="en-US" sz="1700" dirty="0">
                <a:solidFill>
                  <a:srgbClr val="0F172A"/>
                </a:solidFill>
              </a:rPr>
              <a:t>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0F172A"/>
                </a:solidFill>
              </a:rPr>
              <a:t>• </a:t>
            </a:r>
            <a:r>
              <a:rPr lang="en-US" sz="1700" dirty="0" err="1">
                <a:solidFill>
                  <a:srgbClr val="0F172A"/>
                </a:solidFill>
              </a:rPr>
              <a:t>Documentación</a:t>
            </a:r>
            <a:r>
              <a:rPr lang="en-US" sz="1700" dirty="0">
                <a:solidFill>
                  <a:srgbClr val="0F172A"/>
                </a:solidFill>
              </a:rPr>
              <a:t> </a:t>
            </a:r>
            <a:r>
              <a:rPr lang="en-US" sz="1700" dirty="0" err="1">
                <a:solidFill>
                  <a:srgbClr val="0F172A"/>
                </a:solidFill>
              </a:rPr>
              <a:t>automática</a:t>
            </a:r>
            <a:r>
              <a:rPr lang="en-US" sz="1700" dirty="0">
                <a:solidFill>
                  <a:srgbClr val="0F172A"/>
                </a:solidFill>
              </a:rPr>
              <a:t>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0F172A"/>
                </a:solidFill>
              </a:rPr>
              <a:t>• </a:t>
            </a:r>
            <a:r>
              <a:rPr lang="en-US" sz="1700" dirty="0" err="1">
                <a:solidFill>
                  <a:srgbClr val="0F172A"/>
                </a:solidFill>
              </a:rPr>
              <a:t>Validación</a:t>
            </a:r>
            <a:r>
              <a:rPr lang="en-US" sz="1700" dirty="0">
                <a:solidFill>
                  <a:srgbClr val="0F172A"/>
                </a:solidFill>
              </a:rPr>
              <a:t> </a:t>
            </a:r>
            <a:r>
              <a:rPr lang="en-US" sz="1700" dirty="0" err="1">
                <a:solidFill>
                  <a:srgbClr val="0F172A"/>
                </a:solidFill>
              </a:rPr>
              <a:t>rápida</a:t>
            </a:r>
            <a:r>
              <a:rPr lang="en-US" sz="1700" dirty="0">
                <a:solidFill>
                  <a:srgbClr val="0F172A"/>
                </a:solidFill>
              </a:rPr>
              <a:t>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0F172A"/>
                </a:solidFill>
              </a:rPr>
              <a:t>• Ideal para </a:t>
            </a:r>
            <a:r>
              <a:rPr lang="en-US" sz="1700" dirty="0" err="1">
                <a:solidFill>
                  <a:srgbClr val="0F172A"/>
                </a:solidFill>
              </a:rPr>
              <a:t>servicios</a:t>
            </a:r>
            <a:r>
              <a:rPr lang="en-US" sz="1700" dirty="0">
                <a:solidFill>
                  <a:srgbClr val="0F172A"/>
                </a:solidFill>
              </a:rPr>
              <a:t>.</a:t>
            </a:r>
            <a:endParaRPr lang="en-US" sz="1700" dirty="0"/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174</a:t>
            </a:r>
            <a:endParaRPr lang="en-US" sz="750"/>
          </a:p>
        </p:txBody>
      </p:sp>
      <p:sp>
        <p:nvSpPr>
          <p:cNvPr id="6" name="Text 4"/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10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502920"/>
            <a:ext cx="110642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Introducción a pandas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77240" y="1325880"/>
            <a:ext cx="10515600" cy="4800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pandas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trabaja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con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tablas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de datos.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Permite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leer CSV y Excel.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Facilita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filtros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y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agrupaciones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Genera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reportes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para docencia e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investigación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Es una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ruta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natural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hacia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ciencia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de datos.</a:t>
            </a:r>
            <a:endParaRPr lang="en-US" sz="2000" dirty="0"/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175</a:t>
            </a:r>
            <a:endParaRPr lang="en-US" sz="750"/>
          </a:p>
        </p:txBody>
      </p:sp>
      <p:sp>
        <p:nvSpPr>
          <p:cNvPr id="6" name="Text 4"/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10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457200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600" b="1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Resumen con pandas</a:t>
            </a:r>
            <a:endParaRPr lang="en-US" sz="2600"/>
          </a:p>
        </p:txBody>
      </p:sp>
      <p:sp>
        <p:nvSpPr>
          <p:cNvPr id="8" name="Text 6"/>
          <p:cNvSpPr/>
          <p:nvPr/>
        </p:nvSpPr>
        <p:spPr>
          <a:xfrm>
            <a:off x="685800" y="1097280"/>
            <a:ext cx="107899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 err="1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Ejemplo</a:t>
            </a:r>
            <a:r>
              <a:rPr lang="en-US" sz="16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de </a:t>
            </a:r>
            <a:r>
              <a:rPr lang="en-US" sz="1600" dirty="0" err="1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reporte</a:t>
            </a:r>
            <a:r>
              <a:rPr lang="en-US" sz="16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por </a:t>
            </a:r>
            <a:r>
              <a:rPr lang="en-US" sz="1600" dirty="0" err="1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especie</a:t>
            </a:r>
            <a:r>
              <a:rPr lang="en-US" sz="16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o </a:t>
            </a:r>
            <a:r>
              <a:rPr lang="en-US" sz="1600" dirty="0" err="1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grupo</a:t>
            </a:r>
            <a:r>
              <a:rPr lang="en-US" sz="16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1645920"/>
            <a:ext cx="10927080" cy="4434840"/>
          </a:xfrm>
          <a:prstGeom prst="roundRect">
            <a:avLst>
              <a:gd name="adj" fmla="val 1649"/>
            </a:avLst>
          </a:prstGeom>
          <a:solidFill>
            <a:srgbClr val="F8FAFC"/>
          </a:solidFill>
          <a:ln w="1397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868680" y="1810512"/>
            <a:ext cx="10469880" cy="4105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</a:t>
            </a:r>
            <a:r>
              <a:rPr lang="en-US" sz="13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30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pd.read_csv</a:t>
            </a:r>
            <a:r>
              <a:rPr lang="en-US" sz="13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("datos/mediciones_zootecnia.csv")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resumen</a:t>
            </a:r>
            <a:r>
              <a:rPr lang="en-US" sz="13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(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df.groupby</a:t>
            </a:r>
            <a:r>
              <a:rPr lang="en-US" sz="13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</a:t>
            </a:r>
            <a:r>
              <a:rPr lang="en-US" sz="130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especie</a:t>
            </a:r>
            <a:r>
              <a:rPr lang="en-US" sz="13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</a:t>
            </a:r>
            <a:r>
              <a:rPr lang="en-US" sz="130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agg</a:t>
            </a:r>
            <a:r>
              <a:rPr lang="en-US" sz="13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(total=("</a:t>
            </a:r>
            <a:r>
              <a:rPr lang="en-US" sz="130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codigo</a:t>
            </a:r>
            <a:r>
              <a:rPr lang="en-US" sz="13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", "count"), </a:t>
            </a:r>
            <a:r>
              <a:rPr lang="en-US" sz="130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peso_promedio</a:t>
            </a:r>
            <a:r>
              <a:rPr lang="en-US" sz="13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=("</a:t>
            </a:r>
            <a:r>
              <a:rPr lang="en-US" sz="130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peso_kg</a:t>
            </a:r>
            <a:r>
              <a:rPr lang="en-US" sz="13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", "mean"))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</a:t>
            </a:r>
            <a:r>
              <a:rPr lang="en-US" sz="130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reset_index</a:t>
            </a:r>
            <a:r>
              <a:rPr lang="en-US" sz="13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</a:t>
            </a:r>
            <a:r>
              <a:rPr lang="en-US" sz="130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resumen</a:t>
            </a:r>
            <a:r>
              <a:rPr lang="en-US" sz="13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  <a:p>
            <a:pPr marL="0" indent="0">
              <a:buNone/>
            </a:pPr>
            <a:r>
              <a:rPr lang="en-US" sz="1300" dirty="0" err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resumen.to_excel</a:t>
            </a:r>
            <a:r>
              <a:rPr lang="en-US" sz="13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("resumen_por_especie.xlsx", index=False)</a:t>
            </a:r>
            <a:endParaRPr lang="en-US" sz="1300" dirty="0"/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176</a:t>
            </a:r>
            <a:endParaRPr lang="en-US" sz="750"/>
          </a:p>
        </p:txBody>
      </p:sp>
      <p:sp>
        <p:nvSpPr>
          <p:cNvPr id="6" name="Text 4"/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10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502920"/>
            <a:ext cx="110642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Rutas de </a:t>
            </a:r>
            <a:r>
              <a:rPr lang="en-US" sz="2800" b="1" dirty="0" err="1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ampliación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77240" y="1325880"/>
            <a:ext cx="10515600" cy="4800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Automatización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archivos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reportes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tareas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repetitivas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Datos: pandas,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numpy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gráficos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y notebooks.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Web: Django.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APIs: FastAPI.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Bases de datos: SQL y MongoDB.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Inteligencia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artificial: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ruta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posterior.</a:t>
            </a:r>
            <a:endParaRPr lang="en-US" sz="2000" dirty="0"/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177</a:t>
            </a:r>
            <a:endParaRPr lang="en-US" sz="750"/>
          </a:p>
        </p:txBody>
      </p:sp>
      <p:sp>
        <p:nvSpPr>
          <p:cNvPr id="6" name="Text 4"/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Proyecto final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502920"/>
            <a:ext cx="110642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Proyecto final: </a:t>
            </a:r>
            <a:r>
              <a:rPr lang="en-US" sz="2800" b="1" dirty="0" err="1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niveles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77240" y="1325880"/>
            <a:ext cx="10515600" cy="4800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Nivel 1: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consola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+ CSV/JSON.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Nivel 2: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consola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+ SQLite.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Nivel 3: API con FastAPI o web con Django.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Todos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deben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entregar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algo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ejecutable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Lo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importante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es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explicar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la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lógica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usada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178</a:t>
            </a:r>
            <a:endParaRPr lang="en-US" sz="750"/>
          </a:p>
        </p:txBody>
      </p:sp>
      <p:sp>
        <p:nvSpPr>
          <p:cNvPr id="6" name="Text 4"/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Proyecto final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502920"/>
            <a:ext cx="110642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Historias de usuario</a:t>
            </a:r>
            <a:endParaRPr lang="en-US" sz="2800"/>
          </a:p>
        </p:txBody>
      </p:sp>
      <p:sp>
        <p:nvSpPr>
          <p:cNvPr id="8" name="Text 6"/>
          <p:cNvSpPr/>
          <p:nvPr/>
        </p:nvSpPr>
        <p:spPr>
          <a:xfrm>
            <a:off x="777240" y="1325880"/>
            <a:ext cx="10515600" cy="4800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Como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docente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quiero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registrar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estudiantes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Como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docente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quiero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calcular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promedios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Como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coordinador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quiero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estudiantes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riesgo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Como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investigador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quiero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resumir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datos.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Como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usuario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quiero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exportar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un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reporte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179</a:t>
            </a:r>
            <a:endParaRPr lang="en-US" sz="750"/>
          </a:p>
        </p:txBody>
      </p:sp>
      <p:sp>
        <p:nvSpPr>
          <p:cNvPr id="6" name="Text 4"/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Proyecto final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502920"/>
            <a:ext cx="110642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Estructura</a:t>
            </a:r>
            <a:r>
              <a:rPr lang="en-US" sz="2800" b="1" dirty="0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800" b="1" dirty="0" err="1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mínima</a:t>
            </a:r>
            <a:r>
              <a:rPr lang="en-US" sz="2800" b="1" dirty="0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del proyecto final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77240" y="1325880"/>
            <a:ext cx="10515600" cy="4800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README.md.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main.py.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datos.py o database.py.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validaciones.py.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reportes.py.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data/.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reportes</a:t>
            </a:r>
            <a:r>
              <a:rPr lang="en-US" sz="17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api.py </a:t>
            </a:r>
            <a:r>
              <a:rPr lang="en-US" sz="17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</a:t>
            </a:r>
            <a:r>
              <a:rPr lang="en-US" sz="17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se </a:t>
            </a:r>
            <a:r>
              <a:rPr lang="en-US" sz="17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usa</a:t>
            </a:r>
            <a:r>
              <a:rPr lang="en-US" sz="17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FastAPI.</a:t>
            </a:r>
            <a:endParaRPr lang="en-US" sz="1700" dirty="0"/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180</a:t>
            </a:r>
            <a:endParaRPr lang="en-US" sz="750"/>
          </a:p>
        </p:txBody>
      </p:sp>
      <p:sp>
        <p:nvSpPr>
          <p:cNvPr id="6" name="Text 4"/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Proyecto final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502920"/>
            <a:ext cx="110642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Rúbrica</a:t>
            </a:r>
            <a:r>
              <a:rPr lang="en-US" sz="2800" b="1" dirty="0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del proyecto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77240" y="1325880"/>
            <a:ext cx="10515600" cy="4800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Funcionalidad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Calidad del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código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Validación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de datos.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Persistencia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Reporte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generado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Claridad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de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presentación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Capacidad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de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explicar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errores y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decisiones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181</a:t>
            </a:r>
            <a:endParaRPr lang="en-US" sz="750"/>
          </a:p>
        </p:txBody>
      </p:sp>
      <p:sp>
        <p:nvSpPr>
          <p:cNvPr id="6" name="Text 4"/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Proyecto final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502920"/>
            <a:ext cx="110642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Guion de presentación de 5 minutos</a:t>
            </a:r>
            <a:endParaRPr lang="en-US" sz="2800"/>
          </a:p>
        </p:txBody>
      </p:sp>
      <p:sp>
        <p:nvSpPr>
          <p:cNvPr id="8" name="Text 6"/>
          <p:cNvSpPr/>
          <p:nvPr/>
        </p:nvSpPr>
        <p:spPr>
          <a:xfrm>
            <a:off x="777240" y="1325880"/>
            <a:ext cx="10515600" cy="4800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Problema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resuelve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Estructura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del proyecto.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Demostración de una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operación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Dato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guardado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o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reporte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generado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Error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encontrado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y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solución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Mejora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futura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182</a:t>
            </a:r>
            <a:endParaRPr lang="en-US" sz="750"/>
          </a:p>
        </p:txBody>
      </p:sp>
      <p:sp>
        <p:nvSpPr>
          <p:cNvPr id="6" name="Text 4"/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10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502920"/>
            <a:ext cx="110642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Cierre de la sesión 10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77240" y="1325880"/>
            <a:ext cx="10515600" cy="4800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conectó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Python con web y APIs.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El proyecto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presentado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Cada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participante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identifica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una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ruta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futura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El curso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cierra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con evidencia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práctica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y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reflexión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5166360"/>
            <a:ext cx="12191695" cy="169164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94360" y="64008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>
                <a:solidFill>
                  <a:srgbClr val="FFD4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</a:t>
            </a:r>
            <a:endParaRPr lang="en-US" sz="580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1078992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Banco de </a:t>
            </a:r>
            <a:r>
              <a:rPr lang="en-US" sz="4000" b="1" dirty="0" err="1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ejercicios</a:t>
            </a: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y </a:t>
            </a:r>
            <a:r>
              <a:rPr lang="en-US" sz="4000" b="1" dirty="0" err="1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prácticas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3063240"/>
            <a:ext cx="987552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200" dirty="0" err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Actividades</a:t>
            </a:r>
            <a:r>
              <a:rPr lang="en-US" sz="2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simples para </a:t>
            </a:r>
            <a:r>
              <a:rPr lang="en-US" sz="2200" dirty="0" err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reforzar</a:t>
            </a:r>
            <a:r>
              <a:rPr lang="en-US" sz="2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cada tema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5715000"/>
            <a:ext cx="7772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4E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Curso de Programación con Python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1201400" y="62910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1C4E80"/>
                </a:solidFill>
              </a:rPr>
              <a:t>183</a:t>
            </a:r>
            <a:endParaRPr lang="en-US" sz="800"/>
          </a:p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184</a:t>
            </a:r>
            <a:endParaRPr lang="en-US" sz="750"/>
          </a:p>
        </p:txBody>
      </p:sp>
      <p:sp>
        <p:nvSpPr>
          <p:cNvPr id="6" name="Text 4"/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Ejercicios</a:t>
            </a:r>
            <a:endParaRPr lang="en-US" sz="750"/>
          </a:p>
        </p:txBody>
      </p:sp>
      <p:sp>
        <p:nvSpPr>
          <p:cNvPr id="7" name="Text 5"/>
          <p:cNvSpPr/>
          <p:nvPr/>
        </p:nvSpPr>
        <p:spPr>
          <a:xfrm>
            <a:off x="502920" y="502920"/>
            <a:ext cx="110642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Ejercicio 1: saludo académico</a:t>
            </a:r>
            <a:endParaRPr lang="en-US" sz="2800"/>
          </a:p>
        </p:txBody>
      </p:sp>
      <p:sp>
        <p:nvSpPr>
          <p:cNvPr id="8" name="Text 6"/>
          <p:cNvSpPr/>
          <p:nvPr/>
        </p:nvSpPr>
        <p:spPr>
          <a:xfrm>
            <a:off x="777240" y="1325880"/>
            <a:ext cx="10515600" cy="4800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Pedir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nombre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del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docente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Pedir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asignatura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Mostrar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mensaje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de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bienvenida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Aplicar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f-string.</a:t>
            </a:r>
            <a:endParaRPr lang="en-US" sz="2000" dirty="0"/>
          </a:p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185</a:t>
            </a:r>
            <a:endParaRPr lang="en-US" sz="750"/>
          </a:p>
        </p:txBody>
      </p:sp>
      <p:sp>
        <p:nvSpPr>
          <p:cNvPr id="6" name="Text 4"/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Ejercicios</a:t>
            </a:r>
            <a:endParaRPr lang="en-US" sz="750"/>
          </a:p>
        </p:txBody>
      </p:sp>
      <p:sp>
        <p:nvSpPr>
          <p:cNvPr id="7" name="Text 5"/>
          <p:cNvSpPr/>
          <p:nvPr/>
        </p:nvSpPr>
        <p:spPr>
          <a:xfrm>
            <a:off x="502920" y="502920"/>
            <a:ext cx="110642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Ejercicio 2: conversión de unidades</a:t>
            </a:r>
            <a:endParaRPr lang="en-US" sz="2800"/>
          </a:p>
        </p:txBody>
      </p:sp>
      <p:sp>
        <p:nvSpPr>
          <p:cNvPr id="8" name="Text 6"/>
          <p:cNvSpPr/>
          <p:nvPr/>
        </p:nvSpPr>
        <p:spPr>
          <a:xfrm>
            <a:off x="777240" y="1325880"/>
            <a:ext cx="10515600" cy="4800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Leer peso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libras.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Convertir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a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kilogramos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Mostrar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con dos decimales.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Validar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número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positivo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186</a:t>
            </a:r>
            <a:endParaRPr lang="en-US" sz="750"/>
          </a:p>
        </p:txBody>
      </p:sp>
      <p:sp>
        <p:nvSpPr>
          <p:cNvPr id="6" name="Text 4"/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Ejercicios</a:t>
            </a:r>
            <a:endParaRPr lang="en-US" sz="750"/>
          </a:p>
        </p:txBody>
      </p:sp>
      <p:sp>
        <p:nvSpPr>
          <p:cNvPr id="7" name="Text 5"/>
          <p:cNvSpPr/>
          <p:nvPr/>
        </p:nvSpPr>
        <p:spPr>
          <a:xfrm>
            <a:off x="502920" y="502920"/>
            <a:ext cx="110642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Ejercicio</a:t>
            </a:r>
            <a:r>
              <a:rPr lang="en-US" sz="2800" b="1" dirty="0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3: </a:t>
            </a:r>
            <a:r>
              <a:rPr lang="en-US" sz="2800" b="1" dirty="0" err="1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normalizar</a:t>
            </a:r>
            <a:r>
              <a:rPr lang="en-US" sz="2800" b="1" dirty="0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nombres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77240" y="1325880"/>
            <a:ext cx="10515600" cy="4800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200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Leer nombre con espacios.</a:t>
            </a:r>
            <a:endParaRPr lang="en-US" sz="2000"/>
          </a:p>
          <a:p>
            <a:pPr marL="0" indent="0">
              <a:buNone/>
            </a:pPr>
            <a:r>
              <a:rPr lang="en-US" sz="200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Aplicar strip.</a:t>
            </a:r>
            <a:endParaRPr lang="en-US" sz="2000"/>
          </a:p>
          <a:p>
            <a:pPr marL="0" indent="0">
              <a:buNone/>
            </a:pPr>
            <a:r>
              <a:rPr lang="en-US" sz="200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Convertir a título.</a:t>
            </a:r>
            <a:endParaRPr lang="en-US" sz="2000"/>
          </a:p>
          <a:p>
            <a:pPr marL="0" indent="0">
              <a:buNone/>
            </a:pPr>
            <a:r>
              <a:rPr lang="en-US" sz="200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Mostrar nombre normalizado.</a:t>
            </a:r>
            <a:endParaRPr lang="en-US" sz="2000"/>
          </a:p>
        </p:txBody>
      </p:sp>
    </p:spTree>
  </p:cSld>
  <p:clrMapOvr>
    <a:masterClrMapping/>
  </p:clrMapOvr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187</a:t>
            </a:r>
            <a:endParaRPr lang="en-US" sz="750"/>
          </a:p>
        </p:txBody>
      </p:sp>
      <p:sp>
        <p:nvSpPr>
          <p:cNvPr id="6" name="Text 4"/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Ejercicios</a:t>
            </a:r>
            <a:endParaRPr lang="en-US" sz="750"/>
          </a:p>
        </p:txBody>
      </p:sp>
      <p:sp>
        <p:nvSpPr>
          <p:cNvPr id="7" name="Text 5"/>
          <p:cNvSpPr/>
          <p:nvPr/>
        </p:nvSpPr>
        <p:spPr>
          <a:xfrm>
            <a:off x="502920" y="502920"/>
            <a:ext cx="110642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Ejercicio 4: promedio de notas</a:t>
            </a:r>
            <a:endParaRPr lang="en-US" sz="2800"/>
          </a:p>
        </p:txBody>
      </p:sp>
      <p:sp>
        <p:nvSpPr>
          <p:cNvPr id="8" name="Text 6"/>
          <p:cNvSpPr/>
          <p:nvPr/>
        </p:nvSpPr>
        <p:spPr>
          <a:xfrm>
            <a:off x="777240" y="1325880"/>
            <a:ext cx="10515600" cy="4800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Leer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notas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Calcular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promedio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Mostrar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con dos decimales.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Clasificar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resultado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</p:txBody>
      </p:sp>
    </p:spTree>
  </p:cSld>
  <p:clrMapOvr>
    <a:masterClrMapping/>
  </p:clrMapOvr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188</a:t>
            </a:r>
            <a:endParaRPr lang="en-US" sz="750"/>
          </a:p>
        </p:txBody>
      </p:sp>
      <p:sp>
        <p:nvSpPr>
          <p:cNvPr id="6" name="Text 4"/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Ejercicios</a:t>
            </a:r>
            <a:endParaRPr lang="en-US" sz="750"/>
          </a:p>
        </p:txBody>
      </p:sp>
      <p:sp>
        <p:nvSpPr>
          <p:cNvPr id="7" name="Text 5"/>
          <p:cNvSpPr/>
          <p:nvPr/>
        </p:nvSpPr>
        <p:spPr>
          <a:xfrm>
            <a:off x="502920" y="502920"/>
            <a:ext cx="110642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Ejercicio 5: ficha de estudiante</a:t>
            </a:r>
            <a:endParaRPr lang="en-US" sz="2800"/>
          </a:p>
        </p:txBody>
      </p:sp>
      <p:sp>
        <p:nvSpPr>
          <p:cNvPr id="8" name="Text 6"/>
          <p:cNvSpPr/>
          <p:nvPr/>
        </p:nvSpPr>
        <p:spPr>
          <a:xfrm>
            <a:off x="777240" y="1325880"/>
            <a:ext cx="10515600" cy="4800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Pedir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cédula,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nombre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carrera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y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correo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Mostrar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ficha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ordenada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Usar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separadores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visuales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Guardar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como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práctica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del proyecto.</a:t>
            </a:r>
            <a:endParaRPr lang="en-US" sz="2000" dirty="0"/>
          </a:p>
        </p:txBody>
      </p:sp>
    </p:spTree>
  </p:cSld>
  <p:clrMapOvr>
    <a:masterClrMapping/>
  </p:clrMapOvr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189</a:t>
            </a:r>
            <a:endParaRPr lang="en-US" sz="750"/>
          </a:p>
        </p:txBody>
      </p:sp>
      <p:sp>
        <p:nvSpPr>
          <p:cNvPr id="6" name="Text 4"/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Ejercicios</a:t>
            </a:r>
            <a:endParaRPr lang="en-US" sz="750"/>
          </a:p>
        </p:txBody>
      </p:sp>
      <p:sp>
        <p:nvSpPr>
          <p:cNvPr id="7" name="Text 5"/>
          <p:cNvSpPr/>
          <p:nvPr/>
        </p:nvSpPr>
        <p:spPr>
          <a:xfrm>
            <a:off x="502920" y="502920"/>
            <a:ext cx="110642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Ejercicio 6: clasificador de rendimiento</a:t>
            </a:r>
            <a:endParaRPr lang="en-US" sz="2800"/>
          </a:p>
        </p:txBody>
      </p:sp>
      <p:sp>
        <p:nvSpPr>
          <p:cNvPr id="8" name="Text 6"/>
          <p:cNvSpPr/>
          <p:nvPr/>
        </p:nvSpPr>
        <p:spPr>
          <a:xfrm>
            <a:off x="777240" y="1325880"/>
            <a:ext cx="10515600" cy="4800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200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Excelente desde 9.</a:t>
            </a:r>
            <a:endParaRPr lang="en-US" sz="2000"/>
          </a:p>
          <a:p>
            <a:pPr marL="0" indent="0">
              <a:buNone/>
            </a:pPr>
            <a:r>
              <a:rPr lang="en-US" sz="200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Aprobado desde 7.</a:t>
            </a:r>
            <a:endParaRPr lang="en-US" sz="2000"/>
          </a:p>
          <a:p>
            <a:pPr marL="0" indent="0">
              <a:buNone/>
            </a:pPr>
            <a:r>
              <a:rPr lang="en-US" sz="200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Recuperación desde 5.</a:t>
            </a:r>
            <a:endParaRPr lang="en-US" sz="2000"/>
          </a:p>
          <a:p>
            <a:pPr marL="0" indent="0">
              <a:buNone/>
            </a:pPr>
            <a:r>
              <a:rPr lang="en-US" sz="200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Reprobado menor a 5.</a:t>
            </a:r>
            <a:endParaRPr lang="en-US" sz="2000"/>
          </a:p>
        </p:txBody>
      </p:sp>
    </p:spTree>
  </p:cSld>
  <p:clrMapOvr>
    <a:masterClrMapping/>
  </p:clrMapOvr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190</a:t>
            </a:r>
            <a:endParaRPr lang="en-US" sz="750"/>
          </a:p>
        </p:txBody>
      </p:sp>
      <p:sp>
        <p:nvSpPr>
          <p:cNvPr id="6" name="Text 4"/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Ejercicios</a:t>
            </a:r>
            <a:endParaRPr lang="en-US" sz="750"/>
          </a:p>
        </p:txBody>
      </p:sp>
      <p:sp>
        <p:nvSpPr>
          <p:cNvPr id="7" name="Text 5"/>
          <p:cNvSpPr/>
          <p:nvPr/>
        </p:nvSpPr>
        <p:spPr>
          <a:xfrm>
            <a:off x="502920" y="502920"/>
            <a:ext cx="110642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Ejercicio 7: menú simple</a:t>
            </a:r>
            <a:endParaRPr lang="en-US" sz="2800"/>
          </a:p>
        </p:txBody>
      </p:sp>
      <p:sp>
        <p:nvSpPr>
          <p:cNvPr id="8" name="Text 6"/>
          <p:cNvSpPr/>
          <p:nvPr/>
        </p:nvSpPr>
        <p:spPr>
          <a:xfrm>
            <a:off x="777240" y="1325880"/>
            <a:ext cx="10515600" cy="4800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200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Mostrar cuatro opciones.</a:t>
            </a:r>
            <a:endParaRPr lang="en-US" sz="2000"/>
          </a:p>
          <a:p>
            <a:pPr marL="0" indent="0">
              <a:buNone/>
            </a:pPr>
            <a:r>
              <a:rPr lang="en-US" sz="200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Leer opción.</a:t>
            </a:r>
            <a:endParaRPr lang="en-US" sz="2000"/>
          </a:p>
          <a:p>
            <a:pPr marL="0" indent="0">
              <a:buNone/>
            </a:pPr>
            <a:r>
              <a:rPr lang="en-US" sz="200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Responder según opción.</a:t>
            </a:r>
            <a:endParaRPr lang="en-US" sz="2000"/>
          </a:p>
          <a:p>
            <a:pPr marL="0" indent="0">
              <a:buNone/>
            </a:pPr>
            <a:r>
              <a:rPr lang="en-US" sz="200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Salir con opción final.</a:t>
            </a:r>
            <a:endParaRPr lang="en-US" sz="2000"/>
          </a:p>
        </p:txBody>
      </p:sp>
    </p:spTree>
  </p:cSld>
  <p:clrMapOvr>
    <a:masterClrMapping/>
  </p:clrMapOvr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191</a:t>
            </a:r>
            <a:endParaRPr lang="en-US" sz="750"/>
          </a:p>
        </p:txBody>
      </p:sp>
      <p:sp>
        <p:nvSpPr>
          <p:cNvPr id="6" name="Text 4"/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Ejercicios</a:t>
            </a:r>
            <a:endParaRPr lang="en-US" sz="750"/>
          </a:p>
        </p:txBody>
      </p:sp>
      <p:sp>
        <p:nvSpPr>
          <p:cNvPr id="7" name="Text 5"/>
          <p:cNvSpPr/>
          <p:nvPr/>
        </p:nvSpPr>
        <p:spPr>
          <a:xfrm>
            <a:off x="502920" y="502920"/>
            <a:ext cx="110642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Ejercicio 8: validar nota</a:t>
            </a:r>
            <a:endParaRPr lang="en-US" sz="2800"/>
          </a:p>
        </p:txBody>
      </p:sp>
      <p:sp>
        <p:nvSpPr>
          <p:cNvPr id="8" name="Text 6"/>
          <p:cNvSpPr/>
          <p:nvPr/>
        </p:nvSpPr>
        <p:spPr>
          <a:xfrm>
            <a:off x="777240" y="1325880"/>
            <a:ext cx="10515600" cy="4800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200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No aceptar notas menores a 0.</a:t>
            </a:r>
            <a:endParaRPr lang="en-US" sz="2000"/>
          </a:p>
          <a:p>
            <a:pPr marL="0" indent="0">
              <a:buNone/>
            </a:pPr>
            <a:r>
              <a:rPr lang="en-US" sz="200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No aceptar notas mayores a 10.</a:t>
            </a:r>
            <a:endParaRPr lang="en-US" sz="2000"/>
          </a:p>
          <a:p>
            <a:pPr marL="0" indent="0">
              <a:buNone/>
            </a:pPr>
            <a:r>
              <a:rPr lang="en-US" sz="200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Repetir hasta recibir dato válido.</a:t>
            </a:r>
            <a:endParaRPr lang="en-US" sz="2000"/>
          </a:p>
          <a:p>
            <a:pPr marL="0" indent="0">
              <a:buNone/>
            </a:pPr>
            <a:r>
              <a:rPr lang="en-US" sz="200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Usar while.</a:t>
            </a:r>
            <a:endParaRPr lang="en-US" sz="2000"/>
          </a:p>
        </p:txBody>
      </p:sp>
    </p:spTree>
  </p:cSld>
  <p:clrMapOvr>
    <a:masterClrMapping/>
  </p:clrMapOvr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192</a:t>
            </a:r>
            <a:endParaRPr lang="en-US" sz="750"/>
          </a:p>
        </p:txBody>
      </p:sp>
      <p:sp>
        <p:nvSpPr>
          <p:cNvPr id="6" name="Text 4"/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Ejercicios</a:t>
            </a:r>
            <a:endParaRPr lang="en-US" sz="750"/>
          </a:p>
        </p:txBody>
      </p:sp>
      <p:sp>
        <p:nvSpPr>
          <p:cNvPr id="7" name="Text 5"/>
          <p:cNvSpPr/>
          <p:nvPr/>
        </p:nvSpPr>
        <p:spPr>
          <a:xfrm>
            <a:off x="502920" y="502920"/>
            <a:ext cx="110642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Ejercicio 9: promedio robusto</a:t>
            </a:r>
            <a:endParaRPr lang="en-US" sz="2800"/>
          </a:p>
        </p:txBody>
      </p:sp>
      <p:sp>
        <p:nvSpPr>
          <p:cNvPr id="8" name="Text 6"/>
          <p:cNvSpPr/>
          <p:nvPr/>
        </p:nvSpPr>
        <p:spPr>
          <a:xfrm>
            <a:off x="777240" y="1325880"/>
            <a:ext cx="10515600" cy="4800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200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Recibir lista de notas.</a:t>
            </a:r>
            <a:endParaRPr lang="en-US" sz="2000"/>
          </a:p>
          <a:p>
            <a:pPr marL="0" indent="0">
              <a:buNone/>
            </a:pPr>
            <a:r>
              <a:rPr lang="en-US" sz="200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Retornar 0 si lista está vacía.</a:t>
            </a:r>
            <a:endParaRPr lang="en-US" sz="2000"/>
          </a:p>
          <a:p>
            <a:pPr marL="0" indent="0">
              <a:buNone/>
            </a:pPr>
            <a:r>
              <a:rPr lang="en-US" sz="200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Usar función.</a:t>
            </a:r>
            <a:endParaRPr lang="en-US" sz="2000"/>
          </a:p>
          <a:p>
            <a:pPr marL="0" indent="0">
              <a:buNone/>
            </a:pPr>
            <a:r>
              <a:rPr lang="en-US" sz="200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Probar con varios casos.</a:t>
            </a:r>
            <a:endParaRPr lang="en-US" sz="2000"/>
          </a:p>
        </p:txBody>
      </p:sp>
    </p:spTree>
  </p:cSld>
  <p:clrMapOvr>
    <a:masterClrMapping/>
  </p:clrMapOvr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193</a:t>
            </a:r>
            <a:endParaRPr lang="en-US" sz="750"/>
          </a:p>
        </p:txBody>
      </p:sp>
      <p:sp>
        <p:nvSpPr>
          <p:cNvPr id="6" name="Text 4"/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Ejercicios</a:t>
            </a:r>
            <a:endParaRPr lang="en-US" sz="750"/>
          </a:p>
        </p:txBody>
      </p:sp>
      <p:sp>
        <p:nvSpPr>
          <p:cNvPr id="7" name="Text 5"/>
          <p:cNvSpPr/>
          <p:nvPr/>
        </p:nvSpPr>
        <p:spPr>
          <a:xfrm>
            <a:off x="502920" y="502920"/>
            <a:ext cx="110642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Ejercicio 10: lectura segura</a:t>
            </a:r>
            <a:endParaRPr lang="en-US" sz="2800"/>
          </a:p>
        </p:txBody>
      </p:sp>
      <p:sp>
        <p:nvSpPr>
          <p:cNvPr id="8" name="Text 6"/>
          <p:cNvSpPr/>
          <p:nvPr/>
        </p:nvSpPr>
        <p:spPr>
          <a:xfrm>
            <a:off x="777240" y="1325880"/>
            <a:ext cx="10515600" cy="4800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Crear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función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leer_float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Usar try/except.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Mostrar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mensaje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de error.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Retornar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número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válido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</p:txBody>
      </p:sp>
    </p:spTree>
  </p:cSld>
  <p:clrMapOvr>
    <a:masterClrMapping/>
  </p:clrMapOvr>
</p:sld>
</file>

<file path=ppt/slides/slide2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194</a:t>
            </a:r>
            <a:endParaRPr lang="en-US" sz="750"/>
          </a:p>
        </p:txBody>
      </p:sp>
      <p:sp>
        <p:nvSpPr>
          <p:cNvPr id="6" name="Text 4"/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Ejercicios</a:t>
            </a:r>
            <a:endParaRPr lang="en-US" sz="750"/>
          </a:p>
        </p:txBody>
      </p:sp>
      <p:sp>
        <p:nvSpPr>
          <p:cNvPr id="7" name="Text 5"/>
          <p:cNvSpPr/>
          <p:nvPr/>
        </p:nvSpPr>
        <p:spPr>
          <a:xfrm>
            <a:off x="502920" y="502920"/>
            <a:ext cx="110642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Ejercicio 11: clase Curso</a:t>
            </a:r>
            <a:endParaRPr lang="en-US" sz="2800"/>
          </a:p>
        </p:txBody>
      </p:sp>
      <p:sp>
        <p:nvSpPr>
          <p:cNvPr id="8" name="Text 6"/>
          <p:cNvSpPr/>
          <p:nvPr/>
        </p:nvSpPr>
        <p:spPr>
          <a:xfrm>
            <a:off x="777240" y="1325880"/>
            <a:ext cx="10515600" cy="4800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Atributos: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nombre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y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docente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Lista de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estudiantes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Método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agregar_estudiante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Método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cantidad_estudiantes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</p:txBody>
      </p:sp>
    </p:spTree>
  </p:cSld>
  <p:clrMapOvr>
    <a:masterClrMapping/>
  </p:clrMapOvr>
</p:sld>
</file>

<file path=ppt/slides/slide2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195</a:t>
            </a:r>
            <a:endParaRPr lang="en-US" sz="750"/>
          </a:p>
        </p:txBody>
      </p:sp>
      <p:sp>
        <p:nvSpPr>
          <p:cNvPr id="6" name="Text 4"/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Ejercicios</a:t>
            </a:r>
            <a:endParaRPr lang="en-US" sz="750"/>
          </a:p>
        </p:txBody>
      </p:sp>
      <p:sp>
        <p:nvSpPr>
          <p:cNvPr id="7" name="Text 5"/>
          <p:cNvSpPr/>
          <p:nvPr/>
        </p:nvSpPr>
        <p:spPr>
          <a:xfrm>
            <a:off x="502920" y="502920"/>
            <a:ext cx="110642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Ejercicio 12: guardar JSON</a:t>
            </a:r>
            <a:endParaRPr lang="en-US" sz="2800"/>
          </a:p>
        </p:txBody>
      </p:sp>
      <p:sp>
        <p:nvSpPr>
          <p:cNvPr id="8" name="Text 6"/>
          <p:cNvSpPr/>
          <p:nvPr/>
        </p:nvSpPr>
        <p:spPr>
          <a:xfrm>
            <a:off x="777240" y="1325880"/>
            <a:ext cx="10515600" cy="4800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Crear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diccionario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de curso.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Guardar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archivo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JSON.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Leer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archivo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JSON.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Mostrar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nombre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del curso.</a:t>
            </a:r>
            <a:endParaRPr lang="en-US" sz="2000" dirty="0"/>
          </a:p>
        </p:txBody>
      </p:sp>
    </p:spTree>
  </p:cSld>
  <p:clrMapOvr>
    <a:masterClrMapping/>
  </p:clrMapOvr>
</p:sld>
</file>

<file path=ppt/slides/slide2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196</a:t>
            </a:r>
            <a:endParaRPr lang="en-US" sz="750"/>
          </a:p>
        </p:txBody>
      </p:sp>
      <p:sp>
        <p:nvSpPr>
          <p:cNvPr id="6" name="Text 4"/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Ejercicios</a:t>
            </a:r>
            <a:endParaRPr lang="en-US" sz="750"/>
          </a:p>
        </p:txBody>
      </p:sp>
      <p:sp>
        <p:nvSpPr>
          <p:cNvPr id="7" name="Text 5"/>
          <p:cNvSpPr/>
          <p:nvPr/>
        </p:nvSpPr>
        <p:spPr>
          <a:xfrm>
            <a:off x="502920" y="502920"/>
            <a:ext cx="110642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Ejercicio</a:t>
            </a:r>
            <a:r>
              <a:rPr lang="en-US" sz="2800" b="1" dirty="0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13: crear </a:t>
            </a:r>
            <a:r>
              <a:rPr lang="en-US" sz="2800" b="1" dirty="0" err="1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tabla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77240" y="1325880"/>
            <a:ext cx="10515600" cy="4800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Crear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tabla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estudiantes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Campos: id,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nombre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promedio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Usar SQLite.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Verificar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exista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</p:txBody>
      </p:sp>
    </p:spTree>
  </p:cSld>
  <p:clrMapOvr>
    <a:masterClrMapping/>
  </p:clrMapOvr>
</p:sld>
</file>

<file path=ppt/slides/slide2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197</a:t>
            </a:r>
            <a:endParaRPr lang="en-US" sz="750"/>
          </a:p>
        </p:txBody>
      </p:sp>
      <p:sp>
        <p:nvSpPr>
          <p:cNvPr id="6" name="Text 4"/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Ejercicios</a:t>
            </a:r>
            <a:endParaRPr lang="en-US" sz="750"/>
          </a:p>
        </p:txBody>
      </p:sp>
      <p:sp>
        <p:nvSpPr>
          <p:cNvPr id="7" name="Text 5"/>
          <p:cNvSpPr/>
          <p:nvPr/>
        </p:nvSpPr>
        <p:spPr>
          <a:xfrm>
            <a:off x="502920" y="502920"/>
            <a:ext cx="110642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Ejercicio 14: consulta con filtro</a:t>
            </a:r>
            <a:endParaRPr lang="en-US" sz="2800"/>
          </a:p>
        </p:txBody>
      </p:sp>
      <p:sp>
        <p:nvSpPr>
          <p:cNvPr id="8" name="Text 6"/>
          <p:cNvSpPr/>
          <p:nvPr/>
        </p:nvSpPr>
        <p:spPr>
          <a:xfrm>
            <a:off x="777240" y="1325880"/>
            <a:ext cx="10515600" cy="4800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Consultar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estudiantes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aprobados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Ordenar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por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promedio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Mostrar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nombre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y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promedio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Probar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con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varios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registros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</p:txBody>
      </p:sp>
    </p:spTree>
  </p:cSld>
  <p:clrMapOvr>
    <a:masterClrMapping/>
  </p:clrMapOvr>
</p:sld>
</file>

<file path=ppt/slides/slide2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198</a:t>
            </a:r>
            <a:endParaRPr lang="en-US" sz="750"/>
          </a:p>
        </p:txBody>
      </p:sp>
      <p:sp>
        <p:nvSpPr>
          <p:cNvPr id="6" name="Text 4"/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Ejercicios</a:t>
            </a:r>
            <a:endParaRPr lang="en-US" sz="750"/>
          </a:p>
        </p:txBody>
      </p:sp>
      <p:sp>
        <p:nvSpPr>
          <p:cNvPr id="7" name="Text 5"/>
          <p:cNvSpPr/>
          <p:nvPr/>
        </p:nvSpPr>
        <p:spPr>
          <a:xfrm>
            <a:off x="502920" y="502920"/>
            <a:ext cx="110642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Ejercicio 15: insertar desde Python</a:t>
            </a:r>
            <a:endParaRPr lang="en-US" sz="2800"/>
          </a:p>
        </p:txBody>
      </p:sp>
      <p:sp>
        <p:nvSpPr>
          <p:cNvPr id="8" name="Text 6"/>
          <p:cNvSpPr/>
          <p:nvPr/>
        </p:nvSpPr>
        <p:spPr>
          <a:xfrm>
            <a:off x="777240" y="1325880"/>
            <a:ext cx="10515600" cy="4800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Crear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función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crear_estudiante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Usar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parámetros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Insertar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datos.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Listar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resultado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</p:txBody>
      </p:sp>
    </p:spTree>
  </p:cSld>
  <p:clrMapOvr>
    <a:masterClrMapping/>
  </p:clrMapOvr>
</p:sld>
</file>

<file path=ppt/slides/slide2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199</a:t>
            </a:r>
            <a:endParaRPr lang="en-US" sz="750"/>
          </a:p>
        </p:txBody>
      </p:sp>
      <p:sp>
        <p:nvSpPr>
          <p:cNvPr id="6" name="Text 4"/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Ejercicios</a:t>
            </a:r>
            <a:endParaRPr lang="en-US" sz="750"/>
          </a:p>
        </p:txBody>
      </p:sp>
      <p:sp>
        <p:nvSpPr>
          <p:cNvPr id="7" name="Text 5"/>
          <p:cNvSpPr/>
          <p:nvPr/>
        </p:nvSpPr>
        <p:spPr>
          <a:xfrm>
            <a:off x="502920" y="502920"/>
            <a:ext cx="110642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Ejercicio 16: documento MongoDB</a:t>
            </a:r>
            <a:endParaRPr lang="en-US" sz="2800"/>
          </a:p>
        </p:txBody>
      </p:sp>
      <p:sp>
        <p:nvSpPr>
          <p:cNvPr id="8" name="Text 6"/>
          <p:cNvSpPr/>
          <p:nvPr/>
        </p:nvSpPr>
        <p:spPr>
          <a:xfrm>
            <a:off x="777240" y="1325880"/>
            <a:ext cx="10515600" cy="4800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Crear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documento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de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Agregar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asignatura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Agregar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dificultad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Insertar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colección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</p:txBody>
      </p:sp>
    </p:spTree>
  </p:cSld>
  <p:clrMapOvr>
    <a:masterClrMapping/>
  </p:clrMapOvr>
</p:sld>
</file>

<file path=ppt/slides/slide2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200</a:t>
            </a:r>
            <a:endParaRPr lang="en-US" sz="750"/>
          </a:p>
        </p:txBody>
      </p:sp>
      <p:sp>
        <p:nvSpPr>
          <p:cNvPr id="6" name="Text 4"/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Ejercicios</a:t>
            </a:r>
            <a:endParaRPr lang="en-US" sz="750"/>
          </a:p>
        </p:txBody>
      </p:sp>
      <p:sp>
        <p:nvSpPr>
          <p:cNvPr id="7" name="Text 5"/>
          <p:cNvSpPr/>
          <p:nvPr/>
        </p:nvSpPr>
        <p:spPr>
          <a:xfrm>
            <a:off x="502920" y="502920"/>
            <a:ext cx="110642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Ejercicio 17: agregación MongoDB</a:t>
            </a:r>
            <a:endParaRPr lang="en-US" sz="2800"/>
          </a:p>
        </p:txBody>
      </p:sp>
      <p:sp>
        <p:nvSpPr>
          <p:cNvPr id="8" name="Text 6"/>
          <p:cNvSpPr/>
          <p:nvPr/>
        </p:nvSpPr>
        <p:spPr>
          <a:xfrm>
            <a:off x="777240" y="1325880"/>
            <a:ext cx="10515600" cy="4800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Agrupar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por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dificultad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Contar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Ordenar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por total.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Explicar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resultado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</p:txBody>
      </p:sp>
    </p:spTree>
  </p:cSld>
  <p:clrMapOvr>
    <a:masterClrMapping/>
  </p:clrMapOvr>
</p:sld>
</file>

<file path=ppt/slides/slide2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201</a:t>
            </a:r>
            <a:endParaRPr lang="en-US" sz="750"/>
          </a:p>
        </p:txBody>
      </p:sp>
      <p:sp>
        <p:nvSpPr>
          <p:cNvPr id="6" name="Text 4"/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Ejercicios</a:t>
            </a:r>
            <a:endParaRPr lang="en-US" sz="750"/>
          </a:p>
        </p:txBody>
      </p:sp>
      <p:sp>
        <p:nvSpPr>
          <p:cNvPr id="7" name="Text 5"/>
          <p:cNvSpPr/>
          <p:nvPr/>
        </p:nvSpPr>
        <p:spPr>
          <a:xfrm>
            <a:off x="502920" y="502920"/>
            <a:ext cx="110642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Ejercicio 18: modelo Django</a:t>
            </a:r>
            <a:endParaRPr lang="en-US" sz="2800"/>
          </a:p>
        </p:txBody>
      </p:sp>
      <p:sp>
        <p:nvSpPr>
          <p:cNvPr id="8" name="Text 6"/>
          <p:cNvSpPr/>
          <p:nvPr/>
        </p:nvSpPr>
        <p:spPr>
          <a:xfrm>
            <a:off x="777240" y="1325880"/>
            <a:ext cx="10515600" cy="4800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Crear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modelo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Curso.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Crear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modelo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Estudiante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Registrar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admin.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Aplicar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migraciones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</p:txBody>
      </p:sp>
    </p:spTree>
  </p:cSld>
  <p:clrMapOvr>
    <a:masterClrMapping/>
  </p:clrMapOvr>
</p:sld>
</file>

<file path=ppt/slides/slide2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</a:t>
            </a:r>
            <a:endParaRPr lang="en-US" sz="750"/>
          </a:p>
        </p:txBody>
      </p:sp>
      <p:sp>
        <p:nvSpPr>
          <p:cNvPr id="6" name="Text 4"/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Ejercicios</a:t>
            </a:r>
            <a:endParaRPr lang="en-US" sz="750"/>
          </a:p>
        </p:txBody>
      </p:sp>
      <p:sp>
        <p:nvSpPr>
          <p:cNvPr id="7" name="Text 5"/>
          <p:cNvSpPr/>
          <p:nvPr/>
        </p:nvSpPr>
        <p:spPr>
          <a:xfrm>
            <a:off x="502920" y="502920"/>
            <a:ext cx="110642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Ejercicio 19: endpoint GET</a:t>
            </a:r>
            <a:endParaRPr lang="en-US" sz="2800"/>
          </a:p>
        </p:txBody>
      </p:sp>
      <p:sp>
        <p:nvSpPr>
          <p:cNvPr id="8" name="Text 6"/>
          <p:cNvSpPr/>
          <p:nvPr/>
        </p:nvSpPr>
        <p:spPr>
          <a:xfrm>
            <a:off x="777240" y="1325880"/>
            <a:ext cx="10515600" cy="4800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Crear /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estudiantes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Devolver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lista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JSON.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Probar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navegador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Probar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/docs.</a:t>
            </a:r>
            <a:endParaRPr lang="en-US" sz="2000" dirty="0"/>
          </a:p>
        </p:txBody>
      </p:sp>
    </p:spTree>
  </p:cSld>
  <p:clrMapOvr>
    <a:masterClrMapping/>
  </p:clrMapOvr>
</p:sld>
</file>

<file path=ppt/slides/slide2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203</a:t>
            </a:r>
            <a:endParaRPr lang="en-US" sz="750"/>
          </a:p>
        </p:txBody>
      </p:sp>
      <p:sp>
        <p:nvSpPr>
          <p:cNvPr id="6" name="Text 4"/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Ejercicios</a:t>
            </a:r>
            <a:endParaRPr lang="en-US" sz="750"/>
          </a:p>
        </p:txBody>
      </p:sp>
      <p:sp>
        <p:nvSpPr>
          <p:cNvPr id="7" name="Text 5"/>
          <p:cNvSpPr/>
          <p:nvPr/>
        </p:nvSpPr>
        <p:spPr>
          <a:xfrm>
            <a:off x="502920" y="502920"/>
            <a:ext cx="110642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Ejercicio 20: modelo POST</a:t>
            </a:r>
            <a:endParaRPr lang="en-US" sz="2800"/>
          </a:p>
        </p:txBody>
      </p:sp>
      <p:sp>
        <p:nvSpPr>
          <p:cNvPr id="8" name="Text 6"/>
          <p:cNvSpPr/>
          <p:nvPr/>
        </p:nvSpPr>
        <p:spPr>
          <a:xfrm>
            <a:off x="777240" y="1325880"/>
            <a:ext cx="10515600" cy="4800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Crear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modelo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de entrada.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Validar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nombre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Validar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promedio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Guardar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lista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</p:txBody>
      </p:sp>
    </p:spTree>
  </p:cSld>
  <p:clrMapOvr>
    <a:masterClrMapping/>
  </p:clrMapOvr>
</p:sld>
</file>

<file path=ppt/slides/slide2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204</a:t>
            </a:r>
            <a:endParaRPr lang="en-US" sz="750"/>
          </a:p>
        </p:txBody>
      </p:sp>
      <p:sp>
        <p:nvSpPr>
          <p:cNvPr id="6" name="Text 4"/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Ejercicios</a:t>
            </a:r>
            <a:endParaRPr lang="en-US" sz="750"/>
          </a:p>
        </p:txBody>
      </p:sp>
      <p:sp>
        <p:nvSpPr>
          <p:cNvPr id="7" name="Text 5"/>
          <p:cNvSpPr/>
          <p:nvPr/>
        </p:nvSpPr>
        <p:spPr>
          <a:xfrm>
            <a:off x="502920" y="502920"/>
            <a:ext cx="110642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Rúbrica rápida para ejercicios</a:t>
            </a:r>
            <a:endParaRPr lang="en-US" sz="2800"/>
          </a:p>
        </p:txBody>
      </p:sp>
      <p:sp>
        <p:nvSpPr>
          <p:cNvPr id="8" name="Text 6"/>
          <p:cNvSpPr/>
          <p:nvPr/>
        </p:nvSpPr>
        <p:spPr>
          <a:xfrm>
            <a:off x="777240" y="1325880"/>
            <a:ext cx="10515600" cy="4800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Ejecuta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sin errores.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Tiene nombres claros.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Resuelve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el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problema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pedido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Incluye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validación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cuando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aplique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Muestra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salida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verificable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El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participante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puede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explicar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solución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</p:txBody>
      </p:sp>
    </p:spTree>
  </p:cSld>
  <p:clrMapOvr>
    <a:masterClrMapping/>
  </p:clrMapOvr>
</p:sld>
</file>

<file path=ppt/slides/slide2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5166360"/>
            <a:ext cx="12191695" cy="169164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94360" y="64008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>
                <a:solidFill>
                  <a:srgbClr val="FFD4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</a:t>
            </a:r>
            <a:endParaRPr lang="en-US" sz="580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1078992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4000" b="1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Apéndices y cierre</a:t>
            </a:r>
            <a:endParaRPr lang="en-US" sz="4000"/>
          </a:p>
        </p:txBody>
      </p:sp>
      <p:sp>
        <p:nvSpPr>
          <p:cNvPr id="6" name="Text 4"/>
          <p:cNvSpPr/>
          <p:nvPr/>
        </p:nvSpPr>
        <p:spPr>
          <a:xfrm>
            <a:off x="685800" y="3063240"/>
            <a:ext cx="987552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Comandos, </a:t>
            </a:r>
            <a:r>
              <a:rPr lang="en-US" sz="2200" dirty="0" err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glosario</a:t>
            </a:r>
            <a:r>
              <a:rPr lang="en-US" sz="2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errores </a:t>
            </a:r>
            <a:r>
              <a:rPr lang="en-US" sz="2200" dirty="0" err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frecuentes</a:t>
            </a:r>
            <a:r>
              <a:rPr lang="en-US" sz="2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y </a:t>
            </a:r>
            <a:r>
              <a:rPr lang="en-US" sz="2200" dirty="0" err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bibliografía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5715000"/>
            <a:ext cx="7772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4E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Curso de Programación con Python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1201400" y="62910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1C4E80"/>
                </a:solidFill>
              </a:rPr>
              <a:t>205</a:t>
            </a:r>
            <a:endParaRPr lang="en-US" sz="800"/>
          </a:p>
        </p:txBody>
      </p:sp>
    </p:spTree>
  </p:cSld>
  <p:clrMapOvr>
    <a:masterClrMapping/>
  </p:clrMapOvr>
</p:sld>
</file>

<file path=ppt/slides/slide2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206</a:t>
            </a:r>
            <a:endParaRPr lang="en-US" sz="750"/>
          </a:p>
        </p:txBody>
      </p:sp>
      <p:sp>
        <p:nvSpPr>
          <p:cNvPr id="6" name="Text 4"/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Apéndices</a:t>
            </a:r>
            <a:endParaRPr lang="en-US" sz="750"/>
          </a:p>
        </p:txBody>
      </p:sp>
      <p:sp>
        <p:nvSpPr>
          <p:cNvPr id="7" name="Text 5"/>
          <p:cNvSpPr/>
          <p:nvPr/>
        </p:nvSpPr>
        <p:spPr>
          <a:xfrm>
            <a:off x="502920" y="502920"/>
            <a:ext cx="110642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Comandos </a:t>
            </a:r>
            <a:r>
              <a:rPr lang="en-US" sz="2800" b="1" dirty="0" err="1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rápidos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77240" y="1325880"/>
            <a:ext cx="10515600" cy="4800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python --version.</a:t>
            </a:r>
            <a:endParaRPr lang="en-US" sz="2000" dirty="0"/>
          </a:p>
          <a:p>
            <a:pPr marL="0" indent="0">
              <a:lnSpc>
                <a:spcPct val="200000"/>
              </a:lnSpc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python archivo.py.</a:t>
            </a:r>
            <a:endParaRPr lang="en-US" sz="2000" dirty="0"/>
          </a:p>
          <a:p>
            <a:pPr marL="0" indent="0">
              <a:lnSpc>
                <a:spcPct val="200000"/>
              </a:lnSpc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python -m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venv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.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venv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  <a:p>
            <a:pPr marL="0" indent="0">
              <a:lnSpc>
                <a:spcPct val="200000"/>
              </a:lnSpc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python -m pip install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paquete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  <a:p>
            <a:pPr marL="0" indent="0">
              <a:lnSpc>
                <a:spcPct val="200000"/>
              </a:lnSpc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pip freeze &gt; requirements.txt.</a:t>
            </a:r>
            <a:endParaRPr lang="en-US" sz="2000" dirty="0"/>
          </a:p>
          <a:p>
            <a:pPr marL="0" indent="0">
              <a:lnSpc>
                <a:spcPct val="200000"/>
              </a:lnSpc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uvicorn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main:app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--reload.</a:t>
            </a:r>
            <a:endParaRPr lang="en-US" sz="2000" dirty="0"/>
          </a:p>
          <a:p>
            <a:pPr marL="0" indent="0">
              <a:lnSpc>
                <a:spcPct val="200000"/>
              </a:lnSpc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python manage.py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runserver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</p:txBody>
      </p:sp>
    </p:spTree>
  </p:cSld>
  <p:clrMapOvr>
    <a:masterClrMapping/>
  </p:clrMapOvr>
</p:sld>
</file>

<file path=ppt/slides/slide2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207</a:t>
            </a:r>
            <a:endParaRPr lang="en-US" sz="750"/>
          </a:p>
        </p:txBody>
      </p:sp>
      <p:sp>
        <p:nvSpPr>
          <p:cNvPr id="6" name="Text 4"/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Apéndices</a:t>
            </a:r>
            <a:endParaRPr lang="en-US" sz="750"/>
          </a:p>
        </p:txBody>
      </p:sp>
      <p:sp>
        <p:nvSpPr>
          <p:cNvPr id="7" name="Text 5"/>
          <p:cNvSpPr/>
          <p:nvPr/>
        </p:nvSpPr>
        <p:spPr>
          <a:xfrm>
            <a:off x="502920" y="502920"/>
            <a:ext cx="110642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Glosario mínimo</a:t>
            </a:r>
            <a:endParaRPr lang="en-US" sz="2800"/>
          </a:p>
        </p:txBody>
      </p:sp>
      <p:sp>
        <p:nvSpPr>
          <p:cNvPr id="8" name="Text 6"/>
          <p:cNvSpPr/>
          <p:nvPr/>
        </p:nvSpPr>
        <p:spPr>
          <a:xfrm>
            <a:off x="777240" y="1325880"/>
            <a:ext cx="10515600" cy="4800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Script: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archivo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ejecutable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de Python.</a:t>
            </a:r>
            <a:endParaRPr lang="en-US" sz="2000" dirty="0"/>
          </a:p>
          <a:p>
            <a:pPr marL="0" indent="0">
              <a:lnSpc>
                <a:spcPct val="200000"/>
              </a:lnSpc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Variable: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nombre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referencia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un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  <a:p>
            <a:pPr marL="0" indent="0">
              <a:lnSpc>
                <a:spcPct val="200000"/>
              </a:lnSpc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Función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reutilizable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  <a:p>
            <a:pPr marL="0" indent="0">
              <a:lnSpc>
                <a:spcPct val="200000"/>
              </a:lnSpc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Clase: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plantilla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de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objetos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  <a:p>
            <a:pPr marL="0" indent="0">
              <a:lnSpc>
                <a:spcPct val="200000"/>
              </a:lnSpc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CRUD: crear, leer,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actualizar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y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eliminar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  <a:p>
            <a:pPr marL="0" indent="0">
              <a:lnSpc>
                <a:spcPct val="200000"/>
              </a:lnSpc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API: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interfaz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para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consultar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o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enviar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datos.</a:t>
            </a:r>
            <a:endParaRPr lang="en-US" sz="2000" dirty="0"/>
          </a:p>
        </p:txBody>
      </p:sp>
    </p:spTree>
  </p:cSld>
  <p:clrMapOvr>
    <a:masterClrMapping/>
  </p:clrMapOvr>
</p:sld>
</file>

<file path=ppt/slides/slide2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208</a:t>
            </a:r>
            <a:endParaRPr lang="en-US" sz="750"/>
          </a:p>
        </p:txBody>
      </p:sp>
      <p:sp>
        <p:nvSpPr>
          <p:cNvPr id="6" name="Text 4"/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Apéndices</a:t>
            </a:r>
            <a:endParaRPr lang="en-US" sz="750"/>
          </a:p>
        </p:txBody>
      </p:sp>
      <p:sp>
        <p:nvSpPr>
          <p:cNvPr id="7" name="Text 5"/>
          <p:cNvSpPr/>
          <p:nvPr/>
        </p:nvSpPr>
        <p:spPr>
          <a:xfrm>
            <a:off x="502920" y="502920"/>
            <a:ext cx="110642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Errores </a:t>
            </a:r>
            <a:r>
              <a:rPr lang="en-US" sz="2800" b="1" dirty="0" err="1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frecuentes</a:t>
            </a:r>
            <a:r>
              <a:rPr lang="en-US" sz="2800" b="1" dirty="0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y </a:t>
            </a:r>
            <a:r>
              <a:rPr lang="en-US" sz="2800" b="1" dirty="0" err="1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corrección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77240" y="1325880"/>
            <a:ext cx="10515600" cy="4800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SyntaxError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revisar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signos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paréntesis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y dos puntos.</a:t>
            </a:r>
            <a:endParaRPr lang="en-US" sz="2000" dirty="0"/>
          </a:p>
          <a:p>
            <a:pPr marL="0" indent="0">
              <a:lnSpc>
                <a:spcPct val="200000"/>
              </a:lnSpc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IndentationError: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revisar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sangría.</a:t>
            </a:r>
            <a:endParaRPr lang="en-US" sz="2000" dirty="0"/>
          </a:p>
          <a:p>
            <a:pPr marL="0" indent="0">
              <a:lnSpc>
                <a:spcPct val="200000"/>
              </a:lnSpc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NameError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variable no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definida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  <a:p>
            <a:pPr marL="0" indent="0">
              <a:lnSpc>
                <a:spcPct val="200000"/>
              </a:lnSpc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TypeError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operación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incompatible.</a:t>
            </a:r>
            <a:endParaRPr lang="en-US" sz="2000" dirty="0"/>
          </a:p>
          <a:p>
            <a:pPr marL="0" indent="0">
              <a:lnSpc>
                <a:spcPct val="200000"/>
              </a:lnSpc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ValueError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conversión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inválida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  <a:p>
            <a:pPr marL="0" indent="0">
              <a:lnSpc>
                <a:spcPct val="200000"/>
              </a:lnSpc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ModuleNotFoundError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paquete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no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instalado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o entorno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equivocado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</p:txBody>
      </p:sp>
    </p:spTree>
  </p:cSld>
  <p:clrMapOvr>
    <a:masterClrMapping/>
  </p:clrMapOvr>
</p:sld>
</file>

<file path=ppt/slides/slide2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209</a:t>
            </a:r>
            <a:endParaRPr lang="en-US" sz="750"/>
          </a:p>
        </p:txBody>
      </p:sp>
      <p:sp>
        <p:nvSpPr>
          <p:cNvPr id="6" name="Text 4"/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Apéndices</a:t>
            </a:r>
            <a:endParaRPr lang="en-US" sz="750"/>
          </a:p>
        </p:txBody>
      </p:sp>
      <p:sp>
        <p:nvSpPr>
          <p:cNvPr id="7" name="Text 5"/>
          <p:cNvSpPr/>
          <p:nvPr/>
        </p:nvSpPr>
        <p:spPr>
          <a:xfrm>
            <a:off x="502920" y="502920"/>
            <a:ext cx="110642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Frases útiles para explicar en clase</a:t>
            </a:r>
            <a:endParaRPr lang="en-US" sz="2800"/>
          </a:p>
        </p:txBody>
      </p:sp>
      <p:sp>
        <p:nvSpPr>
          <p:cNvPr id="8" name="Text 6"/>
          <p:cNvSpPr/>
          <p:nvPr/>
        </p:nvSpPr>
        <p:spPr>
          <a:xfrm>
            <a:off x="777240" y="1325880"/>
            <a:ext cx="10515600" cy="4800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“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Leamos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el error antes de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corregir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.”</a:t>
            </a:r>
            <a:endParaRPr lang="en-US" sz="2000" dirty="0"/>
          </a:p>
          <a:p>
            <a:pPr marL="0" indent="0">
              <a:lnSpc>
                <a:spcPct val="200000"/>
              </a:lnSpc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“Primero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hagamos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funcione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luego lo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ordenamos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.”</a:t>
            </a:r>
            <a:endParaRPr lang="en-US" sz="2000" dirty="0"/>
          </a:p>
          <a:p>
            <a:pPr marL="0" indent="0">
              <a:lnSpc>
                <a:spcPct val="200000"/>
              </a:lnSpc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“El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código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debe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poder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explicarse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.”</a:t>
            </a:r>
            <a:endParaRPr lang="en-US" sz="2000" dirty="0"/>
          </a:p>
          <a:p>
            <a:pPr marL="0" indent="0">
              <a:lnSpc>
                <a:spcPct val="200000"/>
              </a:lnSpc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“Un programa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útil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nace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de un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problema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concreto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.”</a:t>
            </a:r>
            <a:endParaRPr lang="en-US" sz="2000" dirty="0"/>
          </a:p>
          <a:p>
            <a:pPr marL="0" indent="0">
              <a:lnSpc>
                <a:spcPct val="200000"/>
              </a:lnSpc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“No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memoricen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prueben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observen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y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ajusten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.”</a:t>
            </a:r>
            <a:endParaRPr lang="en-US" sz="2000" dirty="0"/>
          </a:p>
        </p:txBody>
      </p:sp>
    </p:spTree>
  </p:cSld>
  <p:clrMapOvr>
    <a:masterClrMapping/>
  </p:clrMapOvr>
</p:sld>
</file>

<file path=ppt/slides/slide2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210</a:t>
            </a:r>
            <a:endParaRPr lang="en-US" sz="750"/>
          </a:p>
        </p:txBody>
      </p:sp>
      <p:sp>
        <p:nvSpPr>
          <p:cNvPr id="6" name="Text 4"/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Fuentes</a:t>
            </a:r>
            <a:endParaRPr lang="en-US" sz="750"/>
          </a:p>
        </p:txBody>
      </p:sp>
      <p:sp>
        <p:nvSpPr>
          <p:cNvPr id="7" name="Text 5"/>
          <p:cNvSpPr/>
          <p:nvPr/>
        </p:nvSpPr>
        <p:spPr>
          <a:xfrm>
            <a:off x="502920" y="502920"/>
            <a:ext cx="110642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Fuentes oficiales consultadas</a:t>
            </a:r>
            <a:endParaRPr lang="en-US" sz="2800"/>
          </a:p>
        </p:txBody>
      </p:sp>
      <p:sp>
        <p:nvSpPr>
          <p:cNvPr id="8" name="Text 6"/>
          <p:cNvSpPr/>
          <p:nvPr/>
        </p:nvSpPr>
        <p:spPr>
          <a:xfrm>
            <a:off x="777240" y="1325880"/>
            <a:ext cx="10515600" cy="4800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Documentación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oficial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de Python.</a:t>
            </a:r>
            <a:endParaRPr lang="en-US" sz="2000" dirty="0"/>
          </a:p>
          <a:p>
            <a:pPr marL="0" indent="0">
              <a:lnSpc>
                <a:spcPct val="200000"/>
              </a:lnSpc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Tutorial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oficial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de Python.</a:t>
            </a:r>
            <a:endParaRPr lang="en-US" sz="2000" dirty="0"/>
          </a:p>
          <a:p>
            <a:pPr marL="0" indent="0">
              <a:lnSpc>
                <a:spcPct val="200000"/>
              </a:lnSpc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Documentación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oficial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de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venv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y sqlite3.</a:t>
            </a:r>
            <a:endParaRPr lang="en-US" sz="2000" dirty="0"/>
          </a:p>
          <a:p>
            <a:pPr marL="0" indent="0">
              <a:lnSpc>
                <a:spcPct val="200000"/>
              </a:lnSpc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Documentación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oficial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de Django.</a:t>
            </a:r>
            <a:endParaRPr lang="en-US" sz="2000" dirty="0"/>
          </a:p>
          <a:p>
            <a:pPr marL="0" indent="0">
              <a:lnSpc>
                <a:spcPct val="200000"/>
              </a:lnSpc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Documentación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oficial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de FastAPI.</a:t>
            </a:r>
            <a:endParaRPr lang="en-US" sz="2000" dirty="0"/>
          </a:p>
          <a:p>
            <a:pPr marL="0" indent="0">
              <a:lnSpc>
                <a:spcPct val="200000"/>
              </a:lnSpc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Documentación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oficial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de PostgreSQL, MySQL y MongoDB.</a:t>
            </a:r>
            <a:endParaRPr lang="en-US" sz="2000" dirty="0"/>
          </a:p>
        </p:txBody>
      </p:sp>
    </p:spTree>
  </p:cSld>
  <p:clrMapOvr>
    <a:masterClrMapping/>
  </p:clrMapOvr>
</p:sld>
</file>

<file path=ppt/slides/slide2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con Python para docentes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38428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211</a:t>
            </a:r>
            <a:endParaRPr lang="en-US" sz="750"/>
          </a:p>
        </p:txBody>
      </p:sp>
      <p:sp>
        <p:nvSpPr>
          <p:cNvPr id="6" name="Text 4"/>
          <p:cNvSpPr/>
          <p:nvPr/>
        </p:nvSpPr>
        <p:spPr>
          <a:xfrm>
            <a:off x="7132320" y="6565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</a:t>
            </a:r>
            <a:endParaRPr lang="en-US" sz="750"/>
          </a:p>
        </p:txBody>
      </p:sp>
      <p:sp>
        <p:nvSpPr>
          <p:cNvPr id="7" name="Text 5"/>
          <p:cNvSpPr/>
          <p:nvPr/>
        </p:nvSpPr>
        <p:spPr>
          <a:xfrm>
            <a:off x="502920" y="502920"/>
            <a:ext cx="110642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Mensaje final</a:t>
            </a:r>
            <a:endParaRPr lang="en-US" sz="2800"/>
          </a:p>
        </p:txBody>
      </p:sp>
      <p:sp>
        <p:nvSpPr>
          <p:cNvPr id="8" name="Text 6"/>
          <p:cNvSpPr/>
          <p:nvPr/>
        </p:nvSpPr>
        <p:spPr>
          <a:xfrm>
            <a:off x="777240" y="1325880"/>
            <a:ext cx="10515600" cy="4800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Python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puede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apoyar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la docencia, la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investigación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y la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académica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  <a:p>
            <a:pPr marL="0" indent="0">
              <a:lnSpc>
                <a:spcPct val="200000"/>
              </a:lnSpc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La clave no es saber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todo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sino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construir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soluciones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paso a paso.</a:t>
            </a:r>
            <a:endParaRPr lang="en-US" sz="2000" dirty="0"/>
          </a:p>
          <a:p>
            <a:pPr marL="0" indent="0">
              <a:lnSpc>
                <a:spcPct val="200000"/>
              </a:lnSpc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El proyecto final es una base para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seguir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aprendiendo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  <a:p>
            <a:pPr marL="0" indent="0">
              <a:lnSpc>
                <a:spcPct val="200000"/>
              </a:lnSpc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Cada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docente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puede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adaptar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el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asistente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a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propia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asignatura</a:t>
            </a: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24198</TotalTime>
  <Words>11188</Words>
  <Application>Microsoft Office PowerPoint</Application>
  <PresentationFormat>Panorámica</PresentationFormat>
  <Paragraphs>2615</Paragraphs>
  <Slides>261</Slides>
  <Notes>260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261</vt:i4>
      </vt:variant>
    </vt:vector>
  </HeadingPairs>
  <TitlesOfParts>
    <vt:vector size="268" baseType="lpstr">
      <vt:lpstr>Aptos</vt:lpstr>
      <vt:lpstr>Aptos Display</vt:lpstr>
      <vt:lpstr>Arial</vt:lpstr>
      <vt:lpstr>Calibri</vt:lpstr>
      <vt:lpstr>Courier New</vt:lpstr>
      <vt:lpstr>Wingdings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Curso de Programación con Python - Diapositivas</dc:title>
  <dc:subject>Curso de Programación con Python para docentes universitarios</dc:subject>
  <dc:creator>OpenAI</dc:creator>
  <cp:lastModifiedBy>Lionel Tech Riobamba</cp:lastModifiedBy>
  <cp:revision>20</cp:revision>
  <dcterms:created xsi:type="dcterms:W3CDTF">2026-06-27T18:19:43Z</dcterms:created>
  <dcterms:modified xsi:type="dcterms:W3CDTF">2026-08-05T17:33:44Z</dcterms:modified>
</cp:coreProperties>
</file>